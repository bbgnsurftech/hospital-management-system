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Hospital Management System</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Means for You as a Patient</a:t>
            </a:r>
          </a:p>
        </p:txBody>
      </p:sp>
      <p:sp>
        <p:nvSpPr>
          <p:cNvPr id="3" name="Content Placeholder 2"/>
          <p:cNvSpPr>
            <a:spLocks noGrp="1"/>
          </p:cNvSpPr>
          <p:nvPr>
            <p:ph idx="1"/>
          </p:nvPr>
        </p:nvSpPr>
        <p:spPr/>
        <p:txBody>
          <a:bodyPr/>
          <a:lstStyle/>
          <a:p>
            <a:pPr lvl="0" indent="0" marL="0">
              <a:buNone/>
            </a:pPr>
            <a:r>
              <a:rPr b="1"/>
              <a:t>Better Care, Faster Service, Less Waiting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Welcome</a:t>
            </a:r>
          </a:p>
        </p:txBody>
      </p:sp>
      <p:sp>
        <p:nvSpPr>
          <p:cNvPr id="3" name="Content Placeholder 2"/>
          <p:cNvSpPr>
            <a:spLocks noGrp="1"/>
          </p:cNvSpPr>
          <p:nvPr>
            <p:ph idx="1"/>
          </p:nvPr>
        </p:nvSpPr>
        <p:spPr/>
        <p:txBody>
          <a:bodyPr/>
          <a:lstStyle/>
          <a:p>
            <a:pPr lvl="0" indent="0" marL="0">
              <a:buNone/>
            </a:pPr>
            <a:r>
              <a:rPr/>
              <a:t>Our hospital is implementing a new digital system to improve your experience as a patient. This guide explains what’s changing and how it benefits you.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What’s Changing?</a:t>
            </a:r>
          </a:p>
        </p:txBody>
      </p:sp>
      <p:sp>
        <p:nvSpPr>
          <p:cNvPr id="3" name="Content Placeholder 2"/>
          <p:cNvSpPr>
            <a:spLocks noGrp="1"/>
          </p:cNvSpPr>
          <p:nvPr>
            <p:ph idx="1"/>
          </p:nvPr>
        </p:nvSpPr>
        <p:spPr/>
        <p:txBody>
          <a:bodyPr/>
          <a:lstStyle/>
          <a:p>
            <a:pPr lvl="0" indent="0" marL="0">
              <a:spcBef>
                <a:spcPts val="3000"/>
              </a:spcBef>
              <a:buNone/>
            </a:pPr>
            <a:r>
              <a:rPr b="1"/>
              <a:t>Going Digital</a:t>
            </a:r>
          </a:p>
          <a:p>
            <a:pPr lvl="0" indent="0" marL="0">
              <a:buNone/>
            </a:pPr>
            <a:r>
              <a:rPr/>
              <a:t>We’re moving from paper charts and manual processes to a modern digital system. This means:</a:t>
            </a:r>
          </a:p>
          <a:p>
            <a:pPr lvl="0" indent="0" marL="0">
              <a:buNone/>
            </a:pPr>
            <a:r>
              <a:rPr/>
              <a:t>✅ </a:t>
            </a:r>
            <a:r>
              <a:rPr b="1"/>
              <a:t>Less paperwork for you to fill out</a:t>
            </a:r>
            <a:r>
              <a:rPr/>
              <a:t> ✅ </a:t>
            </a:r>
            <a:r>
              <a:rPr b="1"/>
              <a:t>Shorter wait times</a:t>
            </a:r>
            <a:r>
              <a:rPr/>
              <a:t> ✅ </a:t>
            </a:r>
            <a:r>
              <a:rPr b="1"/>
              <a:t>Faster test results</a:t>
            </a:r>
            <a:r>
              <a:rPr/>
              <a:t> ✅ </a:t>
            </a:r>
            <a:r>
              <a:rPr b="1"/>
              <a:t>Better coordination between your care team</a:t>
            </a:r>
            <a:r>
              <a:rPr/>
              <a:t> ✅ </a:t>
            </a:r>
            <a:r>
              <a:rPr b="1"/>
              <a:t>More accurate medical records</a:t>
            </a:r>
          </a:p>
          <a:p>
            <a:pPr lvl="0" indent="0" marL="0">
              <a:spcBef>
                <a:spcPts val="3000"/>
              </a:spcBef>
              <a:buNone/>
            </a:pPr>
            <a:r>
              <a:rPr b="1"/>
              <a:t>What Stays the Same</a:t>
            </a:r>
          </a:p>
          <a:p>
            <a:pPr lvl="0" indent="0" marL="0">
              <a:buNone/>
            </a:pPr>
            <a:r>
              <a:rPr b="1"/>
              <a:t>Your Care Quality:</a:t>
            </a:r>
            <a:r>
              <a:rPr/>
              <a:t> The same doctors, nurses, and staff you trust </a:t>
            </a:r>
            <a:r>
              <a:rPr b="1"/>
              <a:t>Your Privacy:</a:t>
            </a:r>
            <a:r>
              <a:rPr/>
              <a:t> Your information remains completely confidential and secure </a:t>
            </a:r>
            <a:r>
              <a:rPr b="1"/>
              <a:t>Your Choice:</a:t>
            </a:r>
            <a:r>
              <a:rPr/>
              <a:t> You’re still in control of your healthcare decisions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Visit Experience</a:t>
            </a:r>
          </a:p>
        </p:txBody>
      </p:sp>
      <p:sp>
        <p:nvSpPr>
          <p:cNvPr id="3" name="Content Placeholder 2"/>
          <p:cNvSpPr>
            <a:spLocks noGrp="1"/>
          </p:cNvSpPr>
          <p:nvPr>
            <p:ph idx="1"/>
          </p:nvPr>
        </p:nvSpPr>
        <p:spPr/>
        <p:txBody>
          <a:bodyPr/>
          <a:lstStyle/>
          <a:p>
            <a:pPr lvl="0" indent="0" marL="0">
              <a:spcBef>
                <a:spcPts val="3000"/>
              </a:spcBef>
              <a:buNone/>
            </a:pPr>
            <a:r>
              <a:rPr b="1"/>
              <a:t>Before: The Old Way</a:t>
            </a:r>
          </a:p>
          <a:p>
            <a:pPr lvl="0" indent="0" marL="0">
              <a:buNone/>
            </a:pPr>
            <a:r>
              <a:rPr b="1"/>
              <a:t>Typical Visit Experience:</a:t>
            </a:r>
            <a:r>
              <a:rPr/>
              <a:t> 1. Arrive and fill out paper forms (10-15 minutes) 2. Wait in crowded waiting room (45-90 minutes) 3. No idea how long the wait will be 4. See doctor, they look for your paper chart 5. Doctor writes prescription by hand 6. Take prescription to pharmacy, wait again 7. Lab results take days to reach doctor 8. Multiple phone calls to get results</a:t>
            </a:r>
          </a:p>
          <a:p>
            <a:pPr lvl="0" indent="0" marL="0">
              <a:buNone/>
            </a:pPr>
            <a:r>
              <a:rPr b="1"/>
              <a:t>Problems:</a:t>
            </a:r>
            <a:r>
              <a:rPr/>
              <a:t> - Long, uncertain wait times - Repeated form filling at each visit - Delays in getting test results - Difficulty reaching staff for questions - Paper prescriptions that can be lost</a:t>
            </a:r>
          </a:p>
          <a:p>
            <a:pPr lvl="0" indent="0" marL="0">
              <a:spcBef>
                <a:spcPts val="3000"/>
              </a:spcBef>
              <a:buNone/>
            </a:pPr>
            <a:r>
              <a:rPr b="1"/>
              <a:t>After: The New Way</a:t>
            </a:r>
          </a:p>
          <a:p>
            <a:pPr lvl="0" indent="0" marL="0">
              <a:buNone/>
            </a:pPr>
            <a:r>
              <a:rPr b="1"/>
              <a:t>Your New Visit Experience:</a:t>
            </a:r>
          </a:p>
          <a:p>
            <a:pPr lvl="0" indent="0" marL="0">
              <a:buNone/>
            </a:pPr>
            <a:r>
              <a:rPr b="1"/>
              <a:t>1. Registration (5 minutes)</a:t>
            </a:r>
            <a:r>
              <a:rPr/>
              <a:t> - Quick check-in at reception - Your information is already in the system from last visit - Just verify any changes (new phone number, address, insurance) - No repetitive form filling</a:t>
            </a:r>
          </a:p>
          <a:p>
            <a:pPr lvl="0" indent="0" marL="0">
              <a:buNone/>
            </a:pPr>
            <a:r>
              <a:rPr b="1"/>
              <a:t>2. Shorter, Transparent Waiting (30-45 minutes)</a:t>
            </a:r>
            <a:r>
              <a:rPr/>
              <a:t> - You receive your queue number and position - Estimated wait time provided - Real-time updates if wait time changes - More comfortable, less crowded waiting area</a:t>
            </a:r>
          </a:p>
          <a:p>
            <a:pPr lvl="0" indent="0" marL="0">
              <a:buNone/>
            </a:pPr>
            <a:r>
              <a:rPr b="1"/>
              <a:t>3. Consultation</a:t>
            </a:r>
            <a:r>
              <a:rPr/>
              <a:t> - Doctor has your complete medical history instantly - All previous test results at their fingertips - Allergies clearly displayed to prevent errors - More time talking to you, less time searching for information</a:t>
            </a:r>
          </a:p>
          <a:p>
            <a:pPr lvl="0" indent="0" marL="0">
              <a:buNone/>
            </a:pPr>
            <a:r>
              <a:rPr b="1"/>
              <a:t>4. Electronic Prescriptions</a:t>
            </a:r>
            <a:r>
              <a:rPr/>
              <a:t> - Doctor sends prescription directly to pharmacy electronically - No lost prescriptions - Pharmacy starts preparing your medications immediately - Automatic allergy checking</a:t>
            </a:r>
          </a:p>
          <a:p>
            <a:pPr lvl="0" indent="0" marL="0">
              <a:buNone/>
            </a:pPr>
            <a:r>
              <a:rPr b="1"/>
              <a:t>5. Fast Lab Results</a:t>
            </a:r>
            <a:r>
              <a:rPr/>
              <a:t> - Lab results go directly to doctor electronically - Critical results trigger immediate alerts - Doctor notified instantly, not hours later - Faster follow-up for abnormal results</a:t>
            </a:r>
          </a:p>
          <a:p>
            <a:pPr lvl="0" indent="0" marL="0">
              <a:buNone/>
            </a:pPr>
            <a:r>
              <a:rPr b="1"/>
              <a:t>6. Streamlined Billing</a:t>
            </a:r>
            <a:r>
              <a:rPr/>
              <a:t> - Automatic bill generation - All charges captured accurately - Faster insurance processing - Clear itemized billing</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Benefits for You</a:t>
            </a:r>
          </a:p>
        </p:txBody>
      </p:sp>
      <p:sp>
        <p:nvSpPr>
          <p:cNvPr id="3" name="Content Placeholder 2"/>
          <p:cNvSpPr>
            <a:spLocks noGrp="1"/>
          </p:cNvSpPr>
          <p:nvPr>
            <p:ph idx="1"/>
          </p:nvPr>
        </p:nvSpPr>
        <p:spPr/>
        <p:txBody>
          <a:bodyPr/>
          <a:lstStyle/>
          <a:p>
            <a:pPr lvl="0" indent="0" marL="0">
              <a:spcBef>
                <a:spcPts val="3000"/>
              </a:spcBef>
              <a:buNone/>
            </a:pPr>
            <a:r>
              <a:rPr b="1"/>
              <a:t>1. Reduced Wait Times</a:t>
            </a:r>
          </a:p>
          <a:p>
            <a:pPr lvl="0" indent="0" marL="0">
              <a:buNone/>
            </a:pPr>
            <a:r>
              <a:rPr b="1"/>
              <a:t>What We’re Doing:</a:t>
            </a:r>
            <a:r>
              <a:rPr/>
              <a:t> - Smart queue management system - Priority based on urgency of your condition - Real-time tracking of patient flow - Better staff coordination</a:t>
            </a:r>
          </a:p>
          <a:p>
            <a:pPr lvl="0" indent="0" marL="0">
              <a:buNone/>
            </a:pPr>
            <a:r>
              <a:rPr b="1"/>
              <a:t>What This Means for You:</a:t>
            </a:r>
            <a:r>
              <a:rPr/>
              <a:t> - </a:t>
            </a:r>
            <a:r>
              <a:rPr b="1"/>
              <a:t>40% shorter wait times</a:t>
            </a:r>
            <a:r>
              <a:rPr/>
              <a:t> on average - Less time in waiting room, more time with your doctor - Predictable wait times - you’ll know approximately how long</a:t>
            </a:r>
          </a:p>
          <a:p>
            <a:pPr lvl="0" indent="0" marL="0">
              <a:spcBef>
                <a:spcPts val="3000"/>
              </a:spcBef>
              <a:buNone/>
            </a:pPr>
            <a:r>
              <a:rPr b="1"/>
              <a:t>2. Better Care Coordination</a:t>
            </a:r>
          </a:p>
          <a:p>
            <a:pPr lvl="0" indent="0" marL="0">
              <a:buNone/>
            </a:pPr>
            <a:r>
              <a:rPr b="1"/>
              <a:t>What We’re Doing:</a:t>
            </a:r>
            <a:r>
              <a:rPr/>
              <a:t> - All departments connected in one system - Instant communication between doctor, lab, pharmacy - Real-time patient status updates - Complete medical history accessible</a:t>
            </a:r>
          </a:p>
          <a:p>
            <a:pPr lvl="0" indent="0" marL="0">
              <a:buNone/>
            </a:pPr>
            <a:r>
              <a:rPr b="1"/>
              <a:t>What This Means for You:</a:t>
            </a:r>
            <a:r>
              <a:rPr/>
              <a:t> - Seamless transitions between departments - No information getting lost in handoffs - Everyone on your care team has the same information - Fewer delays in your treatment</a:t>
            </a:r>
          </a:p>
          <a:p>
            <a:pPr lvl="0" indent="0" marL="0">
              <a:spcBef>
                <a:spcPts val="3000"/>
              </a:spcBef>
              <a:buNone/>
            </a:pPr>
            <a:r>
              <a:rPr b="1"/>
              <a:t>3. Faster Test Results</a:t>
            </a:r>
          </a:p>
          <a:p>
            <a:pPr lvl="0" indent="0" marL="0">
              <a:buNone/>
            </a:pPr>
            <a:r>
              <a:rPr b="1"/>
              <a:t>What We’re Doing:</a:t>
            </a:r>
            <a:r>
              <a:rPr/>
              <a:t> - Electronic test ordering and results - Automatic notification to doctors - Critical results flagged immediately - Results stored electronically</a:t>
            </a:r>
          </a:p>
          <a:p>
            <a:pPr lvl="0" indent="0" marL="0">
              <a:buNone/>
            </a:pPr>
            <a:r>
              <a:rPr b="1"/>
              <a:t>What This Means for You:</a:t>
            </a:r>
            <a:r>
              <a:rPr/>
              <a:t> - Faster turnaround on test results - Critical results reach your doctor within minutes, not hours - Easy access to your results history - Faster diagnosis and treatment decisions</a:t>
            </a:r>
          </a:p>
          <a:p>
            <a:pPr lvl="0" indent="0" marL="0">
              <a:spcBef>
                <a:spcPts val="3000"/>
              </a:spcBef>
              <a:buNone/>
            </a:pPr>
            <a:r>
              <a:rPr b="1"/>
              <a:t>4. Improved Safety</a:t>
            </a:r>
          </a:p>
          <a:p>
            <a:pPr lvl="0" indent="0" marL="0">
              <a:buNone/>
            </a:pPr>
            <a:r>
              <a:rPr b="1"/>
              <a:t>What We’re Doing:</a:t>
            </a:r>
            <a:r>
              <a:rPr/>
              <a:t> - Digital allergy tracking - Medication cross-checking - Complete medication history - Automated safety alerts</a:t>
            </a:r>
          </a:p>
          <a:p>
            <a:pPr lvl="0" indent="0" marL="0">
              <a:buNone/>
            </a:pPr>
            <a:r>
              <a:rPr b="1"/>
              <a:t>What This Means for You:</a:t>
            </a:r>
            <a:r>
              <a:rPr/>
              <a:t> - Reduced risk of medication errors - Allergies automatically checked before prescriptions - Better tracking of your medications - Fewer adverse drug reactions</a:t>
            </a:r>
          </a:p>
          <a:p>
            <a:pPr lvl="0" indent="0" marL="0">
              <a:spcBef>
                <a:spcPts val="3000"/>
              </a:spcBef>
              <a:buNone/>
            </a:pPr>
            <a:r>
              <a:rPr b="1"/>
              <a:t>5. Your Health Information, Always Available</a:t>
            </a:r>
          </a:p>
          <a:p>
            <a:pPr lvl="0" indent="0" marL="0">
              <a:buNone/>
            </a:pPr>
            <a:r>
              <a:rPr b="1"/>
              <a:t>What We’re Doing:</a:t>
            </a:r>
            <a:r>
              <a:rPr/>
              <a:t> - Complete electronic medical records - Visit history and timeline - All test results in one place - Medication history tracked</a:t>
            </a:r>
          </a:p>
          <a:p>
            <a:pPr lvl="0" indent="0" marL="0">
              <a:buNone/>
            </a:pPr>
            <a:r>
              <a:rPr b="1"/>
              <a:t>What This Means for You:</a:t>
            </a:r>
            <a:r>
              <a:rPr/>
              <a:t> - Your health history never gets lost - Easy for new doctors to review your history - No need to remember all your medications - Better continuity of care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Information Do We Store?</a:t>
            </a:r>
          </a:p>
        </p:txBody>
      </p:sp>
      <p:sp>
        <p:nvSpPr>
          <p:cNvPr id="3" name="Content Placeholder 2"/>
          <p:cNvSpPr>
            <a:spLocks noGrp="1"/>
          </p:cNvSpPr>
          <p:nvPr>
            <p:ph idx="1"/>
          </p:nvPr>
        </p:nvSpPr>
        <p:spPr/>
        <p:txBody>
          <a:bodyPr/>
          <a:lstStyle/>
          <a:p>
            <a:pPr lvl="0" indent="0" marL="0">
              <a:spcBef>
                <a:spcPts val="3000"/>
              </a:spcBef>
              <a:buNone/>
            </a:pPr>
            <a:r>
              <a:rPr b="1"/>
              <a:t>Your Medical Information</a:t>
            </a:r>
          </a:p>
          <a:p>
            <a:pPr lvl="0" indent="0" marL="0">
              <a:buNone/>
            </a:pPr>
            <a:r>
              <a:rPr/>
              <a:t>We securely store:</a:t>
            </a:r>
          </a:p>
          <a:p>
            <a:pPr lvl="0" indent="0" marL="0">
              <a:buNone/>
            </a:pPr>
            <a:r>
              <a:rPr b="1"/>
              <a:t>Demographics:</a:t>
            </a:r>
            <a:r>
              <a:rPr/>
              <a:t> - Name, date of birth, contact information - Address, emergency contacts - Insurance information</a:t>
            </a:r>
          </a:p>
          <a:p>
            <a:pPr lvl="0" indent="0" marL="0">
              <a:buNone/>
            </a:pPr>
            <a:r>
              <a:rPr b="1"/>
              <a:t>Medical History:</a:t>
            </a:r>
            <a:r>
              <a:rPr/>
              <a:t> - Previous visits and consultations - Diagnoses and conditions - Allergies and adverse reactions - Immunization records</a:t>
            </a:r>
          </a:p>
          <a:p>
            <a:pPr lvl="0" indent="0" marL="0">
              <a:buNone/>
            </a:pPr>
            <a:r>
              <a:rPr b="1"/>
              <a:t>Clinical Data:</a:t>
            </a:r>
            <a:r>
              <a:rPr/>
              <a:t> - Vital signs (blood pressure, temperature, etc.) - Lab test results - Radiology/imaging reports - Medications prescribed</a:t>
            </a:r>
          </a:p>
          <a:p>
            <a:pPr lvl="0" indent="0" marL="0">
              <a:buNone/>
            </a:pPr>
            <a:r>
              <a:rPr b="1"/>
              <a:t>Financial:</a:t>
            </a:r>
            <a:r>
              <a:rPr/>
              <a:t> - Billing and payment information - Insurance claims</a:t>
            </a:r>
          </a:p>
          <a:p>
            <a:pPr lvl="0" indent="0" marL="0">
              <a:spcBef>
                <a:spcPts val="3000"/>
              </a:spcBef>
              <a:buNone/>
            </a:pPr>
            <a:r>
              <a:rPr b="1"/>
              <a:t>Your Privacy is Protected</a:t>
            </a:r>
          </a:p>
          <a:p>
            <a:pPr lvl="0" indent="0" marL="0">
              <a:buNone/>
            </a:pPr>
            <a:r>
              <a:rPr b="1"/>
              <a:t>We NEVER:</a:t>
            </a:r>
            <a:r>
              <a:rPr/>
              <a:t> - Share your information without your consent - Sell your data to third parties - Allow unauthorized access to your records</a:t>
            </a:r>
          </a:p>
          <a:p>
            <a:pPr lvl="0" indent="0" marL="0">
              <a:buNone/>
            </a:pPr>
            <a:r>
              <a:rPr b="1"/>
              <a:t>We ALWAYS:</a:t>
            </a:r>
            <a:r>
              <a:rPr/>
              <a:t> - Encrypt your information - Follow HIPAA privacy laws - Audit who accesses your records - Train staff on privacy protection</a:t>
            </a:r>
          </a:p>
          <a:p>
            <a:pPr lvl="0" indent="0" marL="0">
              <a:buNone/>
            </a:pPr>
            <a:r>
              <a:rPr b="1"/>
              <a:t>Your Rights:</a:t>
            </a:r>
            <a:r>
              <a:rPr/>
              <a:t> - You can request a copy of your medical records - You can request corrections to your information - You can see who has accessed your records - You can file complaints if privacy violated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Questions</a:t>
            </a:r>
          </a:p>
        </p:txBody>
      </p:sp>
      <p:sp>
        <p:nvSpPr>
          <p:cNvPr id="3" name="Content Placeholder 2"/>
          <p:cNvSpPr>
            <a:spLocks noGrp="1"/>
          </p:cNvSpPr>
          <p:nvPr>
            <p:ph idx="1"/>
          </p:nvPr>
        </p:nvSpPr>
        <p:spPr/>
        <p:txBody>
          <a:bodyPr/>
          <a:lstStyle/>
          <a:p>
            <a:pPr lvl="0" indent="0" marL="0">
              <a:spcBef>
                <a:spcPts val="3000"/>
              </a:spcBef>
              <a:buNone/>
            </a:pPr>
            <a:r>
              <a:rPr b="1"/>
              <a:t>“Will I need to do anything differently?”</a:t>
            </a:r>
          </a:p>
          <a:p>
            <a:pPr lvl="0" indent="0" marL="0">
              <a:buNone/>
            </a:pPr>
            <a:r>
              <a:rPr b="1"/>
              <a:t>Minimal changes for you:</a:t>
            </a:r>
          </a:p>
          <a:p>
            <a:pPr lvl="0" indent="0" marL="0">
              <a:buNone/>
            </a:pPr>
            <a:r>
              <a:rPr b="1"/>
              <a:t>First Visit After Implementation:</a:t>
            </a:r>
            <a:r>
              <a:rPr/>
              <a:t> - You may need to verify your information - We’ll confirm your allergies and current medications - Process similar to before, just faster</a:t>
            </a:r>
          </a:p>
          <a:p>
            <a:pPr lvl="0" indent="0" marL="0">
              <a:buNone/>
            </a:pPr>
            <a:r>
              <a:rPr b="1"/>
              <a:t>Future Visits:</a:t>
            </a:r>
            <a:r>
              <a:rPr/>
              <a:t> - Check-in is quicker (your info already in system) - Less paperwork - Everything else feels similar but faster</a:t>
            </a:r>
          </a:p>
          <a:p>
            <a:pPr lvl="0" indent="0" marL="0">
              <a:spcBef>
                <a:spcPts val="3000"/>
              </a:spcBef>
              <a:buNone/>
            </a:pPr>
            <a:r>
              <a:rPr b="1"/>
              <a:t>“What if I don’t have email?”</a:t>
            </a:r>
          </a:p>
          <a:p>
            <a:pPr lvl="0" indent="0" marL="0">
              <a:buNone/>
            </a:pPr>
            <a:r>
              <a:rPr b="1"/>
              <a:t>No problem!</a:t>
            </a:r>
            <a:r>
              <a:rPr/>
              <a:t> - Email is optional, not required - We’ll still communicate by phone - All services available without email - System works the same for you</a:t>
            </a:r>
          </a:p>
          <a:p>
            <a:pPr lvl="0" indent="0" marL="0">
              <a:spcBef>
                <a:spcPts val="3000"/>
              </a:spcBef>
              <a:buNone/>
            </a:pPr>
            <a:r>
              <a:rPr b="1"/>
              <a:t>“What about my old records?”</a:t>
            </a:r>
          </a:p>
          <a:p>
            <a:pPr lvl="0" indent="0" marL="0">
              <a:buNone/>
            </a:pPr>
            <a:r>
              <a:rPr b="1"/>
              <a:t>We keep everything:</a:t>
            </a:r>
            <a:r>
              <a:rPr/>
              <a:t> - Your previous paper records are preserved - New system includes your history - Nothing is deleted or lost - Accessible when needed</a:t>
            </a:r>
          </a:p>
          <a:p>
            <a:pPr lvl="0" indent="0" marL="0">
              <a:spcBef>
                <a:spcPts val="3000"/>
              </a:spcBef>
              <a:buNone/>
            </a:pPr>
            <a:r>
              <a:rPr b="1"/>
              <a:t>“How secure is my information?”</a:t>
            </a:r>
          </a:p>
          <a:p>
            <a:pPr lvl="0" indent="0" marL="0">
              <a:buNone/>
            </a:pPr>
            <a:r>
              <a:rPr b="1"/>
              <a:t>Very secure:</a:t>
            </a:r>
            <a:r>
              <a:rPr/>
              <a:t> - Bank-level encryption - Strict access controls (only your care team) - Regular security audits - HIPAA compliant - Complete audit trail of who accessed what</a:t>
            </a:r>
          </a:p>
          <a:p>
            <a:pPr lvl="0" indent="0" marL="0">
              <a:buNone/>
            </a:pPr>
            <a:r>
              <a:rPr b="1"/>
              <a:t>Security Measures:</a:t>
            </a:r>
            <a:r>
              <a:rPr/>
              <a:t> - Staff must log in with unique username/password - Automatic logout after inactivity - Access only to patients they’re treating - Violations result in termination</a:t>
            </a:r>
          </a:p>
          <a:p>
            <a:pPr lvl="0" indent="0" marL="0">
              <a:spcBef>
                <a:spcPts val="3000"/>
              </a:spcBef>
              <a:buNone/>
            </a:pPr>
            <a:r>
              <a:rPr b="1"/>
              <a:t>“Can I still see my test results?”</a:t>
            </a:r>
          </a:p>
          <a:p>
            <a:pPr lvl="0" indent="0" marL="0">
              <a:buNone/>
            </a:pPr>
            <a:r>
              <a:rPr b="1"/>
              <a:t>Yes, better than before:</a:t>
            </a:r>
            <a:r>
              <a:rPr/>
              <a:t> - (Future) Patient portal where you can view your results online - Call as before and we can explain results - Faster access since results are digital - Historical results always available</a:t>
            </a:r>
          </a:p>
          <a:p>
            <a:pPr lvl="0" indent="0" marL="0">
              <a:spcBef>
                <a:spcPts val="3000"/>
              </a:spcBef>
              <a:buNone/>
            </a:pPr>
            <a:r>
              <a:rPr b="1"/>
              <a:t>“What if the computer system goes down?”</a:t>
            </a:r>
          </a:p>
          <a:p>
            <a:pPr lvl="0" indent="0" marL="0">
              <a:buNone/>
            </a:pPr>
            <a:r>
              <a:rPr b="1"/>
              <a:t>We have backup plans:</a:t>
            </a:r>
            <a:r>
              <a:rPr/>
              <a:t> - Redundant systems to prevent downtime - Automatic backups of all data - Emergency procedures for any outages - Your care continues regardless</a:t>
            </a:r>
          </a:p>
          <a:p>
            <a:pPr lvl="0" indent="0" marL="0">
              <a:spcBef>
                <a:spcPts val="3000"/>
              </a:spcBef>
              <a:buNone/>
            </a:pPr>
            <a:r>
              <a:rPr b="1"/>
              <a:t>“Will this cost me more?”</a:t>
            </a:r>
          </a:p>
          <a:p>
            <a:pPr lvl="0" indent="0" marL="0">
              <a:buNone/>
            </a:pPr>
            <a:r>
              <a:rPr b="1"/>
              <a:t>No additional cost to you:</a:t>
            </a:r>
            <a:r>
              <a:rPr/>
              <a:t> - No fees for the new system - Same co-pays and charges - Possibly faster insurance processing - More accurate billing (fewer errors)</a:t>
            </a:r>
          </a:p>
          <a:p>
            <a:pPr lvl="0" indent="0" marL="0">
              <a:spcBef>
                <a:spcPts val="3000"/>
              </a:spcBef>
              <a:buNone/>
            </a:pPr>
            <a:r>
              <a:rPr b="1"/>
              <a:t>“Do I need a computer or smartphone?”</a:t>
            </a:r>
          </a:p>
          <a:p>
            <a:pPr lvl="0" indent="0" marL="0">
              <a:buNone/>
            </a:pPr>
            <a:r>
              <a:rPr b="1"/>
              <a:t>No:</a:t>
            </a:r>
            <a:r>
              <a:rPr/>
              <a:t> - This is our internal system - You don’t need any technology - Process is the same from your perspective - (Future) Optional patient portal if you want online access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Might Notice</a:t>
            </a:r>
          </a:p>
        </p:txBody>
      </p:sp>
      <p:sp>
        <p:nvSpPr>
          <p:cNvPr id="3" name="Content Placeholder 2"/>
          <p:cNvSpPr>
            <a:spLocks noGrp="1"/>
          </p:cNvSpPr>
          <p:nvPr>
            <p:ph idx="1"/>
          </p:nvPr>
        </p:nvSpPr>
        <p:spPr/>
        <p:txBody>
          <a:bodyPr/>
          <a:lstStyle/>
          <a:p>
            <a:pPr lvl="0" indent="0" marL="0">
              <a:spcBef>
                <a:spcPts val="3000"/>
              </a:spcBef>
              <a:buNone/>
            </a:pPr>
            <a:r>
              <a:rPr b="1"/>
              <a:t>At Reception</a:t>
            </a:r>
          </a:p>
          <a:p>
            <a:pPr lvl="0" indent="0" marL="0">
              <a:buNone/>
            </a:pPr>
            <a:r>
              <a:rPr b="1"/>
              <a:t>Before:</a:t>
            </a:r>
            <a:r>
              <a:rPr/>
              <a:t> Clipboard with multiple forms to fill out </a:t>
            </a:r>
            <a:r>
              <a:rPr b="1"/>
              <a:t>Now:</a:t>
            </a:r>
            <a:r>
              <a:rPr/>
              <a:t> Quick verbal verification of information, minimal writing</a:t>
            </a:r>
          </a:p>
          <a:p>
            <a:pPr lvl="0" indent="0" marL="0">
              <a:buNone/>
            </a:pPr>
            <a:r>
              <a:rPr b="1"/>
              <a:t>Before:</a:t>
            </a:r>
            <a:r>
              <a:rPr/>
              <a:t> Uncertain wait time </a:t>
            </a:r>
            <a:r>
              <a:rPr b="1"/>
              <a:t>Now:</a:t>
            </a:r>
            <a:r>
              <a:rPr/>
              <a:t> “You’re number 12, estimated wait is 35 minutes”</a:t>
            </a:r>
          </a:p>
          <a:p>
            <a:pPr lvl="0" indent="0" marL="0">
              <a:spcBef>
                <a:spcPts val="3000"/>
              </a:spcBef>
              <a:buNone/>
            </a:pPr>
            <a:r>
              <a:rPr b="1"/>
              <a:t>In the Waiting Room</a:t>
            </a:r>
          </a:p>
          <a:p>
            <a:pPr lvl="0" indent="0" marL="0">
              <a:buNone/>
            </a:pPr>
            <a:r>
              <a:rPr b="1"/>
              <a:t>Before:</a:t>
            </a:r>
            <a:r>
              <a:rPr/>
              <a:t> No idea when your turn is </a:t>
            </a:r>
            <a:r>
              <a:rPr b="1"/>
              <a:t>Now:</a:t>
            </a:r>
            <a:r>
              <a:rPr/>
              <a:t> Can see progress on queue board (if displayed)</a:t>
            </a:r>
          </a:p>
          <a:p>
            <a:pPr lvl="0" indent="0" marL="0">
              <a:buNone/>
            </a:pPr>
            <a:r>
              <a:rPr b="1"/>
              <a:t>Before:</a:t>
            </a:r>
            <a:r>
              <a:rPr/>
              <a:t> Crowded, long waits </a:t>
            </a:r>
            <a:r>
              <a:rPr b="1"/>
              <a:t>Now:</a:t>
            </a:r>
            <a:r>
              <a:rPr/>
              <a:t> Faster turnover, shorter waits</a:t>
            </a:r>
          </a:p>
          <a:p>
            <a:pPr lvl="0" indent="0" marL="0">
              <a:spcBef>
                <a:spcPts val="3000"/>
              </a:spcBef>
              <a:buNone/>
            </a:pPr>
            <a:r>
              <a:rPr b="1"/>
              <a:t>During Your Appointment</a:t>
            </a:r>
          </a:p>
          <a:p>
            <a:pPr lvl="0" indent="0" marL="0">
              <a:buNone/>
            </a:pPr>
            <a:r>
              <a:rPr b="1"/>
              <a:t>Before:</a:t>
            </a:r>
            <a:r>
              <a:rPr/>
              <a:t> Doctor flipping through paper chart </a:t>
            </a:r>
            <a:r>
              <a:rPr b="1"/>
              <a:t>Now:</a:t>
            </a:r>
            <a:r>
              <a:rPr/>
              <a:t> Doctor reviews your history on computer</a:t>
            </a:r>
          </a:p>
          <a:p>
            <a:pPr lvl="0" indent="0" marL="0">
              <a:buNone/>
            </a:pPr>
            <a:r>
              <a:rPr b="1"/>
              <a:t>Before:</a:t>
            </a:r>
            <a:r>
              <a:rPr/>
              <a:t> Doctor writes prescription by hand </a:t>
            </a:r>
            <a:r>
              <a:rPr b="1"/>
              <a:t>Now:</a:t>
            </a:r>
            <a:r>
              <a:rPr/>
              <a:t> Prescription sent electronically</a:t>
            </a:r>
          </a:p>
          <a:p>
            <a:pPr lvl="0" indent="0" marL="0">
              <a:buNone/>
            </a:pPr>
            <a:r>
              <a:rPr b="1"/>
              <a:t>Before:</a:t>
            </a:r>
            <a:r>
              <a:rPr/>
              <a:t> Doctor orders tests, hands you forms </a:t>
            </a:r>
            <a:r>
              <a:rPr b="1"/>
              <a:t>Now:</a:t>
            </a:r>
            <a:r>
              <a:rPr/>
              <a:t> Tests ordered electronically, go directly to lab</a:t>
            </a:r>
          </a:p>
          <a:p>
            <a:pPr lvl="0" indent="0" marL="0">
              <a:spcBef>
                <a:spcPts val="3000"/>
              </a:spcBef>
              <a:buNone/>
            </a:pPr>
            <a:r>
              <a:rPr b="1"/>
              <a:t>At the Pharmacy</a:t>
            </a:r>
          </a:p>
          <a:p>
            <a:pPr lvl="0" indent="0" marL="0">
              <a:buNone/>
            </a:pPr>
            <a:r>
              <a:rPr b="1"/>
              <a:t>Before:</a:t>
            </a:r>
            <a:r>
              <a:rPr/>
              <a:t> Hand paper prescription to pharmacist, wait </a:t>
            </a:r>
            <a:r>
              <a:rPr b="1"/>
              <a:t>Now:</a:t>
            </a:r>
            <a:r>
              <a:rPr/>
              <a:t> Prescription already waiting when you arrive</a:t>
            </a:r>
          </a:p>
          <a:p>
            <a:pPr lvl="0" indent="0" marL="0">
              <a:buNone/>
            </a:pPr>
            <a:r>
              <a:rPr b="1"/>
              <a:t>Before:</a:t>
            </a:r>
            <a:r>
              <a:rPr/>
              <a:t> Pharmacist calls doctor to verify </a:t>
            </a:r>
            <a:r>
              <a:rPr b="1"/>
              <a:t>Now:</a:t>
            </a:r>
            <a:r>
              <a:rPr/>
              <a:t> Clear electronic prescription, fewer clarification calls</a:t>
            </a:r>
          </a:p>
          <a:p>
            <a:pPr lvl="0" indent="0" marL="0">
              <a:spcBef>
                <a:spcPts val="3000"/>
              </a:spcBef>
              <a:buNone/>
            </a:pPr>
            <a:r>
              <a:rPr b="1"/>
              <a:t>Getting Results</a:t>
            </a:r>
          </a:p>
          <a:p>
            <a:pPr lvl="0" indent="0" marL="0">
              <a:buNone/>
            </a:pPr>
            <a:r>
              <a:rPr b="1"/>
              <a:t>Before:</a:t>
            </a:r>
            <a:r>
              <a:rPr/>
              <a:t> “Call in 3-5 days for your results” </a:t>
            </a:r>
            <a:r>
              <a:rPr b="1"/>
              <a:t>Now:</a:t>
            </a:r>
            <a:r>
              <a:rPr/>
              <a:t> “We’ll call you as soon as results are in” (often same day)</a:t>
            </a:r>
          </a:p>
          <a:p>
            <a:pPr lvl="0" indent="0" marL="0">
              <a:buNone/>
            </a:pPr>
            <a:r>
              <a:rPr b="1"/>
              <a:t>Before:</a:t>
            </a:r>
            <a:r>
              <a:rPr/>
              <a:t> Critical results delayed </a:t>
            </a:r>
            <a:r>
              <a:rPr b="1"/>
              <a:t>Now:</a:t>
            </a:r>
            <a:r>
              <a:rPr/>
              <a:t> Critical results reach doctor immediately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Feedback Matters</a:t>
            </a:r>
          </a:p>
        </p:txBody>
      </p:sp>
      <p:sp>
        <p:nvSpPr>
          <p:cNvPr id="3" name="Content Placeholder 2"/>
          <p:cNvSpPr>
            <a:spLocks noGrp="1"/>
          </p:cNvSpPr>
          <p:nvPr>
            <p:ph idx="1"/>
          </p:nvPr>
        </p:nvSpPr>
        <p:spPr/>
        <p:txBody>
          <a:bodyPr/>
          <a:lstStyle/>
          <a:p>
            <a:pPr lvl="0" indent="0" marL="0">
              <a:spcBef>
                <a:spcPts val="3000"/>
              </a:spcBef>
              <a:buNone/>
            </a:pPr>
            <a:r>
              <a:rPr b="1"/>
              <a:t>We Want to Hear From You</a:t>
            </a:r>
          </a:p>
          <a:p>
            <a:pPr lvl="0" indent="0" marL="0">
              <a:buNone/>
            </a:pPr>
            <a:r>
              <a:rPr b="1"/>
              <a:t>Having issues?</a:t>
            </a:r>
            <a:r>
              <a:rPr/>
              <a:t> - Talk to any staff member - They can report issues with the system - We’re continuously improving</a:t>
            </a:r>
          </a:p>
          <a:p>
            <a:pPr lvl="0" indent="0" marL="0">
              <a:buNone/>
            </a:pPr>
            <a:r>
              <a:rPr b="1"/>
              <a:t>Suggestions?</a:t>
            </a:r>
            <a:r>
              <a:rPr/>
              <a:t> - Tell us what works well - Tell us what could be better - Your input shapes the system</a:t>
            </a:r>
          </a:p>
          <a:p>
            <a:pPr lvl="0" indent="0" marL="0">
              <a:buNone/>
            </a:pPr>
            <a:r>
              <a:rPr b="1"/>
              <a:t>Complaints?</a:t>
            </a:r>
            <a:r>
              <a:rPr/>
              <a:t> - Same process as before - Talk to patient relations - We take all feedback seriously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Coming Soon: Patient Portal</a:t>
            </a:r>
          </a:p>
        </p:txBody>
      </p:sp>
      <p:sp>
        <p:nvSpPr>
          <p:cNvPr id="3" name="Content Placeholder 2"/>
          <p:cNvSpPr>
            <a:spLocks noGrp="1"/>
          </p:cNvSpPr>
          <p:nvPr>
            <p:ph idx="1"/>
          </p:nvPr>
        </p:nvSpPr>
        <p:spPr/>
        <p:txBody>
          <a:bodyPr/>
          <a:lstStyle/>
          <a:p>
            <a:pPr lvl="0" indent="0" marL="0">
              <a:spcBef>
                <a:spcPts val="3000"/>
              </a:spcBef>
              <a:buNone/>
            </a:pPr>
            <a:r>
              <a:rPr b="1"/>
              <a:t>Online Access to Your Health Information</a:t>
            </a:r>
          </a:p>
          <a:p>
            <a:pPr lvl="0" indent="0" marL="0">
              <a:buNone/>
            </a:pPr>
            <a:r>
              <a:rPr b="1"/>
              <a:t>In the future, you’ll be able to:</a:t>
            </a:r>
          </a:p>
          <a:p>
            <a:pPr lvl="0" indent="0" marL="0">
              <a:buNone/>
            </a:pPr>
            <a:r>
              <a:rPr b="1"/>
              <a:t>View Your Records:</a:t>
            </a:r>
            <a:r>
              <a:rPr/>
              <a:t> - Lab results - Visit history - Medications - Allergies - Immunizations</a:t>
            </a:r>
          </a:p>
          <a:p>
            <a:pPr lvl="0" indent="0" marL="0">
              <a:buNone/>
            </a:pPr>
            <a:r>
              <a:rPr b="1"/>
              <a:t>Communicate:</a:t>
            </a:r>
            <a:r>
              <a:rPr/>
              <a:t> - Secure messaging with your care team - Request prescription refills - Ask non-urgent questions</a:t>
            </a:r>
          </a:p>
          <a:p>
            <a:pPr lvl="0" indent="0" marL="0">
              <a:buNone/>
            </a:pPr>
            <a:r>
              <a:rPr b="1"/>
              <a:t>Manage Appointments:</a:t>
            </a:r>
            <a:r>
              <a:rPr/>
              <a:t> - Schedule appointments online - Receive reminders - Cancel or reschedule</a:t>
            </a:r>
          </a:p>
          <a:p>
            <a:pPr lvl="0" indent="0" marL="0">
              <a:buNone/>
            </a:pPr>
            <a:r>
              <a:rPr b="1"/>
              <a:t>Access Billing:</a:t>
            </a:r>
            <a:r>
              <a:rPr/>
              <a:t> - View bills - Make payments online - Download receipts</a:t>
            </a:r>
          </a:p>
          <a:p>
            <a:pPr lvl="0" indent="0" marL="0">
              <a:buNone/>
            </a:pPr>
            <a:r>
              <a:rPr b="1"/>
              <a:t>Important:</a:t>
            </a:r>
            <a:r>
              <a:rPr/>
              <a:t> This is optional and coming in a future update. The system works great without it.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Bottom Line</a:t>
            </a:r>
          </a:p>
        </p:txBody>
      </p:sp>
      <p:sp>
        <p:nvSpPr>
          <p:cNvPr id="3" name="Content Placeholder 2"/>
          <p:cNvSpPr>
            <a:spLocks noGrp="1"/>
          </p:cNvSpPr>
          <p:nvPr>
            <p:ph idx="1"/>
          </p:nvPr>
        </p:nvSpPr>
        <p:spPr/>
        <p:txBody>
          <a:bodyPr/>
          <a:lstStyle/>
          <a:p>
            <a:pPr lvl="0" indent="0" marL="0">
              <a:spcBef>
                <a:spcPts val="3000"/>
              </a:spcBef>
              <a:buNone/>
            </a:pPr>
            <a:r>
              <a:rPr b="1"/>
              <a:t>What This Means for You</a:t>
            </a:r>
          </a:p>
          <a:p>
            <a:pPr lvl="0" indent="0" marL="0">
              <a:buNone/>
            </a:pPr>
            <a:r>
              <a:rPr b="1"/>
              <a:t>Better Experience:</a:t>
            </a:r>
            <a:r>
              <a:rPr/>
              <a:t> - Less waiting - Less paperwork - Less frustration - More time with your doctor</a:t>
            </a:r>
          </a:p>
          <a:p>
            <a:pPr lvl="0" indent="0" marL="0">
              <a:buNone/>
            </a:pPr>
            <a:r>
              <a:rPr b="1"/>
              <a:t>Better Care:</a:t>
            </a:r>
            <a:r>
              <a:rPr/>
              <a:t> - Faster results - Better coordination - Fewer errors - More informed decisions</a:t>
            </a:r>
          </a:p>
          <a:p>
            <a:pPr lvl="0" indent="0" marL="0">
              <a:buNone/>
            </a:pPr>
            <a:r>
              <a:rPr b="1"/>
              <a:t>Better Information:</a:t>
            </a:r>
            <a:r>
              <a:rPr/>
              <a:t> - Complete health history - Easy access to your records - Better tracking of your health</a:t>
            </a:r>
          </a:p>
          <a:p>
            <a:pPr lvl="0" indent="0" marL="0">
              <a:buNone/>
            </a:pPr>
            <a:r>
              <a:rPr b="1"/>
              <a:t>Same Trust:</a:t>
            </a:r>
            <a:r>
              <a:rPr/>
              <a:t> - Same caring staff - Same quality care - Same commitment to your health - Enhanced with better tools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We’re Here for You</a:t>
            </a:r>
          </a:p>
        </p:txBody>
      </p:sp>
      <p:sp>
        <p:nvSpPr>
          <p:cNvPr id="3" name="Content Placeholder 2"/>
          <p:cNvSpPr>
            <a:spLocks noGrp="1"/>
          </p:cNvSpPr>
          <p:nvPr>
            <p:ph idx="1"/>
          </p:nvPr>
        </p:nvSpPr>
        <p:spPr/>
        <p:txBody>
          <a:bodyPr/>
          <a:lstStyle/>
          <a:p>
            <a:pPr lvl="0" indent="0" marL="0">
              <a:spcBef>
                <a:spcPts val="3000"/>
              </a:spcBef>
              <a:buNone/>
            </a:pPr>
            <a:r>
              <a:rPr b="1"/>
              <a:t>Questions or Concerns?</a:t>
            </a:r>
          </a:p>
          <a:p>
            <a:pPr lvl="0" indent="0" marL="0">
              <a:buNone/>
            </a:pPr>
            <a:r>
              <a:rPr b="1"/>
              <a:t>Talk to Us:</a:t>
            </a:r>
            <a:r>
              <a:rPr/>
              <a:t> - Ask any staff member - Call patient relations - Speak to your doctor</a:t>
            </a:r>
          </a:p>
          <a:p>
            <a:pPr lvl="0" indent="0" marL="0">
              <a:buNone/>
            </a:pPr>
            <a:r>
              <a:rPr b="1"/>
              <a:t>Patient Relations:</a:t>
            </a:r>
            <a:r>
              <a:rPr/>
              <a:t> - Phone: [hospital phone number] - Email: [patient-relations@hospital.com] - Office: [location in hospital] - Hours: Monday-Friday, 8 AM - 5 PM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Frequently Asked Questions</a:t>
            </a:r>
          </a:p>
        </p:txBody>
      </p:sp>
      <p:sp>
        <p:nvSpPr>
          <p:cNvPr id="3" name="Content Placeholder 2"/>
          <p:cNvSpPr>
            <a:spLocks noGrp="1"/>
          </p:cNvSpPr>
          <p:nvPr>
            <p:ph idx="1"/>
          </p:nvPr>
        </p:nvSpPr>
        <p:spPr/>
        <p:txBody>
          <a:bodyPr/>
          <a:lstStyle/>
          <a:p>
            <a:pPr lvl="0" indent="0" marL="0">
              <a:buNone/>
            </a:pPr>
            <a:r>
              <a:rPr b="1"/>
              <a:t>Q: Do I need to give permission for the digital system?</a:t>
            </a:r>
            <a:r>
              <a:rPr/>
              <a:t> A: No additional permission needed. This is how we manage hospital operations. Your existing consent for treatment covers this.</a:t>
            </a:r>
          </a:p>
          <a:p>
            <a:pPr lvl="0" indent="0" marL="0">
              <a:buNone/>
            </a:pPr>
            <a:r>
              <a:rPr b="1"/>
              <a:t>Q: Can I request my records be kept on paper?</a:t>
            </a:r>
            <a:r>
              <a:rPr/>
              <a:t> A: All records are now digital for efficiency and safety. However, we can provide paper copies of your records upon request.</a:t>
            </a:r>
          </a:p>
          <a:p>
            <a:pPr lvl="0" indent="0" marL="0">
              <a:buNone/>
            </a:pPr>
            <a:r>
              <a:rPr b="1"/>
              <a:t>Q: What if I don’t want my information in a computer?</a:t>
            </a:r>
            <a:r>
              <a:rPr/>
              <a:t> A: Digital records are actually more secure than paper and required for modern healthcare. We protect your privacy strictly according to HIPAA laws.</a:t>
            </a:r>
          </a:p>
          <a:p>
            <a:pPr lvl="0" indent="0" marL="0">
              <a:buNone/>
            </a:pPr>
            <a:r>
              <a:rPr b="1"/>
              <a:t>Q: Can I opt out of the system?</a:t>
            </a:r>
            <a:r>
              <a:rPr/>
              <a:t> A: The system is how we provide care to all patients. However, all privacy laws still apply and you maintain all your patient rights.</a:t>
            </a:r>
          </a:p>
          <a:p>
            <a:pPr lvl="0" indent="0" marL="0">
              <a:buNone/>
            </a:pPr>
            <a:r>
              <a:rPr b="1"/>
              <a:t>Q: How do I know who has looked at my records?</a:t>
            </a:r>
            <a:r>
              <a:rPr/>
              <a:t> A: We maintain an audit log of all access. You can request this information from medical records department.</a:t>
            </a:r>
          </a:p>
          <a:p>
            <a:pPr lvl="0" indent="0" marL="0">
              <a:buNone/>
            </a:pPr>
            <a:r>
              <a:rPr b="1"/>
              <a:t>Q: What happens to my information if I switch hospitals?</a:t>
            </a:r>
            <a:r>
              <a:rPr/>
              <a:t> A: Your records stay with us, but we can send copies to your new provider upon your written request, same as before.</a:t>
            </a:r>
          </a:p>
          <a:p>
            <a:pPr lvl="0" indent="0" marL="0">
              <a:buNone/>
            </a:pPr>
            <a:r>
              <a:rPr b="1"/>
              <a:t>Q: Is my information backed up?</a:t>
            </a:r>
            <a:r>
              <a:rPr/>
              <a:t> A: Yes, we perform automatic backups multiple times daily. Your information is very safe.</a:t>
            </a:r>
          </a:p>
          <a:p>
            <a:pPr lvl="0" indent="0" marL="0">
              <a:buNone/>
            </a:pPr>
            <a:r>
              <a:rPr b="1"/>
              <a:t>Q: What about hacking? Is my information safe?</a:t>
            </a:r>
            <a:r>
              <a:rPr/>
              <a:t> A: We use bank-level security, encryption, and have multiple safeguards against unauthorized access. Digital records are actually more secure than paper.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
        <p:nvSpPr>
          <p:cNvPr id="3" name="Content Placeholder 2"/>
          <p:cNvSpPr>
            <a:spLocks noGrp="1"/>
          </p:cNvSpPr>
          <p:nvPr>
            <p:ph idx="1"/>
          </p:nvPr>
        </p:nvSpPr>
        <p:spPr/>
        <p:txBody>
          <a:bodyPr/>
          <a:lstStyle/>
          <a:p>
            <a:pPr lvl="0" indent="0" marL="0">
              <a:spcBef>
                <a:spcPts val="3000"/>
              </a:spcBef>
              <a:buNone/>
            </a:pPr>
            <a:r>
              <a:rPr b="1"/>
              <a:t>We’re Committed to Your Care</a:t>
            </a:r>
          </a:p>
          <a:p>
            <a:pPr lvl="0" indent="0" marL="0">
              <a:buNone/>
            </a:pPr>
            <a:r>
              <a:rPr/>
              <a:t>This new system is an investment in providing you with: - Better care - Faster service - Improved safety - Enhanced experience</a:t>
            </a:r>
          </a:p>
          <a:p>
            <a:pPr lvl="0" indent="0" marL="0">
              <a:buNone/>
            </a:pPr>
            <a:r>
              <a:rPr b="1"/>
              <a:t>The system is a tool to help us serve you better. Our commitment to your health and well-being remains unchanged.</a:t>
            </a:r>
          </a:p>
          <a:p>
            <a:pPr lvl="0" indent="0" marL="0">
              <a:buNone/>
            </a:pPr>
            <a:r>
              <a:rPr b="1"/>
              <a:t>Thank you for your patience as we make this transition. We believe you’ll see the benefits from your very first visit.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Questions? Ask any staff member or contact Patient Relations.</a:t>
            </a:r>
          </a:p>
          <a:p>
            <a:pPr lvl="0" indent="0" marL="0">
              <a:buNone/>
            </a:pPr>
            <a:r>
              <a:rPr b="1"/>
              <a:t>Your health is our priority. This system helps us deliver the care you deserve.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Document Version:</a:t>
            </a:r>
            <a:r>
              <a:rPr/>
              <a:t> 1.0 - Patient Information </a:t>
            </a:r>
            <a:r>
              <a:rPr b="1"/>
              <a:t>Last Updated:</a:t>
            </a:r>
            <a:r>
              <a:rPr/>
              <a:t> [Date] </a:t>
            </a:r>
            <a:r>
              <a:rPr b="1"/>
              <a:t>Available in:</a:t>
            </a:r>
            <a:r>
              <a:rPr/>
              <a:t> English, Spanish (available on request)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2025-11-14T12:07:53Z</dcterms:created>
  <dcterms:modified xsi:type="dcterms:W3CDTF">2025-11-14T12:07:53Z</dcterms:modified>
</cp:coreProperties>
</file>

<file path=docProps/custom.xml><?xml version="1.0" encoding="utf-8"?>
<Properties xmlns="http://schemas.openxmlformats.org/officeDocument/2006/custom-properties" xmlns:vt="http://schemas.openxmlformats.org/officeDocument/2006/docPropsVTypes"/>
</file>