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2" Type="http://schemas.openxmlformats.org/officeDocument/2006/relationships/viewProps" Target="viewProps.xml" /><Relationship Id="rId2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4" Type="http://schemas.openxmlformats.org/officeDocument/2006/relationships/tableStyles" Target="tableStyles.xml" /><Relationship Id="rId2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Hospital Management System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Executive Presentation for Hospital Administrators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Transforming Hospital Operations Through Digital Innovation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 of Contents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Executive Summary</a:t>
            </a:r>
          </a:p>
          <a:p>
            <a:pPr lvl="0" indent="-342900" marL="342900">
              <a:buAutoNum type="arabicPeriod"/>
            </a:pPr>
            <a:r>
              <a:rPr/>
              <a:t>Current Healthcare Challenges</a:t>
            </a:r>
          </a:p>
          <a:p>
            <a:pPr lvl="0" indent="-342900" marL="342900">
              <a:buAutoNum type="arabicPeriod"/>
            </a:pPr>
            <a:r>
              <a:rPr/>
              <a:t>System Overview &amp; Capabilities</a:t>
            </a:r>
          </a:p>
          <a:p>
            <a:pPr lvl="0" indent="-342900" marL="342900">
              <a:buAutoNum type="arabicPeriod"/>
            </a:pPr>
            <a:r>
              <a:rPr/>
              <a:t>Operational Benefits &amp; ROI</a:t>
            </a:r>
          </a:p>
          <a:p>
            <a:pPr lvl="0" indent="-342900" marL="342900">
              <a:buAutoNum type="arabicPeriod"/>
            </a:pPr>
            <a:r>
              <a:rPr/>
              <a:t>Clinical Quality Improvements</a:t>
            </a:r>
          </a:p>
          <a:p>
            <a:pPr lvl="0" indent="-342900" marL="342900">
              <a:buAutoNum type="arabicPeriod"/>
            </a:pPr>
            <a:r>
              <a:rPr/>
              <a:t>Financial Impact</a:t>
            </a:r>
          </a:p>
          <a:p>
            <a:pPr lvl="0" indent="-342900" marL="342900">
              <a:buAutoNum type="arabicPeriod"/>
            </a:pPr>
            <a:r>
              <a:rPr/>
              <a:t>Implementation Approach</a:t>
            </a:r>
          </a:p>
          <a:p>
            <a:pPr lvl="0" indent="-342900" marL="342900">
              <a:buAutoNum type="arabicPeriod"/>
            </a:pPr>
            <a:r>
              <a:rPr/>
              <a:t>Security &amp; Compliance</a:t>
            </a:r>
          </a:p>
          <a:p>
            <a:pPr lvl="0" indent="-342900" marL="342900">
              <a:buAutoNum type="arabicPeriod"/>
            </a:pPr>
            <a:r>
              <a:rPr/>
              <a:t>Case for Change</a:t>
            </a:r>
          </a:p>
          <a:p>
            <a:pPr lvl="0" indent="-342900" marL="342900">
              <a:buAutoNum type="arabicPeriod"/>
            </a:pPr>
            <a:r>
              <a:rPr/>
              <a:t>Next Steps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1. Executive 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Transform Your Hospital with Intelligent Workflow Management</a:t>
            </a:r>
          </a:p>
          <a:p>
            <a:pPr lvl="0" indent="0" marL="0">
              <a:buNone/>
            </a:pPr>
            <a:r>
              <a:rPr b="1"/>
              <a:t>The Hospital Management System is a comprehensive, real-time platform designed to optimize every aspect of hospital operations—from patient registration to billing.</a:t>
            </a:r>
          </a:p>
          <a:p>
            <a:pPr lvl="0" indent="0" marL="0">
              <a:buNone/>
            </a:pPr>
            <a:r>
              <a:rPr b="1"/>
              <a:t>Key Value Propositions:</a:t>
            </a:r>
          </a:p>
          <a:p>
            <a:pPr lvl="0" indent="0" marL="0">
              <a:buNone/>
            </a:pPr>
            <a:r>
              <a:rPr/>
              <a:t>✅ </a:t>
            </a:r>
            <a:r>
              <a:rPr b="1"/>
              <a:t>Reduce Patient Wait Times by 40%</a:t>
            </a:r>
            <a:r>
              <a:rPr/>
              <a:t> through intelligent queue management ✅ </a:t>
            </a:r>
            <a:r>
              <a:rPr b="1"/>
              <a:t>Save $500K+ Annually</a:t>
            </a:r>
            <a:r>
              <a:rPr/>
              <a:t> through workflow automation and efficiency gains ✅ </a:t>
            </a:r>
            <a:r>
              <a:rPr b="1"/>
              <a:t>Improve Patient Satisfaction</a:t>
            </a:r>
            <a:r>
              <a:rPr/>
              <a:t> with real-time status updates and faster service ✅ </a:t>
            </a:r>
            <a:r>
              <a:rPr b="1"/>
              <a:t>Eliminate Critical Result Delays</a:t>
            </a:r>
            <a:r>
              <a:rPr/>
              <a:t> with instant physician notifications ✅ </a:t>
            </a:r>
            <a:r>
              <a:rPr b="1"/>
              <a:t>Increase Revenue by 15%</a:t>
            </a:r>
            <a:r>
              <a:rPr/>
              <a:t> through reduced billing errors and better collection ✅ </a:t>
            </a:r>
            <a:r>
              <a:rPr b="1"/>
              <a:t>Enhance Staff Productivity</a:t>
            </a:r>
            <a:r>
              <a:rPr/>
              <a:t> by eliminating manual coordination tasks</a:t>
            </a:r>
          </a:p>
          <a:p>
            <a:pPr lvl="0" indent="0" marL="0">
              <a:buNone/>
            </a:pPr>
            <a:r>
              <a:rPr b="1"/>
              <a:t>Implementation:</a:t>
            </a:r>
            <a:r>
              <a:rPr/>
              <a:t> 30 days to go-live, not 6-18 months</a:t>
            </a:r>
          </a:p>
          <a:p>
            <a:pPr lvl="0" indent="0" marL="0">
              <a:buNone/>
            </a:pPr>
            <a:r>
              <a:rPr b="1"/>
              <a:t>Investment:</a:t>
            </a:r>
            <a:r>
              <a:rPr/>
              <a:t> $150K-$500K annually vs. $5M+ for legacy systems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Current Healthcare Challenges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Pain Points Affecting Your Hospital Today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Operational Inefficiencies</a:t>
            </a:r>
          </a:p>
          <a:p>
            <a:pPr lvl="0" indent="0" marL="0">
              <a:buNone/>
            </a:pPr>
            <a:r>
              <a:rPr b="1"/>
              <a:t>Long Wait Times:</a:t>
            </a:r>
            <a:r>
              <a:rPr/>
              <a:t> - Average ED wait time: 60-90 minutes - Patient walkaways due to delays: 5-10% of volume - Lost revenue from walkaways: $200K+ annually - Poor patient satisfaction scores affecting reimbursement</a:t>
            </a:r>
          </a:p>
          <a:p>
            <a:pPr lvl="0" indent="0" marL="0">
              <a:buNone/>
            </a:pPr>
            <a:r>
              <a:rPr b="1"/>
              <a:t>Manual Coordination:</a:t>
            </a:r>
            <a:r>
              <a:rPr/>
              <a:t> - Nurses spending 30% of time on phone coordinating care - Paper-based prescription routing causing delays - Lab results printed and delivered manually - Billing information collected multiple times</a:t>
            </a:r>
          </a:p>
          <a:p>
            <a:pPr lvl="0" indent="0" marL="0">
              <a:buNone/>
            </a:pPr>
            <a:r>
              <a:rPr b="1"/>
              <a:t>Disconnected Systems:</a:t>
            </a:r>
            <a:r>
              <a:rPr/>
              <a:t> - Registration, EMR, lab, pharmacy, billing all separate - Data entered multiple times in different systems - No real-time visibility into patient status - Critical results lost in paper workflows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Clinical Quality Issues</a:t>
            </a:r>
          </a:p>
          <a:p>
            <a:pPr lvl="0" indent="0" marL="0">
              <a:buNone/>
            </a:pPr>
            <a:r>
              <a:rPr b="1"/>
              <a:t>Delayed Critical Results:</a:t>
            </a:r>
            <a:r>
              <a:rPr/>
              <a:t> - Critical lab values may take hours to reach physician - No automatic alerts for abnormal findings - Manual phone calls required for urgent results - Potential for adverse patient outcomes</a:t>
            </a:r>
          </a:p>
          <a:p>
            <a:pPr lvl="0" indent="0" marL="0">
              <a:buNone/>
            </a:pPr>
            <a:r>
              <a:rPr b="1"/>
              <a:t>Incomplete Information:</a:t>
            </a:r>
            <a:r>
              <a:rPr/>
              <a:t> - Patient history not readily available during consultation - Allergies and contraindications not flagged - Previous test results require manual lookup - Care coordination challenges across departments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Financial Leakage</a:t>
            </a:r>
          </a:p>
          <a:p>
            <a:pPr lvl="0" indent="0" marL="0">
              <a:buNone/>
            </a:pPr>
            <a:r>
              <a:rPr b="1"/>
              <a:t>Revenue Cycle Issues:</a:t>
            </a:r>
            <a:r>
              <a:rPr/>
              <a:t> - 15-20% revenue leakage from billing errors - Average $150K in outstanding receivables over 90 days - Manual insurance claim processing taking 45+ days - Medication dispensed but not billed (2-3% loss)</a:t>
            </a:r>
          </a:p>
          <a:p>
            <a:pPr lvl="0" indent="0" marL="0">
              <a:buNone/>
            </a:pPr>
            <a:r>
              <a:rPr b="1"/>
              <a:t>Administrative Burden:</a:t>
            </a:r>
            <a:r>
              <a:rPr/>
              <a:t> - 25% of staff time on non-value-added paperwork - Duplicate data entry across systems - Manual reconciliation of charges - Compliance documentation gaps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System Overview &amp; Capabilities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Comprehensive Platform for All Hospital Operations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Integrated Modules</a:t>
            </a:r>
          </a:p>
          <a:p>
            <a:pPr lvl="0" indent="0" marL="0">
              <a:buNone/>
            </a:pPr>
            <a:r>
              <a:rPr b="1"/>
              <a:t>1. Reception &amp; Patient Registration</a:t>
            </a:r>
            <a:r>
              <a:rPr/>
              <a:t> - Digital patient registration with unique ID generation - Insurance verification and eligibility checking - Patient check-in with automatic queue placement - Emergency contact and demographic management - Appointment scheduling and management - Walk-in patient workflow</a:t>
            </a:r>
          </a:p>
          <a:p>
            <a:pPr lvl="0" indent="0" marL="0">
              <a:buNone/>
            </a:pPr>
            <a:r>
              <a:rPr b="1"/>
              <a:t>2. Electronic Medical Records (EMR)</a:t>
            </a:r>
            <a:r>
              <a:rPr/>
              <a:t> - Complete patient medical history - Vital signs tracking (BP, temperature, pulse, oxygen saturation) - Allergy and medication tracking - Previous visit history and care timeline - Clinical documentation - Problem list and diagnosis history</a:t>
            </a:r>
          </a:p>
          <a:p>
            <a:pPr lvl="0" indent="0" marL="0">
              <a:buNone/>
            </a:pPr>
            <a:r>
              <a:rPr b="1"/>
              <a:t>3. Doctor Consultation Suite</a:t>
            </a:r>
            <a:r>
              <a:rPr/>
              <a:t> - Real-time patient queue with priority levels (emergency, urgent, normal) - Complete patient chart during consultation - Electronic prescription generation - Lab and radiology test ordering - Clinical decision support - Consultation notes and documentation</a:t>
            </a:r>
          </a:p>
          <a:p>
            <a:pPr lvl="0" indent="0" marL="0">
              <a:buNone/>
            </a:pPr>
            <a:r>
              <a:rPr b="1"/>
              <a:t>4. Laboratory Management</a:t>
            </a:r>
            <a:r>
              <a:rPr/>
              <a:t> - Test order management with automatic routing - Sample tracking and chain of custody - Result entry with validation rules - </a:t>
            </a:r>
            <a:r>
              <a:rPr b="1"/>
              <a:t>Critical value automatic alerts</a:t>
            </a:r>
            <a:r>
              <a:rPr/>
              <a:t> to physicians - Quality control tracking - Result distribution via system (no phone calls needed)</a:t>
            </a:r>
          </a:p>
          <a:p>
            <a:pPr lvl="0" indent="0" marL="0">
              <a:buNone/>
            </a:pPr>
            <a:r>
              <a:rPr b="1"/>
              <a:t>5. Pharmacy Operations</a:t>
            </a:r>
            <a:r>
              <a:rPr/>
              <a:t> - Electronic prescription queue - Medication dispensing workflow - Inventory management with auto-alerts - Low-stock notifications - Drug interaction checking (planned) - Controlled substance tracking</a:t>
            </a:r>
          </a:p>
          <a:p>
            <a:pPr lvl="0" indent="0" marL="0">
              <a:buNone/>
            </a:pPr>
            <a:r>
              <a:rPr b="1"/>
              <a:t>6. Radiology/Imaging</a:t>
            </a:r>
            <a:r>
              <a:rPr/>
              <a:t> - Imaging test ordering - Study scheduling - PACS integration capability - Report generation - Results distribution</a:t>
            </a:r>
          </a:p>
          <a:p>
            <a:pPr lvl="0" indent="0" marL="0">
              <a:buNone/>
            </a:pPr>
            <a:r>
              <a:rPr b="1"/>
              <a:t>7. Billing &amp; Revenue Cycle</a:t>
            </a:r>
            <a:r>
              <a:rPr/>
              <a:t> - Automatic bill generation from services rendered - Insurance claim processing - Payment collection (cash, card, insurance) - Outstanding balance tracking - Dunning management - Revenue analytics</a:t>
            </a:r>
          </a:p>
          <a:p>
            <a:pPr lvl="0" indent="0" marL="0">
              <a:buNone/>
            </a:pPr>
            <a:r>
              <a:rPr b="1"/>
              <a:t>8. Analytics &amp; Dashboards</a:t>
            </a:r>
            <a:r>
              <a:rPr/>
              <a:t> - Real-time operational dashboards - Patient flow analytics - Department performance metrics - Wait time tracking - Financial KPIs - Custom report generation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Cross-Cutting Features</a:t>
            </a:r>
          </a:p>
          <a:p>
            <a:pPr lvl="0" indent="0" marL="0">
              <a:buNone/>
            </a:pPr>
            <a:r>
              <a:rPr b="1"/>
              <a:t>Real-Time Notifications:</a:t>
            </a:r>
            <a:r>
              <a:rPr/>
              <a:t> - Instant alerts for critical lab results - Patient status change notifications - Queue position updates - Task reminders and assignments - System alerts and announcements</a:t>
            </a:r>
          </a:p>
          <a:p>
            <a:pPr lvl="0" indent="0" marL="0">
              <a:buNone/>
            </a:pPr>
            <a:r>
              <a:rPr b="1"/>
              <a:t>Role-Based Access:</a:t>
            </a:r>
            <a:r>
              <a:rPr/>
              <a:t> - Admin, Doctor, Nurse, Receptionist, Lab Tech, Pharmacist, Radiologist, Billing - Granular permissions by role - Audit trail of all access and actions - HIPAA-compliant security</a:t>
            </a:r>
          </a:p>
          <a:p>
            <a:pPr lvl="0" indent="0" marL="0">
              <a:buNone/>
            </a:pPr>
            <a:r>
              <a:rPr b="1"/>
              <a:t>Mobile Responsive:</a:t>
            </a:r>
            <a:r>
              <a:rPr/>
              <a:t> - Access from desktop, tablet, or smartphone - Native mobile app (roadmap) - Works on all modern browsers - Cloud-based - no local installation required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4. Operational Benefits &amp; ROI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Quantifiable Improvements to Hospital Operations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Benefit 1: Reduced Patient Wait Times</a:t>
            </a:r>
          </a:p>
          <a:p>
            <a:pPr lvl="0" indent="0" marL="0">
              <a:buNone/>
            </a:pPr>
            <a:r>
              <a:rPr b="1"/>
              <a:t>Current State:</a:t>
            </a:r>
            <a:r>
              <a:rPr/>
              <a:t> - Average ED wait time: 75 minutes - Outpatient clinic wait: 45 minutes - No visibility into queue position - Patients frustrated and leaving</a:t>
            </a:r>
          </a:p>
          <a:p>
            <a:pPr lvl="0" indent="0" marL="0">
              <a:buNone/>
            </a:pPr>
            <a:r>
              <a:rPr b="1"/>
              <a:t>With Our System:</a:t>
            </a:r>
            <a:r>
              <a:rPr/>
              <a:t> - </a:t>
            </a:r>
            <a:r>
              <a:rPr b="1"/>
              <a:t>40% reduction in wait times</a:t>
            </a:r>
            <a:r>
              <a:rPr/>
              <a:t> through priority-based queue management - Real-time queue visibility for staff - Estimated wait time provided to patients - Automatic routing to available providers</a:t>
            </a:r>
          </a:p>
          <a:p>
            <a:pPr lvl="0" indent="0" marL="0">
              <a:buNone/>
            </a:pPr>
            <a:r>
              <a:rPr b="1"/>
              <a:t>Impact:</a:t>
            </a:r>
            <a:r>
              <a:rPr/>
              <a:t> - Improved patient satisfaction scores (HCAHPS) - Reduced walkaway rate from 8% to 3% - Additional 5% patient volume = $250K revenue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Benefit 2: Eliminated Critical Result Delays</a:t>
            </a:r>
          </a:p>
          <a:p>
            <a:pPr lvl="0" indent="0" marL="0">
              <a:buNone/>
            </a:pPr>
            <a:r>
              <a:rPr b="1"/>
              <a:t>Current State:</a:t>
            </a:r>
            <a:r>
              <a:rPr/>
              <a:t> - Lab techs call doctors for critical results - Average delay: 30-120 minutes - Doctors not always reachable - Results documented on paper</a:t>
            </a:r>
          </a:p>
          <a:p>
            <a:pPr lvl="0" indent="0" marL="0">
              <a:buNone/>
            </a:pPr>
            <a:r>
              <a:rPr b="1"/>
              <a:t>With Our System:</a:t>
            </a:r>
            <a:r>
              <a:rPr/>
              <a:t> - </a:t>
            </a:r>
            <a:r>
              <a:rPr b="1"/>
              <a:t>Instant notification</a:t>
            </a:r>
            <a:r>
              <a:rPr/>
              <a:t> when critical value detected (&lt; 30 seconds) - Multi-channel alerts (app, email, SMS) - Automatic escalation if not acknowledged - Full audit trail of notification</a:t>
            </a:r>
          </a:p>
          <a:p>
            <a:pPr lvl="0" indent="0" marL="0">
              <a:buNone/>
            </a:pPr>
            <a:r>
              <a:rPr b="1"/>
              <a:t>Impact:</a:t>
            </a:r>
            <a:r>
              <a:rPr/>
              <a:t> - Zero missed critical results - Improved patient safety - Reduced liability risk - Better clinical outcomes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Benefit 3: Staff Productivity Gains</a:t>
            </a:r>
          </a:p>
          <a:p>
            <a:pPr lvl="0" indent="0" marL="0">
              <a:buNone/>
            </a:pPr>
            <a:r>
              <a:rPr b="1"/>
              <a:t>Time Saved Per Day: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6000"/>
                <a:gridCol w="1016000"/>
                <a:gridCol w="1016000"/>
                <a:gridCol w="1016000"/>
                <a:gridCol w="1016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Current Time on Admin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Time After System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Savings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Annual 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Physician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 hours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30 minutes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1.5 hrs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$150K (10 docs)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Nurse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 hours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 hour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 hrs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$200K (20 nurses)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Receptionist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 hours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 hours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 hrs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$80K (5 staff)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Lab Tech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 hour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15 minutes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45 min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$30K (8 techs)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Pharmacist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1.5 hours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30 minutes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 hr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$50K (4 pharm)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TOTAL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$510K/year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Activities Eliminated:</a:t>
            </a:r>
            <a:r>
              <a:rPr/>
              <a:t> - Phone calls for test results - Hunting for patient charts - Duplicate data entry - Manual prescription routing - Paper form filling - Charge reconciliation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Benefit 4: Improved Care Coordination</a:t>
            </a:r>
          </a:p>
          <a:p>
            <a:pPr lvl="0" indent="0" marL="0">
              <a:buNone/>
            </a:pPr>
            <a:r>
              <a:rPr b="1"/>
              <a:t>Current State:</a:t>
            </a:r>
            <a:r>
              <a:rPr/>
              <a:t> - Multiple phone calls to coordinate patient care - Unclear patient status across departments - Delays in care transitions - Information silos</a:t>
            </a:r>
          </a:p>
          <a:p>
            <a:pPr lvl="0" indent="0" marL="0">
              <a:buNone/>
            </a:pPr>
            <a:r>
              <a:rPr b="1"/>
              <a:t>With Our System:</a:t>
            </a:r>
            <a:r>
              <a:rPr/>
              <a:t> - Real-time patient status visible to all authorized staff - Automatic notifications when patient ready for next step - Complete care timeline in one view - Seamless handoffs between departments</a:t>
            </a:r>
          </a:p>
          <a:p>
            <a:pPr lvl="0" indent="0" marL="0">
              <a:buNone/>
            </a:pPr>
            <a:r>
              <a:rPr b="1"/>
              <a:t>Impact:</a:t>
            </a:r>
            <a:r>
              <a:rPr/>
              <a:t> - Reduced length of stay by 0.5 days - Faster patient throughput - Better resource utilization - Improved staff satisfaction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Benefit 5: Data-Driven Decision Making</a:t>
            </a:r>
          </a:p>
          <a:p>
            <a:pPr lvl="0" indent="0" marL="0">
              <a:buNone/>
            </a:pPr>
            <a:r>
              <a:rPr b="1"/>
              <a:t>Real-Time Dashboards Show:</a:t>
            </a:r>
            <a:r>
              <a:rPr/>
              <a:t> - Patient volume by hour/day/week - Average wait times by department - Department utilization rates - Staff productivity metrics - Revenue and collection rates - Inventory levels and usage</a:t>
            </a:r>
          </a:p>
          <a:p>
            <a:pPr lvl="0" indent="0" marL="0">
              <a:buNone/>
            </a:pPr>
            <a:r>
              <a:rPr b="1"/>
              <a:t>Use Cases:</a:t>
            </a:r>
            <a:r>
              <a:rPr/>
              <a:t> - Optimize staffing based on actual demand patterns - Identify bottlenecks in patient flow - Track performance against targets - Forecast resource needs - Benchmark across departments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5. Clinical Quality Improvements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Better Care Through Better Information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Complete Patient Information at Point of Care</a:t>
            </a:r>
          </a:p>
          <a:p>
            <a:pPr lvl="0" indent="0" marL="0">
              <a:buNone/>
            </a:pPr>
            <a:r>
              <a:rPr b="1"/>
              <a:t>Doctor Benefits:</a:t>
            </a:r>
            <a:r>
              <a:rPr/>
              <a:t> - Full medical history during consultation - Allergies prominently displayed - Previous test results immediately accessible - Medication list with dosing - Problem list and active diagnoses - Visit history and care timeline</a:t>
            </a:r>
          </a:p>
          <a:p>
            <a:pPr lvl="0" indent="0" marL="0">
              <a:buNone/>
            </a:pPr>
            <a:r>
              <a:rPr b="1"/>
              <a:t>Clinical Decision Support:</a:t>
            </a:r>
            <a:r>
              <a:rPr/>
              <a:t> - Allergy warnings when prescribing - Drug interaction alerts (roadmap) - Duplicate test prevention - Evidence-based order sets (roadmap) - Clinical guidelines integration (roadmap)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Closed-Loop Medication Management</a:t>
            </a:r>
          </a:p>
          <a:p>
            <a:pPr lvl="0" indent="0" marL="0">
              <a:buNone/>
            </a:pPr>
            <a:r>
              <a:rPr b="1"/>
              <a:t>Current Gap:</a:t>
            </a:r>
            <a:r>
              <a:rPr/>
              <a:t> Medication ordered → lost in manual routing → delayed delivery</a:t>
            </a:r>
          </a:p>
          <a:p>
            <a:pPr lvl="0" indent="0" marL="0">
              <a:buNone/>
            </a:pPr>
            <a:r>
              <a:rPr b="1"/>
              <a:t>Closed-Loop Process:</a:t>
            </a:r>
            <a:r>
              <a:rPr/>
              <a:t> 1. Doctor orders medication electronically 2. Pharmacy instantly receives order 3. Pharmacist dispenses and documents 4. Nurse administers (roadmap) 5. Patient chart automatically updated 6. Billing automatically triggered</a:t>
            </a:r>
          </a:p>
          <a:p>
            <a:pPr lvl="0" indent="0" marL="0">
              <a:buNone/>
            </a:pPr>
            <a:r>
              <a:rPr b="1"/>
              <a:t>Benefits:</a:t>
            </a:r>
            <a:r>
              <a:rPr/>
              <a:t> - Reduced medication errors - Faster medication delivery - Complete audit trail - Improved patient safety - Automatic billing capture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Laboratory Quality &amp; Safety</a:t>
            </a:r>
          </a:p>
          <a:p>
            <a:pPr lvl="0" indent="0" marL="0">
              <a:buNone/>
            </a:pPr>
            <a:r>
              <a:rPr b="1"/>
              <a:t>Critical Result Management:</a:t>
            </a:r>
            <a:r>
              <a:rPr/>
              <a:t> - Automatic detection based on configurable rules - Instant multi-channel physician notification - Acknowledgement required - Escalation if not acknowledged within 15 minutes - Complete audit trail for compliance</a:t>
            </a:r>
          </a:p>
          <a:p>
            <a:pPr lvl="0" indent="0" marL="0">
              <a:buNone/>
            </a:pPr>
            <a:r>
              <a:rPr b="1"/>
              <a:t>Result Accuracy:</a:t>
            </a:r>
            <a:r>
              <a:rPr/>
              <a:t> - Validation rules prevent entry errors - Delta checking for unusual changes - Quality control tracking - Result approval workflow - Certified results only released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Care Coordination &amp; Communication</a:t>
            </a:r>
          </a:p>
          <a:p>
            <a:pPr lvl="0" indent="0" marL="0">
              <a:buNone/>
            </a:pPr>
            <a:r>
              <a:rPr b="1"/>
              <a:t>Team-Based Care:</a:t>
            </a:r>
            <a:r>
              <a:rPr/>
              <a:t> - All care team members see same information - Real-time updates across system - Task assignment and tracking - Secure messaging between providers (roadmap) - Consultations and referrals streamlined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6. Financial Impact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Comprehensive ROI Analysis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Revenue Improvements</a:t>
            </a:r>
          </a:p>
          <a:p>
            <a:pPr lvl="0" indent="0" marL="0">
              <a:buNone/>
            </a:pPr>
            <a:r>
              <a:rPr b="1"/>
              <a:t>1. Reduced Revenue Leakage: +$300K/year</a:t>
            </a:r>
            <a:r>
              <a:rPr/>
              <a:t> - Automated charge capture (no missed charges) - Real-time billing from dispensing/testing - Reduced billing errors from 15% to 2% - Better documentation for claims</a:t>
            </a:r>
          </a:p>
          <a:p>
            <a:pPr lvl="0" indent="0" marL="0">
              <a:buNone/>
            </a:pPr>
            <a:r>
              <a:rPr b="1"/>
              <a:t>2. Improved Collections: +$200K/year</a:t>
            </a:r>
            <a:r>
              <a:rPr/>
              <a:t> - Faster claim submission (same day vs. 7-14 days) - Reduced claim denials through better documentation - Automated payment posting - Better tracking of outstanding receivables</a:t>
            </a:r>
          </a:p>
          <a:p>
            <a:pPr lvl="0" indent="0" marL="0">
              <a:buNone/>
            </a:pPr>
            <a:r>
              <a:rPr b="1"/>
              <a:t>3. Increased Patient Volume: +$250K/year</a:t>
            </a:r>
            <a:r>
              <a:rPr/>
              <a:t> - Reduced wait times → fewer walkaways - Higher patient satisfaction → more referrals - Faster throughput → more patients per day - 5% volume increase at $5M annual revenue = $250K</a:t>
            </a:r>
          </a:p>
          <a:p>
            <a:pPr lvl="0" indent="0" marL="0">
              <a:buNone/>
            </a:pPr>
            <a:r>
              <a:rPr b="1"/>
              <a:t>Total Revenue Impact: +$750K/year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Cost Savings</a:t>
            </a:r>
          </a:p>
          <a:p>
            <a:pPr lvl="0" indent="0" marL="0">
              <a:buNone/>
            </a:pPr>
            <a:r>
              <a:rPr b="1"/>
              <a:t>1. Staff Productivity: $510K/year</a:t>
            </a:r>
            <a:r>
              <a:rPr/>
              <a:t> - Reduced administrative burden (see Section 4) - More time for direct patient care - Fewer overtime hours needed - Better resource utilization</a:t>
            </a:r>
          </a:p>
          <a:p>
            <a:pPr lvl="0" indent="0" marL="0">
              <a:buNone/>
            </a:pPr>
            <a:r>
              <a:rPr b="1"/>
              <a:t>2. Supply Chain Optimization: $50K/year</a:t>
            </a:r>
            <a:r>
              <a:rPr/>
              <a:t> - Reduced medication waste through better inventory management - Prevention of stock-outs and emergency orders - Better usage tracking and demand forecasting - Reduced expired medications</a:t>
            </a:r>
          </a:p>
          <a:p>
            <a:pPr lvl="0" indent="0" marL="0">
              <a:buNone/>
            </a:pPr>
            <a:r>
              <a:rPr b="1"/>
              <a:t>3. Transcription Elimination: $40K/year</a:t>
            </a:r>
            <a:r>
              <a:rPr/>
              <a:t> - Electronic documentation vs. dictation and transcription - 10 providers × $4K/year savings</a:t>
            </a:r>
          </a:p>
          <a:p>
            <a:pPr lvl="0" indent="0" marL="0">
              <a:buNone/>
            </a:pPr>
            <a:r>
              <a:rPr b="1"/>
              <a:t>4. Paper and Printing: $20K/year</a:t>
            </a:r>
            <a:r>
              <a:rPr/>
              <a:t> - Reduced paper charts, prescription pads, forms - Lower printing costs - Less physical storage needed</a:t>
            </a:r>
          </a:p>
          <a:p>
            <a:pPr lvl="0" indent="0" marL="0">
              <a:buNone/>
            </a:pPr>
            <a:r>
              <a:rPr b="1"/>
              <a:t>5. IT Cost Reduction: $30K/year</a:t>
            </a:r>
            <a:r>
              <a:rPr/>
              <a:t> - Replace 3-5 point solutions with one platform - Reduced integration and maintenance costs - Lower licensing fees</a:t>
            </a:r>
          </a:p>
          <a:p>
            <a:pPr lvl="0" indent="0" marL="0">
              <a:buNone/>
            </a:pPr>
            <a:r>
              <a:rPr b="1"/>
              <a:t>Total Cost Savings: $650K/year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3-Year ROI Calculation</a:t>
            </a:r>
          </a:p>
          <a:p>
            <a:pPr lvl="0" indent="0" marL="0">
              <a:buNone/>
            </a:pPr>
            <a:r>
              <a:rPr b="1"/>
              <a:t>Assumptions:</a:t>
            </a:r>
            <a:r>
              <a:rPr/>
              <a:t> - Hospital size: 250 beds - Annual subscription: $150K - Implementation: $50K one-time - Training: $25K one-time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6000"/>
                <a:gridCol w="1016000"/>
                <a:gridCol w="1016000"/>
                <a:gridCol w="1016000"/>
                <a:gridCol w="1016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Benefits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Costs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 Benefit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Cumulative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Year 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$225K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-$225K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-$225K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Year 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$1,400K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$150K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$1,250K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$1,025K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Year 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$1,400K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$150K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$1,250K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$2,275K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Year 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$1,400K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$150K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$1,250K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$3,525K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ROI Metrics:</a:t>
            </a:r>
            <a:r>
              <a:rPr/>
              <a:t> - </a:t>
            </a:r>
            <a:r>
              <a:rPr b="1"/>
              <a:t>Payback Period:</a:t>
            </a:r>
            <a:r>
              <a:rPr/>
              <a:t> 2.1 months - </a:t>
            </a:r>
            <a:r>
              <a:rPr b="1"/>
              <a:t>3-Year ROI:</a:t>
            </a:r>
            <a:r>
              <a:rPr/>
              <a:t> 1,467% - </a:t>
            </a:r>
            <a:r>
              <a:rPr b="1"/>
              <a:t>NPV @ 10% discount:</a:t>
            </a:r>
            <a:r>
              <a:rPr/>
              <a:t> $3.1M - </a:t>
            </a:r>
            <a:r>
              <a:rPr b="1"/>
              <a:t>IRR:</a:t>
            </a:r>
            <a:r>
              <a:rPr/>
              <a:t> 550%+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Intangible Benefits</a:t>
            </a:r>
          </a:p>
          <a:p>
            <a:pPr lvl="0" indent="0" marL="0">
              <a:buNone/>
            </a:pPr>
            <a:r>
              <a:rPr/>
              <a:t>Beyond the numbers: - </a:t>
            </a:r>
            <a:r>
              <a:rPr b="1"/>
              <a:t>Improved patient satisfaction</a:t>
            </a:r>
            <a:r>
              <a:rPr/>
              <a:t> → better HCAHPS scores → higher reimbursement - </a:t>
            </a:r>
            <a:r>
              <a:rPr b="1"/>
              <a:t>Enhanced staff satisfaction</a:t>
            </a:r>
            <a:r>
              <a:rPr/>
              <a:t> → reduced turnover → lower recruitment costs - </a:t>
            </a:r>
            <a:r>
              <a:rPr b="1"/>
              <a:t>Better compliance</a:t>
            </a:r>
            <a:r>
              <a:rPr/>
              <a:t> → reduced audit risk → fewer penalties - </a:t>
            </a:r>
            <a:r>
              <a:rPr b="1"/>
              <a:t>Competitive advantage</a:t>
            </a:r>
            <a:r>
              <a:rPr/>
              <a:t> → market differentiation → patient choice - </a:t>
            </a:r>
            <a:r>
              <a:rPr b="1"/>
              <a:t>Data for value-based contracts</a:t>
            </a:r>
            <a:r>
              <a:rPr/>
              <a:t> → participation in ACO/bundled payments - </a:t>
            </a:r>
            <a:r>
              <a:rPr b="1"/>
              <a:t>Foundation for innovation</a:t>
            </a:r>
            <a:r>
              <a:rPr/>
              <a:t> → AI, telemedicine, population health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7. Implementation Approach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30-Day Path to Go-Live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Why Our Implementation is Different</a:t>
            </a:r>
          </a:p>
          <a:p>
            <a:pPr lvl="0" indent="0" marL="0">
              <a:buNone/>
            </a:pPr>
            <a:r>
              <a:rPr b="1"/>
              <a:t>Traditional HIS Implementation:</a:t>
            </a:r>
            <a:r>
              <a:rPr/>
              <a:t> - Timeline: 12-18 months - Disruption: Massive - Risk: High - Cost: $500K-$2M - Requires: Dedicated project team</a:t>
            </a:r>
          </a:p>
          <a:p>
            <a:pPr lvl="0" indent="0" marL="0">
              <a:buNone/>
            </a:pPr>
            <a:r>
              <a:rPr b="1"/>
              <a:t>Our Implementation:</a:t>
            </a:r>
            <a:r>
              <a:rPr/>
              <a:t> - Timeline: </a:t>
            </a:r>
            <a:r>
              <a:rPr b="1"/>
              <a:t>30 days</a:t>
            </a:r>
            <a:r>
              <a:rPr/>
              <a:t> - Disruption: </a:t>
            </a:r>
            <a:r>
              <a:rPr b="1"/>
              <a:t>Minimal</a:t>
            </a:r>
            <a:r>
              <a:rPr/>
              <a:t> - Risk: </a:t>
            </a:r>
            <a:r>
              <a:rPr b="1"/>
              <a:t>Low</a:t>
            </a:r>
            <a:r>
              <a:rPr/>
              <a:t> - Cost: </a:t>
            </a:r>
            <a:r>
              <a:rPr b="1"/>
              <a:t>$50K</a:t>
            </a:r>
            <a:r>
              <a:rPr/>
              <a:t> - Requires: </a:t>
            </a:r>
            <a:r>
              <a:rPr b="1"/>
              <a:t>Part-time coordination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4-Week Implementation Plan</a:t>
            </a:r>
          </a:p>
          <a:p>
            <a:pPr lvl="0" indent="0" marL="0">
              <a:buNone/>
            </a:pPr>
            <a:r>
              <a:rPr b="1"/>
              <a:t>Week 1: Discovery &amp; Setup</a:t>
            </a:r>
          </a:p>
          <a:p>
            <a:pPr lvl="0" indent="0" marL="0">
              <a:buNone/>
            </a:pPr>
            <a:r>
              <a:rPr i="1"/>
              <a:t>Days 1-2: Kickoff &amp; Discovery</a:t>
            </a:r>
            <a:r>
              <a:rPr/>
              <a:t> - Stakeholder kickoff meeting - Workflow documentation - Current state assessment - Success criteria definition</a:t>
            </a:r>
          </a:p>
          <a:p>
            <a:pPr lvl="0" indent="0" marL="0">
              <a:buNone/>
            </a:pPr>
            <a:r>
              <a:rPr i="1"/>
              <a:t>Days 3-5: Technical Setup</a:t>
            </a:r>
            <a:r>
              <a:rPr/>
              <a:t> - Cloud infrastructure provisioning - Database setup and configuration - User role mapping - Department structure configuration</a:t>
            </a:r>
          </a:p>
          <a:p>
            <a:pPr lvl="0" indent="0" marL="0">
              <a:buNone/>
            </a:pPr>
            <a:r>
              <a:rPr i="1"/>
              <a:t>Days 6-7: Data Preparation</a:t>
            </a:r>
            <a:r>
              <a:rPr/>
              <a:t> - Patient data migration planning - Staff directory import - Service catalog setup - Pricing and billing codes import</a:t>
            </a:r>
          </a:p>
          <a:p>
            <a:pPr lvl="0" indent="0" marL="0">
              <a:buNone/>
            </a:pPr>
            <a:r>
              <a:rPr b="1"/>
              <a:t>Week 2: Configuration &amp; Customization</a:t>
            </a:r>
          </a:p>
          <a:p>
            <a:pPr lvl="0" indent="0" marL="0">
              <a:buNone/>
            </a:pPr>
            <a:r>
              <a:rPr i="1"/>
              <a:t>Days 8-10: System Configuration</a:t>
            </a:r>
            <a:r>
              <a:rPr/>
              <a:t> - Department workflows configured - Lab test catalog setup - Medication formulary import - Queue rules and priorities set - Notification rules configured</a:t>
            </a:r>
          </a:p>
          <a:p>
            <a:pPr lvl="0" indent="0" marL="0">
              <a:buNone/>
            </a:pPr>
            <a:r>
              <a:rPr i="1"/>
              <a:t>Days 11-12: Integration</a:t>
            </a:r>
            <a:r>
              <a:rPr/>
              <a:t> - Email server integration - Payment gateway setup - Insurance eligibility API (if available) - Single Sign-On configuration (if required)</a:t>
            </a:r>
          </a:p>
          <a:p>
            <a:pPr lvl="0" indent="0" marL="0">
              <a:buNone/>
            </a:pPr>
            <a:r>
              <a:rPr i="1"/>
              <a:t>Days 13-14: Testing</a:t>
            </a:r>
            <a:r>
              <a:rPr/>
              <a:t> - User acceptance testing - Workflow validation - Performance testing - Security audit</a:t>
            </a:r>
          </a:p>
          <a:p>
            <a:pPr lvl="0" indent="0" marL="0">
              <a:buNone/>
            </a:pPr>
            <a:r>
              <a:rPr b="1"/>
              <a:t>Week 3: Training</a:t>
            </a:r>
          </a:p>
          <a:p>
            <a:pPr lvl="0" indent="0" marL="0">
              <a:buNone/>
            </a:pPr>
            <a:r>
              <a:rPr i="1"/>
              <a:t>Days 15-16: Admin &amp; Super Users</a:t>
            </a:r>
            <a:r>
              <a:rPr/>
              <a:t> - System administrators training - Department leads training - Train-the-trainer sessions - Documentation handoff</a:t>
            </a:r>
          </a:p>
          <a:p>
            <a:pPr lvl="0" indent="0" marL="0">
              <a:buNone/>
            </a:pPr>
            <a:r>
              <a:rPr i="1"/>
              <a:t>Days 17-19: End User Training</a:t>
            </a:r>
            <a:r>
              <a:rPr/>
              <a:t> - Reception staff training - Clinical staff (doctors, nurses) training - Lab &amp; pharmacy staff training - Billing staff training</a:t>
            </a:r>
          </a:p>
          <a:p>
            <a:pPr lvl="0" indent="0" marL="0">
              <a:buNone/>
            </a:pPr>
            <a:r>
              <a:rPr i="1"/>
              <a:t>Day 20-21: Practice &amp; Rehearsal</a:t>
            </a:r>
            <a:r>
              <a:rPr/>
              <a:t> - Mock go-live scenarios - Workflow run-throughs - Issue identification and resolution - Confidence building</a:t>
            </a:r>
          </a:p>
          <a:p>
            <a:pPr lvl="0" indent="0" marL="0">
              <a:buNone/>
            </a:pPr>
            <a:r>
              <a:rPr b="1"/>
              <a:t>Week 4: Go-Live &amp; Support</a:t>
            </a:r>
          </a:p>
          <a:p>
            <a:pPr lvl="0" indent="0" marL="0">
              <a:buNone/>
            </a:pPr>
            <a:r>
              <a:rPr i="1"/>
              <a:t>Days 22-23: Soft Launch</a:t>
            </a:r>
            <a:r>
              <a:rPr/>
              <a:t> - Parallel run with existing system - Limited departments or shifts - Issue monitoring and resolution</a:t>
            </a:r>
          </a:p>
          <a:p>
            <a:pPr lvl="0" indent="0" marL="0">
              <a:buNone/>
            </a:pPr>
            <a:r>
              <a:rPr i="1"/>
              <a:t>Days 24-26: Full Go-Live</a:t>
            </a:r>
            <a:r>
              <a:rPr/>
              <a:t> - All departments activated - 24/7 on-site support team - Real-time issue resolution - System performance monitoring</a:t>
            </a:r>
          </a:p>
          <a:p>
            <a:pPr lvl="0" indent="0" marL="0">
              <a:buNone/>
            </a:pPr>
            <a:r>
              <a:rPr i="1"/>
              <a:t>Days 27-30: Stabilization</a:t>
            </a:r>
            <a:r>
              <a:rPr/>
              <a:t> - Fine-tuning based on real usage - Additional training as needed - Performance optimization - Success metrics measurement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Post-Implementation Support</a:t>
            </a:r>
          </a:p>
          <a:p>
            <a:pPr lvl="0" indent="0" marL="0">
              <a:buNone/>
            </a:pPr>
            <a:r>
              <a:rPr b="1"/>
              <a:t>First 30 Days:</a:t>
            </a:r>
            <a:r>
              <a:rPr/>
              <a:t> - Daily check-in calls - On-call support 24/7 - Issue tracking and resolution - Performance monitoring</a:t>
            </a:r>
          </a:p>
          <a:p>
            <a:pPr lvl="0" indent="0" marL="0">
              <a:buNone/>
            </a:pPr>
            <a:r>
              <a:rPr b="1"/>
              <a:t>Months 2-3:</a:t>
            </a:r>
            <a:r>
              <a:rPr/>
              <a:t> - Weekly check-in meetings - Continued 24/7 support - User feedback incorporation - Feature optimization</a:t>
            </a:r>
          </a:p>
          <a:p>
            <a:pPr lvl="0" indent="0" marL="0">
              <a:buNone/>
            </a:pPr>
            <a:r>
              <a:rPr b="1"/>
              <a:t>Ongoing:</a:t>
            </a:r>
            <a:r>
              <a:rPr/>
              <a:t> - Quarterly business reviews - Monthly product updates - Annual training refreshers - Dedicated account manager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Risk Mitigation</a:t>
            </a:r>
          </a:p>
          <a:p>
            <a:pPr lvl="0" indent="0" marL="0">
              <a:buNone/>
            </a:pPr>
            <a:r>
              <a:rPr b="1"/>
              <a:t>Common Implementation Risks: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Risk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Mitigation Strategy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Staff resistance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Early involvement, comprehensive training, super-users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Data migration errors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Thorough testing, validation rules, rollback plan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Workflow disruption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Parallel run, phased rollout option, 24/7 support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Integration issues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Pre-implementation testing, fallback procedures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Performance problems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Load testing, scalable cloud infrastructure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Security gaps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Security audit before go-live, penetration testing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Success Factors:</a:t>
            </a:r>
            <a:r>
              <a:rPr/>
              <a:t> 1. Executive sponsorship and visible commitment 2. Dedicated project manager from hospital 3. Super-user network across departments 4. Clear communication plan 5. Celebrate quick wins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8. Security &amp; Compliance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Enterprise-Grade Security for Healthcare Data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Data Security Measures</a:t>
            </a:r>
          </a:p>
          <a:p>
            <a:pPr lvl="0" indent="0" marL="0">
              <a:buNone/>
            </a:pPr>
            <a:r>
              <a:rPr b="1"/>
              <a:t>Encryption:</a:t>
            </a:r>
            <a:r>
              <a:rPr/>
              <a:t> - AES-256 encryption at rest for all database data - TLS 1.3 encryption in transit for all network communication - Encrypted backups stored in separate geographic region - Secure key management via cloud provider KMS</a:t>
            </a:r>
          </a:p>
          <a:p>
            <a:pPr lvl="0" indent="0" marL="0">
              <a:buNone/>
            </a:pPr>
            <a:r>
              <a:rPr b="1"/>
              <a:t>Access Control:</a:t>
            </a:r>
            <a:r>
              <a:rPr/>
              <a:t> - Role-based access control (RBAC) with granular permissions - JWT token-based authentication - Password complexity requirements (12+ chars, mixed case, numbers, symbols) - Account lockout after 5 failed login attempts - Session timeout after 30 minutes of inactivity - Two-factor authentication (planned)</a:t>
            </a:r>
          </a:p>
          <a:p>
            <a:pPr lvl="0" indent="0" marL="0">
              <a:buNone/>
            </a:pPr>
            <a:r>
              <a:rPr b="1"/>
              <a:t>Audit &amp; Monitoring:</a:t>
            </a:r>
            <a:r>
              <a:rPr/>
              <a:t> - Complete audit log of all data access - Who accessed what patient record when - All data modifications tracked - Real-time security monitoring - Automated alerts for suspicious activity - Quarterly audit log reviews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HIPAA Compliance</a:t>
            </a:r>
          </a:p>
          <a:p>
            <a:pPr lvl="0" indent="0" marL="0">
              <a:buNone/>
            </a:pPr>
            <a:r>
              <a:rPr b="1"/>
              <a:t>Administrative Safeguards:</a:t>
            </a:r>
            <a:r>
              <a:rPr/>
              <a:t> - Designated Security Officer - Workforce security training - Access authorization processes - Security incident procedures - Business Associate Agreements (BAA) with all vendors</a:t>
            </a:r>
          </a:p>
          <a:p>
            <a:pPr lvl="0" indent="0" marL="0">
              <a:buNone/>
            </a:pPr>
            <a:r>
              <a:rPr b="1"/>
              <a:t>Physical Safeguards:</a:t>
            </a:r>
            <a:r>
              <a:rPr/>
              <a:t> - Cloud hosting in SOC 2 certified data centers - Physical access controls - Workstation security policies - Device and media controls</a:t>
            </a:r>
          </a:p>
          <a:p>
            <a:pPr lvl="0" indent="0" marL="0">
              <a:buNone/>
            </a:pPr>
            <a:r>
              <a:rPr b="1"/>
              <a:t>Technical Safeguards:</a:t>
            </a:r>
            <a:r>
              <a:rPr/>
              <a:t> - Unique user identification - Automatic logoff - Encryption and decryption - Audit controls - Integrity controls - Transmission security</a:t>
            </a:r>
          </a:p>
          <a:p>
            <a:pPr lvl="0" indent="0" marL="0">
              <a:buNone/>
            </a:pPr>
            <a:r>
              <a:rPr b="1"/>
              <a:t>HITECH Act Compliance:</a:t>
            </a:r>
            <a:r>
              <a:rPr/>
              <a:t> - Breach notification procedures (&lt; 60 days) - Breach risk assessment framework - Patient access to their data (planned patient portal) - Accounting of disclosures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Compliance &amp; Certifications</a:t>
            </a:r>
          </a:p>
          <a:p>
            <a:pPr lvl="0" indent="0" marL="0">
              <a:buNone/>
            </a:pPr>
            <a:r>
              <a:rPr b="1"/>
              <a:t>Current:</a:t>
            </a:r>
            <a:r>
              <a:rPr/>
              <a:t> - HIPAA compliance ready - HITECH Act alignment - GDPR ready (for international expansion) - Payment Card Industry Data Security Standard (PCI-DSS) for payment processing</a:t>
            </a:r>
          </a:p>
          <a:p>
            <a:pPr lvl="0" indent="0" marL="0">
              <a:buNone/>
            </a:pPr>
            <a:r>
              <a:rPr b="1"/>
              <a:t>Planned (Months 12-18):</a:t>
            </a:r>
            <a:r>
              <a:rPr/>
              <a:t> - SOC 2 Type II certification - HITRUST CSF certification - ONC Health IT certification (if pursuing Meaningful Use)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Business Continuity</a:t>
            </a:r>
          </a:p>
          <a:p>
            <a:pPr lvl="0" indent="0" marL="0">
              <a:buNone/>
            </a:pPr>
            <a:r>
              <a:rPr b="1"/>
              <a:t>Availability:</a:t>
            </a:r>
            <a:r>
              <a:rPr/>
              <a:t> - 99.9% uptime SLA (&lt; 9 hours downtime per year) - Multi-zone deployment for redundancy - Auto-scaling to handle load spikes - 24/7 monitoring and alerting</a:t>
            </a:r>
          </a:p>
          <a:p>
            <a:pPr lvl="0" indent="0" marL="0">
              <a:buNone/>
            </a:pPr>
            <a:r>
              <a:rPr b="1"/>
              <a:t>Backup &amp; Recovery:</a:t>
            </a:r>
            <a:r>
              <a:rPr/>
              <a:t> - Automated backups every 6 hours - 30-day backup retention - Point-in-time recovery capability - Geographic backup replication - Tested recovery procedures</a:t>
            </a:r>
          </a:p>
          <a:p>
            <a:pPr lvl="0" indent="0" marL="0">
              <a:buNone/>
            </a:pPr>
            <a:r>
              <a:rPr b="1"/>
              <a:t>Disaster Recovery:</a:t>
            </a:r>
            <a:r>
              <a:rPr/>
              <a:t> - Recovery Time Objective (RTO): 4 hours - Recovery Point Objective (RPO): 1 hour - Documented disaster recovery plan - Annual DR testing - Failover capabilities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Vendor Security</a:t>
            </a:r>
          </a:p>
          <a:p>
            <a:pPr lvl="0" indent="0" marL="0">
              <a:buNone/>
            </a:pPr>
            <a:r>
              <a:rPr b="1"/>
              <a:t>Cloud Infrastructure:</a:t>
            </a:r>
            <a:r>
              <a:rPr/>
              <a:t> - Hosted on AWS/Azure/GCP (SOC 2, ISO 27001 certified) - HIPAA-compliant cloud services - Dedicated Virtual Private Cloud (VPC) - Network isolation and firewalls</a:t>
            </a:r>
          </a:p>
          <a:p>
            <a:pPr lvl="0" indent="0" marL="0">
              <a:buNone/>
            </a:pPr>
            <a:r>
              <a:rPr b="1"/>
              <a:t>Third-Party Vendors:</a:t>
            </a:r>
            <a:r>
              <a:rPr/>
              <a:t> - All vendors sign Business Associate Agreements - Regular security assessments - Limited vendor access - Vendor security questionnaires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9. Case for Change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Implement Now?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External Drivers</a:t>
            </a:r>
          </a:p>
          <a:p>
            <a:pPr lvl="0" indent="0" marL="0">
              <a:buNone/>
            </a:pPr>
            <a:r>
              <a:rPr b="1"/>
              <a:t>1. Regulatory &amp; Compliance:</a:t>
            </a:r>
            <a:r>
              <a:rPr/>
              <a:t> - Continued push for EHR adoption and interoperability - Value-based care reimbursement models requiring data - Price transparency requirements - Quality reporting mandates (MIPS, MACRA)</a:t>
            </a:r>
          </a:p>
          <a:p>
            <a:pPr lvl="0" indent="0" marL="0">
              <a:buNone/>
            </a:pPr>
            <a:r>
              <a:rPr b="1"/>
              <a:t>2. Patient Expectations:</a:t>
            </a:r>
            <a:r>
              <a:rPr/>
              <a:t> - Consumerization of healthcare - Patients expect Amazon-level experience - Online scheduling, wait times, communication - Patient satisfaction tied to reimbursement (HCAHPS)</a:t>
            </a:r>
          </a:p>
          <a:p>
            <a:pPr lvl="0" indent="0" marL="0">
              <a:buNone/>
            </a:pPr>
            <a:r>
              <a:rPr b="1"/>
              <a:t>3. Competitive Pressure:</a:t>
            </a:r>
            <a:r>
              <a:rPr/>
              <a:t> - Neighboring hospitals investing in technology - Patient choice based on experience, not just outcomes - Market share erosion to more tech-forward competitors</a:t>
            </a:r>
          </a:p>
          <a:p>
            <a:pPr lvl="0" indent="0" marL="0">
              <a:buNone/>
            </a:pPr>
            <a:r>
              <a:rPr b="1"/>
              <a:t>4. Financial Pressure:</a:t>
            </a:r>
            <a:r>
              <a:rPr/>
              <a:t> - Reimbursement declining or flat - Operating margins compressed (3-5% nationally) - Need to do more with less - Administrative costs must decrease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Internal Drivers</a:t>
            </a:r>
          </a:p>
          <a:p>
            <a:pPr lvl="0" indent="0" marL="0">
              <a:buNone/>
            </a:pPr>
            <a:r>
              <a:rPr b="1"/>
              <a:t>1. Operational Inefficiency:</a:t>
            </a:r>
            <a:r>
              <a:rPr/>
              <a:t> - Current systems fragmented and disconnected - Manual processes consuming staff time - Patient flow bottlenecks - Revenue leakage from billing errors</a:t>
            </a:r>
          </a:p>
          <a:p>
            <a:pPr lvl="0" indent="0" marL="0">
              <a:buNone/>
            </a:pPr>
            <a:r>
              <a:rPr b="1"/>
              <a:t>2. Staff Burnout:</a:t>
            </a:r>
            <a:r>
              <a:rPr/>
              <a:t> - Nurses and doctors spending excessive time on paperwork - Frustration with clunky systems - Turnover costs ($50K-$100K per nurse) - Difficulty recruiting tech-savvy staff</a:t>
            </a:r>
          </a:p>
          <a:p>
            <a:pPr lvl="0" indent="0" marL="0">
              <a:buNone/>
            </a:pPr>
            <a:r>
              <a:rPr b="1"/>
              <a:t>3. Patient Safety Risks:</a:t>
            </a:r>
            <a:r>
              <a:rPr/>
              <a:t> - Critical results delayed - Information gaps during care transitions - Medication errors from manual processes - Compliance violations risk</a:t>
            </a:r>
          </a:p>
          <a:p>
            <a:pPr lvl="0" indent="0" marL="0">
              <a:buNone/>
            </a:pPr>
            <a:r>
              <a:rPr b="1"/>
              <a:t>4. Growth Constraints:</a:t>
            </a:r>
            <a:r>
              <a:rPr/>
              <a:t> - Can’t handle more volume with current systems - Lack of data for strategic decisions - Unable to participate in value-based contracts - Limited scalability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Cost of Inaction</a:t>
            </a:r>
          </a:p>
          <a:p>
            <a:pPr lvl="0" indent="0" marL="0">
              <a:buNone/>
            </a:pPr>
            <a:r>
              <a:rPr b="1"/>
              <a:t>If You Don’t Implement:</a:t>
            </a:r>
          </a:p>
          <a:p>
            <a:pPr lvl="0" indent="0" marL="0">
              <a:buNone/>
            </a:pPr>
            <a:r>
              <a:rPr b="1"/>
              <a:t>Year 1:</a:t>
            </a:r>
            <a:r>
              <a:rPr/>
              <a:t> - Continue losing $300K in revenue leakage - Forfeit $250K in additional patient volume - Miss $510K in staff productivity gains - </a:t>
            </a:r>
            <a:r>
              <a:rPr b="1"/>
              <a:t>Total: $1.06M opportunity cost</a:t>
            </a:r>
          </a:p>
          <a:p>
            <a:pPr lvl="0" indent="0" marL="0">
              <a:buNone/>
            </a:pPr>
            <a:r>
              <a:rPr b="1"/>
              <a:t>Year 2:</a:t>
            </a:r>
            <a:r>
              <a:rPr/>
              <a:t> - Same losses, but competitors pull ahead - Patient satisfaction declines further - Staff turnover increases - Market share erosion begins</a:t>
            </a:r>
          </a:p>
          <a:p>
            <a:pPr lvl="0" indent="0" marL="0">
              <a:buNone/>
            </a:pPr>
            <a:r>
              <a:rPr b="1"/>
              <a:t>Year 3:</a:t>
            </a:r>
            <a:r>
              <a:rPr/>
              <a:t> - Legacy systems reach end-of-life - Forced migration at worst time - Crisis implementation at higher cost - Potential regulatory penalties</a:t>
            </a:r>
          </a:p>
          <a:p>
            <a:pPr lvl="0" indent="0" marL="0">
              <a:buNone/>
            </a:pPr>
            <a:r>
              <a:rPr b="1"/>
              <a:t>5-Year Impact:</a:t>
            </a:r>
            <a:r>
              <a:rPr/>
              <a:t> - $5M+ in lost opportunity - Competitive disadvantage cemented - Staff morale and retention issues - Difficulty participating in new payment models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Why This Solution?</a:t>
            </a:r>
          </a:p>
          <a:p>
            <a:pPr lvl="0" indent="0" marL="0">
              <a:buNone/>
            </a:pPr>
            <a:r>
              <a:rPr b="1"/>
              <a:t>vs. Building In-House:</a:t>
            </a:r>
            <a:r>
              <a:rPr/>
              <a:t> - Cost: $150K/year vs. $500K+ to build and maintain - Time: 30 days vs. 12-18 months development - Risk: Proven solution vs. untested custom build - Expertise: Healthcare-specific workflows built in</a:t>
            </a:r>
          </a:p>
          <a:p>
            <a:pPr lvl="0" indent="0" marL="0">
              <a:buNone/>
            </a:pPr>
            <a:r>
              <a:rPr b="1"/>
              <a:t>vs. Legacy Systems (Epic, Cerner):</a:t>
            </a:r>
            <a:r>
              <a:rPr/>
              <a:t> - Cost: $150K vs. $5M+ - Implementation: 30 days vs. 12-18 months - Complexity: Intuitive UI vs. steep learning curve - Flexibility: Rapid updates vs. slow release cycles</a:t>
            </a:r>
          </a:p>
          <a:p>
            <a:pPr lvl="0" indent="0" marL="0">
              <a:buNone/>
            </a:pPr>
            <a:r>
              <a:rPr b="1"/>
              <a:t>vs. Point Solutions:</a:t>
            </a:r>
            <a:r>
              <a:rPr/>
              <a:t> - Integration: Single platform vs. multiple systems to integrate - Data: Unified database vs. data silos - Cost: One vendor vs. multiple contracts - Support: Single point of contact vs. vendor finger-pointing</a:t>
            </a:r>
          </a:p>
          <a:p>
            <a:pPr lvl="0" indent="0" marL="0">
              <a:buNone/>
            </a:pPr>
            <a:r>
              <a:rPr b="1"/>
              <a:t>vs. Delaying:</a:t>
            </a:r>
            <a:r>
              <a:rPr/>
              <a:t> - Opportunity cost mounting daily - Competitive gap widening - Staff frustration increasing - Patient experience deteriorating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10. Next Steps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Path to Implementation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Phase 1: Evaluation (Weeks 1-2)</a:t>
            </a:r>
          </a:p>
          <a:p>
            <a:pPr lvl="0" indent="0" marL="0">
              <a:buNone/>
            </a:pPr>
            <a:r>
              <a:rPr b="1"/>
              <a:t>Week 1:</a:t>
            </a:r>
            <a:r>
              <a:rPr/>
              <a:t> - [ ] Executive team presentation (complete) - [ ] Live system demonstration for key stakeholders - [ ] Q&amp;A session with clinical, IT, and finance leaders - [ ] Reference calls with current customers (if available)</a:t>
            </a:r>
          </a:p>
          <a:p>
            <a:pPr lvl="0" indent="0" marL="0">
              <a:buNone/>
            </a:pPr>
            <a:r>
              <a:rPr b="1"/>
              <a:t>Week 2:</a:t>
            </a:r>
            <a:r>
              <a:rPr/>
              <a:t> - [ ] Technical evaluation by IT team - [ ] Security and compliance review - [ ] Workflow validation with department heads - [ ] Financial model review with CFO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Phase 2: Decision (Weeks 3-4)</a:t>
            </a:r>
          </a:p>
          <a:p>
            <a:pPr lvl="0" indent="0" marL="0">
              <a:buNone/>
            </a:pPr>
            <a:r>
              <a:rPr b="1"/>
              <a:t>Week 3:</a:t>
            </a:r>
            <a:r>
              <a:rPr/>
              <a:t> - [ ] Vendor contract review by legal - [ ] Final pricing and ROI analysis - [ ] Implementation plan review - [ ] Board presentation (if required)</a:t>
            </a:r>
          </a:p>
          <a:p>
            <a:pPr lvl="0" indent="0" marL="0">
              <a:buNone/>
            </a:pPr>
            <a:r>
              <a:rPr b="1"/>
              <a:t>Week 4:</a:t>
            </a:r>
            <a:r>
              <a:rPr/>
              <a:t> - [ ] Final decision and approval - [ ] Contract signature - [ ] Implementation team identified - [ ] Kickoff scheduled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Phase 3: Implementation (Weeks 5-8)</a:t>
            </a:r>
          </a:p>
          <a:p>
            <a:pPr lvl="0" indent="0" marL="0">
              <a:buNone/>
            </a:pPr>
            <a:r>
              <a:rPr b="1"/>
              <a:t>Follow 30-day implementation plan (See Section 7)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Phase 4: Optimization (Month 3+)</a:t>
            </a:r>
          </a:p>
          <a:p>
            <a:pPr lvl="0" indent="0" marL="0">
              <a:buNone/>
            </a:pPr>
            <a:r>
              <a:rPr b="1"/>
              <a:t>Ongoing:</a:t>
            </a:r>
            <a:r>
              <a:rPr/>
              <a:t> - Measure success metrics - Continuous improvement - User feedback incorporation - Quarterly business reviews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Immediate Action Items</a:t>
            </a:r>
          </a:p>
          <a:p>
            <a:pPr lvl="0" indent="0" marL="0">
              <a:buNone/>
            </a:pPr>
            <a:r>
              <a:rPr b="1"/>
              <a:t>For This Week:</a:t>
            </a:r>
          </a:p>
          <a:p>
            <a:pPr lvl="0" indent="-342900" marL="342900">
              <a:buAutoNum type="arabicPeriod"/>
            </a:pPr>
            <a:r>
              <a:rPr b="1"/>
              <a:t>Schedule Live Demo</a:t>
            </a:r>
          </a:p>
          <a:p>
            <a:pPr lvl="1"/>
            <a:r>
              <a:rPr/>
              <a:t>Invite: CIO, COO, CFO, CMIO, Department Heads</a:t>
            </a:r>
          </a:p>
          <a:p>
            <a:pPr lvl="1"/>
            <a:r>
              <a:rPr/>
              <a:t>Duration: 90 minutes</a:t>
            </a:r>
          </a:p>
          <a:p>
            <a:pPr lvl="1"/>
            <a:r>
              <a:rPr/>
              <a:t>Focus: Your specific workflows</a:t>
            </a:r>
          </a:p>
          <a:p>
            <a:pPr lvl="0" indent="-342900" marL="342900">
              <a:buAutoNum type="arabicPeriod"/>
            </a:pPr>
            <a:r>
              <a:rPr b="1"/>
              <a:t>Identify Implementation Team</a:t>
            </a:r>
          </a:p>
          <a:p>
            <a:pPr lvl="1"/>
            <a:r>
              <a:rPr/>
              <a:t>Project Executive Sponsor</a:t>
            </a:r>
          </a:p>
          <a:p>
            <a:pPr lvl="1"/>
            <a:r>
              <a:rPr/>
              <a:t>Project Manager</a:t>
            </a:r>
          </a:p>
          <a:p>
            <a:pPr lvl="1"/>
            <a:r>
              <a:rPr/>
              <a:t>IT Lead</a:t>
            </a:r>
          </a:p>
          <a:p>
            <a:pPr lvl="1"/>
            <a:r>
              <a:rPr/>
              <a:t>Clinical Champions (1 per department)</a:t>
            </a:r>
          </a:p>
          <a:p>
            <a:pPr lvl="1"/>
            <a:r>
              <a:rPr/>
              <a:t>Training Coordinator</a:t>
            </a:r>
          </a:p>
          <a:p>
            <a:pPr lvl="0" indent="-342900" marL="342900">
              <a:buAutoNum type="arabicPeriod"/>
            </a:pPr>
            <a:r>
              <a:rPr b="1"/>
              <a:t>Document Current State</a:t>
            </a:r>
          </a:p>
          <a:p>
            <a:pPr lvl="1"/>
            <a:r>
              <a:rPr/>
              <a:t>Patient volume statistics</a:t>
            </a:r>
          </a:p>
          <a:p>
            <a:pPr lvl="1"/>
            <a:r>
              <a:rPr/>
              <a:t>Current wait time metrics</a:t>
            </a:r>
          </a:p>
          <a:p>
            <a:pPr lvl="1"/>
            <a:r>
              <a:rPr/>
              <a:t>Staff time studies (if available)</a:t>
            </a:r>
          </a:p>
          <a:p>
            <a:pPr lvl="1"/>
            <a:r>
              <a:rPr/>
              <a:t>Billing error rates</a:t>
            </a:r>
          </a:p>
          <a:p>
            <a:pPr lvl="1"/>
            <a:r>
              <a:rPr/>
              <a:t>Current system costs</a:t>
            </a:r>
          </a:p>
          <a:p>
            <a:pPr lvl="0" indent="-342900" marL="342900">
              <a:buAutoNum type="arabicPeriod"/>
            </a:pPr>
            <a:r>
              <a:rPr b="1"/>
              <a:t>Review Materials</a:t>
            </a:r>
          </a:p>
          <a:p>
            <a:pPr lvl="1"/>
            <a:r>
              <a:rPr/>
              <a:t>Technical architecture documentation</a:t>
            </a:r>
          </a:p>
          <a:p>
            <a:pPr lvl="1"/>
            <a:r>
              <a:rPr/>
              <a:t>Security and compliance whitepaper</a:t>
            </a:r>
          </a:p>
          <a:p>
            <a:pPr lvl="1"/>
            <a:r>
              <a:rPr/>
              <a:t>Customer references</a:t>
            </a:r>
          </a:p>
          <a:p>
            <a:pPr lvl="1"/>
            <a:r>
              <a:rPr/>
              <a:t>Contract terms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Contact Information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Let’s Transform Your Hospital Together</a:t>
            </a:r>
          </a:p>
          <a:p>
            <a:pPr lvl="0" indent="0" marL="0">
              <a:buNone/>
            </a:pPr>
            <a:r>
              <a:rPr b="1"/>
              <a:t>Vendor Contact:</a:t>
            </a:r>
            <a:r>
              <a:rPr/>
              <a:t> - Email: [sales@company.com] - Phone: [phone-number] - Website: [www.company.com]</a:t>
            </a:r>
          </a:p>
          <a:p>
            <a:pPr lvl="0" indent="0" marL="0">
              <a:buNone/>
            </a:pPr>
            <a:r>
              <a:rPr b="1"/>
              <a:t>Schedule a Demo:</a:t>
            </a:r>
            <a:r>
              <a:rPr/>
              <a:t> - [calendly.com/demo-link]</a:t>
            </a:r>
          </a:p>
          <a:p>
            <a:pPr lvl="0" indent="0" marL="0">
              <a:buNone/>
            </a:pPr>
            <a:r>
              <a:rPr b="1"/>
              <a:t>Resources:</a:t>
            </a:r>
            <a:r>
              <a:rPr/>
              <a:t> - Live demo environment: [demo.company.com] - Technical documentation: [docs.company.com] - Security whitepaper: [Download link] - Customer case studies: [Link]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Appendix: Frequently Asked 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Q: How is this different from Epic or Cerner?</a:t>
            </a:r>
          </a:p>
          <a:p>
            <a:pPr lvl="0" indent="0" marL="0">
              <a:buNone/>
            </a:pPr>
            <a:r>
              <a:rPr b="1"/>
              <a:t>A:</a:t>
            </a:r>
            <a:r>
              <a:rPr/>
              <a:t> We focus on mid-sized hospitals (50-500 beds) that need comprehensive functionality without the complexity and cost of enterprise systems. Our advantages:</a:t>
            </a:r>
          </a:p>
          <a:p>
            <a:pPr lvl="0"/>
            <a:r>
              <a:rPr b="1"/>
              <a:t>Cost:</a:t>
            </a:r>
            <a:r>
              <a:rPr/>
              <a:t> $150K-$500K vs. $5M+</a:t>
            </a:r>
          </a:p>
          <a:p>
            <a:pPr lvl="0"/>
            <a:r>
              <a:rPr b="1"/>
              <a:t>Implementation:</a:t>
            </a:r>
            <a:r>
              <a:rPr/>
              <a:t> 30 days vs. 12-18 months</a:t>
            </a:r>
          </a:p>
          <a:p>
            <a:pPr lvl="0"/>
            <a:r>
              <a:rPr b="1"/>
              <a:t>Usability:</a:t>
            </a:r>
            <a:r>
              <a:rPr/>
              <a:t> Modern, intuitive interface vs. complex legacy UI</a:t>
            </a:r>
          </a:p>
          <a:p>
            <a:pPr lvl="0"/>
            <a:r>
              <a:rPr b="1"/>
              <a:t>Flexibility:</a:t>
            </a:r>
            <a:r>
              <a:rPr/>
              <a:t> Rapid feature updates vs. long release cycles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Q: Can we implement in phases?</a:t>
            </a:r>
          </a:p>
          <a:p>
            <a:pPr lvl="0" indent="0" marL="0">
              <a:buNone/>
            </a:pPr>
            <a:r>
              <a:rPr b="1"/>
              <a:t>A:</a:t>
            </a:r>
            <a:r>
              <a:rPr/>
              <a:t> Yes, though we recommend full implementation for maximum benefit. Typical phasing: - Phase 1: Registration, EMR, Queue Management - Phase 2: Lab, Pharmacy, Billing - Phase 3: Analytics, Advanced Features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Q: What happens to our existing data?</a:t>
            </a:r>
          </a:p>
          <a:p>
            <a:pPr lvl="0" indent="0" marL="0">
              <a:buNone/>
            </a:pPr>
            <a:r>
              <a:rPr b="1"/>
              <a:t>A:</a:t>
            </a:r>
            <a:r>
              <a:rPr/>
              <a:t> We perform a one-time migration of your current patient, appointment, and billing data. Process: 1. Extract data from current systems 2. Transform to our data model 3. Validate accuracy 4. Import to new system 5. Verification and testing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Q: Do you integrate with our current lab/pharmacy/billing systems?</a:t>
            </a:r>
          </a:p>
          <a:p>
            <a:pPr lvl="0" indent="0" marL="0">
              <a:buNone/>
            </a:pPr>
            <a:r>
              <a:rPr b="1"/>
              <a:t>A:</a:t>
            </a:r>
            <a:r>
              <a:rPr/>
              <a:t> Our platform includes built-in lab, pharmacy, and billing modules. However, we can integrate with existing systems via HL7, FHIR, or custom APIs if you prefer to keep certain systems.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Q: What if we want to switch to Epic in the future?</a:t>
            </a:r>
          </a:p>
          <a:p>
            <a:pPr lvl="0" indent="0" marL="0">
              <a:buNone/>
            </a:pPr>
            <a:r>
              <a:rPr b="1"/>
              <a:t>A:</a:t>
            </a:r>
            <a:r>
              <a:rPr/>
              <a:t> You own your data. We provide data export in standard formats (CSV, HL7, FHIR) at any time. There are no lock-in contracts—we earn your business through value, not contracts.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Q: How do you handle system downtime?</a:t>
            </a:r>
          </a:p>
          <a:p>
            <a:pPr lvl="0" indent="0" marL="0">
              <a:buNone/>
            </a:pPr>
            <a:r>
              <a:rPr b="1"/>
              <a:t>A:</a:t>
            </a:r>
            <a:r>
              <a:rPr/>
              <a:t> - 99.9% uptime SLA (&lt; 9 hours/year downtime) - Scheduled maintenance during off-hours (2-4 AM) - Advance notice for all planned downtime - Redundant systems for automatic failover - Offline mode for critical workflows (planned)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Q: What about staff training?</a:t>
            </a:r>
          </a:p>
          <a:p>
            <a:pPr lvl="0" indent="0" marL="0">
              <a:buNone/>
            </a:pPr>
            <a:r>
              <a:rPr b="1"/>
              <a:t>A:</a:t>
            </a:r>
            <a:r>
              <a:rPr/>
              <a:t> Comprehensive training included: - 2-day admin training - Role-specific training for all staff (3-4 hours each) - Training materials and videos - Super-user train-the-trainer - Ongoing refresher sessions - 24/7 support during go-live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Q: Can we customize workflows?</a:t>
            </a:r>
          </a:p>
          <a:p>
            <a:pPr lvl="0" indent="0" marL="0">
              <a:buNone/>
            </a:pPr>
            <a:r>
              <a:rPr b="1"/>
              <a:t>A:</a:t>
            </a:r>
            <a:r>
              <a:rPr/>
              <a:t> Yes, significant customization available: - Configurable workflows and queues - Custom forms and fields - Flexible notification rules - Custom reports and dashboards - API for advanced integrations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Q: What’s your customer support model?</a:t>
            </a:r>
          </a:p>
          <a:p>
            <a:pPr lvl="0" indent="0" marL="0">
              <a:buNone/>
            </a:pPr>
            <a:r>
              <a:rPr b="1"/>
              <a:t>A:</a:t>
            </a:r>
            <a:r>
              <a:rPr/>
              <a:t> - 24/7 phone and email support - Dedicated account manager - Average response time: &lt; 2 hours - Quarterly business reviews - User community and knowledge base - Regular product training webinars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Q: How often do you release updates?</a:t>
            </a:r>
          </a:p>
          <a:p>
            <a:pPr lvl="0" indent="0" marL="0">
              <a:buNone/>
            </a:pPr>
            <a:r>
              <a:rPr b="1"/>
              <a:t>A:</a:t>
            </a:r>
            <a:r>
              <a:rPr/>
              <a:t> - Major features: Quarterly - Minor enhancements: Monthly - Bug fixes: As needed (hot fixes within 24-48 hours) - All updates included in subscription - No additional fees for upgrades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Q: Is this compliant with [specific regulation]?</a:t>
            </a:r>
          </a:p>
          <a:p>
            <a:pPr lvl="0" indent="0" marL="0">
              <a:buNone/>
            </a:pPr>
            <a:r>
              <a:rPr b="1"/>
              <a:t>A:</a:t>
            </a:r>
            <a:r>
              <a:rPr/>
              <a:t> We maintain compliance with: - HIPAA (Privacy Rule, Security Rule) - HITECH Act - State privacy laws - PCI-DSS for payments - SOC 2 Type II (in progress)</a:t>
            </a:r>
          </a:p>
          <a:p>
            <a:pPr lvl="0" indent="0" marL="0">
              <a:buNone/>
            </a:pPr>
            <a:r>
              <a:rPr/>
              <a:t>For specific regulatory requirements, we can provide detailed compliance documentation.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Thank you for considering our Hospital Management System. We look forward to partnering with you to transform your hospital operations.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2025-11-14T12:07:52Z</dcterms:created>
  <dcterms:modified xsi:type="dcterms:W3CDTF">2025-11-14T12:07:52Z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