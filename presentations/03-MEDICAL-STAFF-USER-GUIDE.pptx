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 Management System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Staff User Guide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Your Complete Guide to the New Hospital Management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Welcome &amp; System Benefits</a:t>
            </a:r>
          </a:p>
          <a:p>
            <a:pPr lvl="0" indent="-342900" marL="342900">
              <a:buAutoNum type="arabicPeriod"/>
            </a:pPr>
            <a:r>
              <a:rPr/>
              <a:t>Getting Started</a:t>
            </a:r>
          </a:p>
          <a:p>
            <a:pPr lvl="0" indent="-342900" marL="342900">
              <a:buAutoNum type="arabicPeriod"/>
            </a:pPr>
            <a:r>
              <a:rPr/>
              <a:t>For Doctors: Consultation Workflow</a:t>
            </a:r>
          </a:p>
          <a:p>
            <a:pPr lvl="0" indent="-342900" marL="342900">
              <a:buAutoNum type="arabicPeriod"/>
            </a:pPr>
            <a:r>
              <a:rPr/>
              <a:t>For Nurses: Patient Care Workflow</a:t>
            </a:r>
          </a:p>
          <a:p>
            <a:pPr lvl="0" indent="-342900" marL="342900">
              <a:buAutoNum type="arabicPeriod"/>
            </a:pPr>
            <a:r>
              <a:rPr/>
              <a:t>For Receptionists: Registration &amp; Check-In</a:t>
            </a:r>
          </a:p>
          <a:p>
            <a:pPr lvl="0" indent="-342900" marL="342900">
              <a:buAutoNum type="arabicPeriod"/>
            </a:pPr>
            <a:r>
              <a:rPr/>
              <a:t>For Lab Technicians: Laboratory Operations</a:t>
            </a:r>
          </a:p>
          <a:p>
            <a:pPr lvl="0" indent="-342900" marL="342900">
              <a:buAutoNum type="arabicPeriod"/>
            </a:pPr>
            <a:r>
              <a:rPr/>
              <a:t>For Pharmacists: Medication Dispensing</a:t>
            </a:r>
          </a:p>
          <a:p>
            <a:pPr lvl="0" indent="-342900" marL="342900">
              <a:buAutoNum type="arabicPeriod"/>
            </a:pPr>
            <a:r>
              <a:rPr/>
              <a:t>For Billing Staff: Financial Operations</a:t>
            </a:r>
          </a:p>
          <a:p>
            <a:pPr lvl="0" indent="-342900" marL="342900">
              <a:buAutoNum type="arabicPeriod"/>
            </a:pPr>
            <a:r>
              <a:rPr/>
              <a:t>Common Tasks &amp; Quick Reference</a:t>
            </a:r>
          </a:p>
          <a:p>
            <a:pPr lvl="0" indent="-342900" marL="342900">
              <a:buAutoNum type="arabicPeriod"/>
            </a:pPr>
            <a:r>
              <a:rPr/>
              <a:t>Tips &amp; Best Practices</a:t>
            </a:r>
          </a:p>
          <a:p>
            <a:pPr lvl="0" indent="-342900" marL="342900">
              <a:buAutoNum type="arabicPeriod"/>
            </a:pPr>
            <a:r>
              <a:rPr/>
              <a:t>Getting Help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Welcome &amp; System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Changing?</a:t>
            </a:r>
          </a:p>
          <a:p>
            <a:pPr lvl="0" indent="0" marL="0">
              <a:buNone/>
            </a:pPr>
            <a:r>
              <a:rPr/>
              <a:t>We’re implementing a new Hospital Management System to improve patient care and make your work easier. This system replaces multiple disconnected tools with one integrated platform.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What’s in It for You?</a:t>
            </a:r>
          </a:p>
          <a:p>
            <a:pPr lvl="0" indent="0" marL="0">
              <a:buNone/>
            </a:pPr>
            <a:r>
              <a:rPr b="1"/>
              <a:t>For Doctors:</a:t>
            </a:r>
            <a:r>
              <a:rPr/>
              <a:t> ✅ </a:t>
            </a:r>
            <a:r>
              <a:rPr b="1"/>
              <a:t>Save 1-2 hours per day</a:t>
            </a:r>
            <a:r>
              <a:rPr/>
              <a:t> - no more hunting for patient charts or calling for results ✅ </a:t>
            </a:r>
            <a:r>
              <a:rPr b="1"/>
              <a:t>Instant critical alerts</a:t>
            </a:r>
            <a:r>
              <a:rPr/>
              <a:t> - notified within seconds when critical lab values detected ✅ </a:t>
            </a:r>
            <a:r>
              <a:rPr b="1"/>
              <a:t>Complete patient history</a:t>
            </a:r>
            <a:r>
              <a:rPr/>
              <a:t> at your fingertips during consultations ✅ </a:t>
            </a:r>
            <a:r>
              <a:rPr b="1"/>
              <a:t>Electronic prescriptions</a:t>
            </a:r>
            <a:r>
              <a:rPr/>
              <a:t> - no more handwriting, instant delivery to pharmacy ✅ </a:t>
            </a:r>
            <a:r>
              <a:rPr b="1"/>
              <a:t>Real-time queue</a:t>
            </a:r>
            <a:r>
              <a:rPr/>
              <a:t> - see which patients are waiting and their priority level</a:t>
            </a:r>
          </a:p>
          <a:p>
            <a:pPr lvl="0" indent="0" marL="0">
              <a:buNone/>
            </a:pPr>
            <a:r>
              <a:rPr b="1"/>
              <a:t>For Nurses:</a:t>
            </a:r>
            <a:r>
              <a:rPr/>
              <a:t> ✅ </a:t>
            </a:r>
            <a:r>
              <a:rPr b="1"/>
              <a:t>50% less time on phone</a:t>
            </a:r>
            <a:r>
              <a:rPr/>
              <a:t> coordinating care ✅ </a:t>
            </a:r>
            <a:r>
              <a:rPr b="1"/>
              <a:t>Real-time patient status</a:t>
            </a:r>
            <a:r>
              <a:rPr/>
              <a:t> - know exactly where each patient is in their care journey ✅ </a:t>
            </a:r>
            <a:r>
              <a:rPr b="1"/>
              <a:t>Instant notifications</a:t>
            </a:r>
            <a:r>
              <a:rPr/>
              <a:t> when tasks assigned to you ✅ </a:t>
            </a:r>
            <a:r>
              <a:rPr b="1"/>
              <a:t>Complete vitals history</a:t>
            </a:r>
            <a:r>
              <a:rPr/>
              <a:t> easily accessible ✅ </a:t>
            </a:r>
            <a:r>
              <a:rPr b="1"/>
              <a:t>Better team communication</a:t>
            </a:r>
            <a:r>
              <a:rPr/>
              <a:t> through the system</a:t>
            </a:r>
          </a:p>
          <a:p>
            <a:pPr lvl="0" indent="0" marL="0">
              <a:buNone/>
            </a:pPr>
            <a:r>
              <a:rPr b="1"/>
              <a:t>For Receptionists:</a:t>
            </a:r>
            <a:r>
              <a:rPr/>
              <a:t> ✅ </a:t>
            </a:r>
            <a:r>
              <a:rPr b="1"/>
              <a:t>Faster patient registration</a:t>
            </a:r>
            <a:r>
              <a:rPr/>
              <a:t> - auto-generated patient IDs, templates for common data ✅ </a:t>
            </a:r>
            <a:r>
              <a:rPr b="1"/>
              <a:t>Automatic queue placement</a:t>
            </a:r>
            <a:r>
              <a:rPr/>
              <a:t> - no manual tracking needed ✅ </a:t>
            </a:r>
            <a:r>
              <a:rPr b="1"/>
              <a:t>Real-time visibility</a:t>
            </a:r>
            <a:r>
              <a:rPr/>
              <a:t> into clinic flow ✅ </a:t>
            </a:r>
            <a:r>
              <a:rPr b="1"/>
              <a:t>Less paperwork</a:t>
            </a:r>
            <a:r>
              <a:rPr/>
              <a:t> - digital forms instead of paper</a:t>
            </a:r>
          </a:p>
          <a:p>
            <a:pPr lvl="0" indent="0" marL="0">
              <a:buNone/>
            </a:pPr>
            <a:r>
              <a:rPr b="1"/>
              <a:t>For Lab Technicians:</a:t>
            </a:r>
            <a:r>
              <a:rPr/>
              <a:t> ✅ </a:t>
            </a:r>
            <a:r>
              <a:rPr b="1"/>
              <a:t>No more phone tag</a:t>
            </a:r>
            <a:r>
              <a:rPr/>
              <a:t> - results distributed automatically ✅ </a:t>
            </a:r>
            <a:r>
              <a:rPr b="1"/>
              <a:t>Clear work queue</a:t>
            </a:r>
            <a:r>
              <a:rPr/>
              <a:t> - see all pending tests at a glance ✅ </a:t>
            </a:r>
            <a:r>
              <a:rPr b="1"/>
              <a:t>Automatic critical alerts</a:t>
            </a:r>
            <a:r>
              <a:rPr/>
              <a:t> - system notifies doctors, not you ✅ </a:t>
            </a:r>
            <a:r>
              <a:rPr b="1"/>
              <a:t>Quality control tracking</a:t>
            </a:r>
            <a:r>
              <a:rPr/>
              <a:t> built in</a:t>
            </a:r>
          </a:p>
          <a:p>
            <a:pPr lvl="0" indent="0" marL="0">
              <a:buNone/>
            </a:pPr>
            <a:r>
              <a:rPr b="1"/>
              <a:t>For Pharmacists:</a:t>
            </a:r>
            <a:r>
              <a:rPr/>
              <a:t> ✅ </a:t>
            </a:r>
            <a:r>
              <a:rPr b="1"/>
              <a:t>Electronic prescriptions</a:t>
            </a:r>
            <a:r>
              <a:rPr/>
              <a:t> - no more deciphering handwriting ✅ </a:t>
            </a:r>
            <a:r>
              <a:rPr b="1"/>
              <a:t>Automatic inventory tracking</a:t>
            </a:r>
            <a:r>
              <a:rPr/>
              <a:t> - low stock alerts ✅ </a:t>
            </a:r>
            <a:r>
              <a:rPr b="1"/>
              <a:t>Streamlined dispensing</a:t>
            </a:r>
            <a:r>
              <a:rPr/>
              <a:t> - scan, dispense, document in one flow ✅ </a:t>
            </a:r>
            <a:r>
              <a:rPr b="1"/>
              <a:t>Billing auto-triggered</a:t>
            </a:r>
            <a:r>
              <a:rPr/>
              <a:t> - no manual charge entry</a:t>
            </a:r>
          </a:p>
          <a:p>
            <a:pPr lvl="0" indent="0" marL="0">
              <a:buNone/>
            </a:pPr>
            <a:r>
              <a:rPr b="1"/>
              <a:t>For Billing Staff:</a:t>
            </a:r>
            <a:r>
              <a:rPr/>
              <a:t> ✅ </a:t>
            </a:r>
            <a:r>
              <a:rPr b="1"/>
              <a:t>80% less manual entry</a:t>
            </a:r>
            <a:r>
              <a:rPr/>
              <a:t> - charges auto-captured from activities ✅ </a:t>
            </a:r>
            <a:r>
              <a:rPr b="1"/>
              <a:t>Reduced errors</a:t>
            </a:r>
            <a:r>
              <a:rPr/>
              <a:t> - services, medications, tests automatically billed ✅ </a:t>
            </a:r>
            <a:r>
              <a:rPr b="1"/>
              <a:t>Better visibility</a:t>
            </a:r>
            <a:r>
              <a:rPr/>
              <a:t> into outstanding payments ✅ </a:t>
            </a:r>
            <a:r>
              <a:rPr b="1"/>
              <a:t>Faster claims submission</a:t>
            </a:r>
            <a:r>
              <a:rPr/>
              <a:t> - all documentation in one place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Principle</a:t>
            </a:r>
          </a:p>
          <a:p>
            <a:pPr lvl="0" indent="0" marL="0">
              <a:buNone/>
            </a:pPr>
            <a:r>
              <a:rPr b="1"/>
              <a:t>One Patient, One Record, One System</a:t>
            </a:r>
            <a:r>
              <a:rPr/>
              <a:t> - Enter information once, available everywhere - Real-time updates across all departments - Complete audit trail of all activities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Getting Started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the System</a:t>
            </a:r>
          </a:p>
          <a:p>
            <a:pPr lvl="0" indent="0" marL="0">
              <a:buNone/>
            </a:pPr>
            <a:r>
              <a:rPr b="1"/>
              <a:t>Web Access:</a:t>
            </a:r>
            <a:r>
              <a:rPr/>
              <a:t> - URL: [https://your-hospital.management-system.com] - Works on any modern browser: Chrome, Firefox, Safari, Edge - Accessible from hospital computers, tablets, or your phone</a:t>
            </a:r>
          </a:p>
          <a:p>
            <a:pPr lvl="0" indent="0" marL="0">
              <a:buNone/>
            </a:pPr>
            <a:r>
              <a:rPr b="1"/>
              <a:t>Login:</a:t>
            </a:r>
            <a:r>
              <a:rPr/>
              <a:t> 1. Navigate to the system URL 2. Enter your username (typically your employee email) 3. Enter your password 4. Click “Sign In”</a:t>
            </a:r>
          </a:p>
          <a:p>
            <a:pPr lvl="0" indent="0" marL="0">
              <a:buNone/>
            </a:pPr>
            <a:r>
              <a:rPr b="1"/>
              <a:t>First Time Setup:</a:t>
            </a:r>
            <a:r>
              <a:rPr/>
              <a:t> - You’ll receive an email with your temporary password - You’ll be prompted to change your password on first login - Password requirements: 12+ characters, uppercase, lowercase, number, symbol</a:t>
            </a:r>
          </a:p>
          <a:p>
            <a:pPr lvl="0" indent="0" marL="0">
              <a:buNone/>
            </a:pPr>
            <a:r>
              <a:rPr b="1"/>
              <a:t>Your Dashboard:</a:t>
            </a:r>
          </a:p>
          <a:p>
            <a:pPr lvl="0" indent="0" marL="0">
              <a:buNone/>
            </a:pPr>
            <a:r>
              <a:rPr/>
              <a:t>After login, you’ll see your role-specific dashboard: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Shows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patient queue, pending tasks, recent alerts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Nurse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Assigned patients, vitals to check, notifications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Receptionist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appointments, check-in queue, statistics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Lab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Pending tests, critical results, quality control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Pharmacist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Prescription queue, low stock items, pending dispensing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Billing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Unbilled services, pending payments, today’s revenue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Navigation</a:t>
            </a:r>
          </a:p>
          <a:p>
            <a:pPr lvl="0" indent="0" marL="0">
              <a:buNone/>
            </a:pPr>
            <a:r>
              <a:rPr b="1"/>
              <a:t>Main Menu (Left Sidebar):</a:t>
            </a:r>
            <a:r>
              <a:rPr/>
              <a:t> - Home/Dashboard - Patients (if you have access) - Your work queue (consultations, tests, prescriptions, etc.) - Reports/Analytics (role-dependent) - Profile &amp; Settings</a:t>
            </a:r>
          </a:p>
          <a:p>
            <a:pPr lvl="0" indent="0" marL="0">
              <a:buNone/>
            </a:pPr>
            <a:r>
              <a:rPr b="1"/>
              <a:t>Top Bar:</a:t>
            </a:r>
            <a:r>
              <a:rPr/>
              <a:t> - Notifications (bell icon) - shows unread alerts - User menu - profile, settings, logout - Search - quick patient lookup</a:t>
            </a:r>
          </a:p>
          <a:p>
            <a:pPr lvl="0" indent="0" marL="0">
              <a:buNone/>
            </a:pPr>
            <a:r>
              <a:rPr b="1"/>
              <a:t>Notifications:</a:t>
            </a:r>
            <a:r>
              <a:rPr/>
              <a:t> - Red badge shows unread count - Click bell icon to view - Notifications appear in real-time - Click notification to go directly to relevant task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For Doctors: Consultation Workflow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Patient Queue</a:t>
            </a:r>
          </a:p>
          <a:p>
            <a:pPr lvl="0" indent="0" marL="0">
              <a:buNone/>
            </a:pPr>
            <a:r>
              <a:rPr b="1"/>
              <a:t>Accessing the Queue:</a:t>
            </a:r>
            <a:r>
              <a:rPr/>
              <a:t> 1. From dashboard, click “Consultations” or “Patient Queue” 2. You’ll see all patients currently waiting for you</a:t>
            </a:r>
          </a:p>
          <a:p>
            <a:pPr lvl="0" indent="0" marL="0">
              <a:buNone/>
            </a:pPr>
            <a:r>
              <a:rPr b="1"/>
              <a:t>Queue Display: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John Doe (PAT-2024-0123)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Emergency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Waiting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Consultation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Jane Smith (PAT-2024-0124)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Waiting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Consultation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Bob Johnson (PAT-2024-0125)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Waiting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Consultation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Priority Levels:</a:t>
            </a:r>
            <a:r>
              <a:rPr/>
              <a:t> - </a:t>
            </a:r>
            <a:r>
              <a:rPr b="1"/>
              <a:t>Emergency</a:t>
            </a:r>
            <a:r>
              <a:rPr/>
              <a:t> (Red) - Life-threatening, see immediately - </a:t>
            </a:r>
            <a:r>
              <a:rPr b="1"/>
              <a:t>Urgent</a:t>
            </a:r>
            <a:r>
              <a:rPr/>
              <a:t> (Orange) - Serious condition, see within 30 min - </a:t>
            </a:r>
            <a:r>
              <a:rPr b="1"/>
              <a:t>Normal</a:t>
            </a:r>
            <a:r>
              <a:rPr/>
              <a:t> (Green) - Routine consultation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Starting a Consultation</a:t>
            </a:r>
          </a:p>
          <a:p>
            <a:pPr lvl="0" indent="0" marL="0">
              <a:buNone/>
            </a:pPr>
            <a:r>
              <a:rPr b="1"/>
              <a:t>Step 1: Select Patient</a:t>
            </a:r>
            <a:r>
              <a:rPr/>
              <a:t> - Click “Start Consultation” button next to patient name - Patient automatically moved to “In Progress” status - Other departments see patient is currently with doctor</a:t>
            </a:r>
          </a:p>
          <a:p>
            <a:pPr lvl="0" indent="0" marL="0">
              <a:buNone/>
            </a:pPr>
            <a:r>
              <a:rPr b="1"/>
              <a:t>Step 2: Review Patient History</a:t>
            </a:r>
          </a:p>
          <a:p>
            <a:pPr lvl="0" indent="0" marL="0">
              <a:buNone/>
            </a:pPr>
            <a:r>
              <a:rPr/>
              <a:t>The consultation screen shows:</a:t>
            </a:r>
          </a:p>
          <a:p>
            <a:pPr lvl="0" indent="0" marL="0">
              <a:buNone/>
            </a:pPr>
            <a:r>
              <a:rPr b="1"/>
              <a:t>Left Panel - Patient Information:</a:t>
            </a:r>
            <a:r>
              <a:rPr/>
              <a:t> - Demographics (name, age, gender) - Allergies (prominently highlighted in red) - Current medications - Chronic conditions/problems - Insurance information</a:t>
            </a:r>
          </a:p>
          <a:p>
            <a:pPr lvl="0" indent="0" marL="0">
              <a:buNone/>
            </a:pPr>
            <a:r>
              <a:rPr b="1"/>
              <a:t>Center Panel - Current Visit:</a:t>
            </a:r>
            <a:r>
              <a:rPr/>
              <a:t> - Chief complaint (from reception) - Vitals (latest measurements) - Current consultation notes - Prescription section - Test orders section</a:t>
            </a:r>
          </a:p>
          <a:p>
            <a:pPr lvl="0" indent="0" marL="0">
              <a:buNone/>
            </a:pPr>
            <a:r>
              <a:rPr b="1"/>
              <a:t>Right Panel - History:</a:t>
            </a:r>
            <a:r>
              <a:rPr/>
              <a:t> - Previous visits - Past prescriptions - Previous lab/radiology results - Problem list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Recording Vitals</a:t>
            </a:r>
          </a:p>
          <a:p>
            <a:pPr lvl="0" indent="0" marL="0">
              <a:buNone/>
            </a:pPr>
            <a:r>
              <a:rPr/>
              <a:t>If vitals not already recorded:</a:t>
            </a:r>
          </a:p>
          <a:p>
            <a:pPr lvl="0" indent="-342900" marL="342900">
              <a:buAutoNum type="arabicPeriod"/>
            </a:pPr>
            <a:r>
              <a:rPr/>
              <a:t>Click “Record Vitals” button</a:t>
            </a:r>
          </a:p>
          <a:p>
            <a:pPr lvl="0" indent="-342900" marL="342900">
              <a:buAutoNum type="arabicPeriod"/>
            </a:pPr>
            <a:r>
              <a:rPr/>
              <a:t>Enter measurements:</a:t>
            </a:r>
          </a:p>
          <a:p>
            <a:pPr lvl="1"/>
            <a:r>
              <a:rPr/>
              <a:t>Blood Pressure (systolic/diastolic)</a:t>
            </a:r>
          </a:p>
          <a:p>
            <a:pPr lvl="1"/>
            <a:r>
              <a:rPr/>
              <a:t>Temperature</a:t>
            </a:r>
          </a:p>
          <a:p>
            <a:pPr lvl="1"/>
            <a:r>
              <a:rPr/>
              <a:t>Pulse rate</a:t>
            </a:r>
          </a:p>
          <a:p>
            <a:pPr lvl="1"/>
            <a:r>
              <a:rPr/>
              <a:t>Respiratory rate</a:t>
            </a:r>
          </a:p>
          <a:p>
            <a:pPr lvl="1"/>
            <a:r>
              <a:rPr/>
              <a:t>Oxygen saturation</a:t>
            </a:r>
          </a:p>
          <a:p>
            <a:pPr lvl="1"/>
            <a:r>
              <a:rPr/>
              <a:t>Weight</a:t>
            </a:r>
          </a:p>
          <a:p>
            <a:pPr lvl="0" indent="-342900" marL="342900">
              <a:buAutoNum type="arabicPeriod"/>
            </a:pPr>
            <a:r>
              <a:rPr/>
              <a:t>Click “Save Vitals”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Abnormal values highlighted in red automatically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Consultation Notes</a:t>
            </a:r>
          </a:p>
          <a:p>
            <a:pPr lvl="0" indent="-342900" marL="342900">
              <a:buAutoNum type="arabicPeriod"/>
            </a:pPr>
            <a:r>
              <a:rPr/>
              <a:t>Click in “Consultation Notes” section</a:t>
            </a:r>
          </a:p>
          <a:p>
            <a:pPr lvl="0" indent="-342900" marL="342900">
              <a:buAutoNum type="arabicPeriod"/>
            </a:pPr>
            <a:r>
              <a:rPr/>
              <a:t>Document:</a:t>
            </a:r>
          </a:p>
          <a:p>
            <a:pPr lvl="1"/>
            <a:r>
              <a:rPr/>
              <a:t>Subjective (patient’s complaint)</a:t>
            </a:r>
          </a:p>
          <a:p>
            <a:pPr lvl="1"/>
            <a:r>
              <a:rPr/>
              <a:t>Objective (your findings)</a:t>
            </a:r>
          </a:p>
          <a:p>
            <a:pPr lvl="1"/>
            <a:r>
              <a:rPr/>
              <a:t>Assessment (diagnosis)</a:t>
            </a:r>
          </a:p>
          <a:p>
            <a:pPr lvl="1"/>
            <a:r>
              <a:rPr/>
              <a:t>Plan (treatment plan)</a:t>
            </a:r>
          </a:p>
          <a:p>
            <a:pPr lvl="0" indent="-342900" marL="342900">
              <a:buAutoNum type="arabicPeriod"/>
            </a:pPr>
            <a:r>
              <a:rPr/>
              <a:t>Notes save automatically as you type</a:t>
            </a:r>
          </a:p>
          <a:p>
            <a:pPr lvl="0" indent="-342900" marL="342900">
              <a:buAutoNum type="arabicPeriod"/>
            </a:pPr>
            <a:r>
              <a:rPr/>
              <a:t>You can use templates for common conditions (click “Templates”)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Writing Prescriptions</a:t>
            </a:r>
          </a:p>
          <a:p>
            <a:pPr lvl="0" indent="0" marL="0">
              <a:buNone/>
            </a:pPr>
            <a:r>
              <a:rPr b="1"/>
              <a:t>Step 1: Add Medication</a:t>
            </a:r>
            <a:r>
              <a:rPr/>
              <a:t> 1. Click “Add Prescription” button 2. Search for medication name 3. Select from dropdown</a:t>
            </a:r>
          </a:p>
          <a:p>
            <a:pPr lvl="0" indent="0" marL="0">
              <a:buNone/>
            </a:pPr>
            <a:r>
              <a:rPr b="1"/>
              <a:t>Step 2: Enter Details</a:t>
            </a:r>
            <a:r>
              <a:rPr/>
              <a:t> - Dosage: e.g., “500mg” - Frequency: Select from dropdown (Once daily, Twice daily, etc.) - Route: Oral, IV, IM, etc. - Duration: e.g., “7 days” or “14 days” - Quantity: Total tablets/vials - Instructions: “Take with food”, “Before bedtime”, etc.</a:t>
            </a:r>
          </a:p>
          <a:p>
            <a:pPr lvl="0" indent="0" marL="0">
              <a:buNone/>
            </a:pPr>
            <a:r>
              <a:rPr b="1"/>
              <a:t>Step 3: Check Alerts</a:t>
            </a:r>
            <a:r>
              <a:rPr/>
              <a:t> - System shows allergy warnings in RED if applicable - Drug interaction warnings (if configured) - Duplicate medication alerts</a:t>
            </a:r>
          </a:p>
          <a:p>
            <a:pPr lvl="0" indent="0" marL="0">
              <a:buNone/>
            </a:pPr>
            <a:r>
              <a:rPr b="1"/>
              <a:t>Step 4: Save</a:t>
            </a:r>
            <a:r>
              <a:rPr/>
              <a:t> - Click “Add to Prescription” - Prescription instantly sent to pharmacy - Pharmacist receives notification</a:t>
            </a:r>
          </a:p>
          <a:p>
            <a:pPr lvl="0" indent="0" marL="0">
              <a:buNone/>
            </a:pPr>
            <a:r>
              <a:rPr b="1"/>
              <a:t>Multiple Medications:</a:t>
            </a:r>
            <a:r>
              <a:rPr/>
              <a:t> - Repeat process for each medication - All medications on one prescription - Click “Finalize Prescription” when done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Ordering Lab Tests</a:t>
            </a:r>
          </a:p>
          <a:p>
            <a:pPr lvl="0" indent="0" marL="0">
              <a:buNone/>
            </a:pPr>
            <a:r>
              <a:rPr b="1"/>
              <a:t>Step 1: Order Test</a:t>
            </a:r>
            <a:r>
              <a:rPr/>
              <a:t> 1. Click “Order Lab Test” button 2. Search for test name (e.g., “CBC”, “Lipid Panel”) 3. Select test from dropdown</a:t>
            </a:r>
          </a:p>
          <a:p>
            <a:pPr lvl="0" indent="0" marL="0">
              <a:buNone/>
            </a:pPr>
            <a:r>
              <a:rPr b="1"/>
              <a:t>Step 2: Add Details</a:t>
            </a:r>
            <a:r>
              <a:rPr/>
              <a:t> - Priority: Normal or Urgent - Instructions: Special requirements - Clinical notes: Reason for test</a:t>
            </a:r>
          </a:p>
          <a:p>
            <a:pPr lvl="0" indent="0" marL="0">
              <a:buNone/>
            </a:pPr>
            <a:r>
              <a:rPr b="1"/>
              <a:t>Step 3: Submit</a:t>
            </a:r>
            <a:r>
              <a:rPr/>
              <a:t> - Click “Order Test” - Lab instantly receives order - Lab tech will collect sample and process</a:t>
            </a:r>
          </a:p>
          <a:p>
            <a:pPr lvl="0" indent="0" marL="0">
              <a:buNone/>
            </a:pPr>
            <a:r>
              <a:rPr b="1"/>
              <a:t>Step 4: Get Results</a:t>
            </a:r>
            <a:r>
              <a:rPr/>
              <a:t> - You’ll be notified when results ready - </a:t>
            </a:r>
            <a:r>
              <a:rPr b="1"/>
              <a:t>Critical results</a:t>
            </a:r>
            <a:r>
              <a:rPr/>
              <a:t> trigger instant alert - View results in patient’s “Lab Results” tab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Ordering Radiology/Imaging</a:t>
            </a:r>
          </a:p>
          <a:p>
            <a:pPr lvl="0" indent="0" marL="0">
              <a:buNone/>
            </a:pPr>
            <a:r>
              <a:rPr b="1"/>
              <a:t>Same process as lab tests:</a:t>
            </a:r>
            <a:r>
              <a:rPr/>
              <a:t> 1. Click “Order Radiology Test” 2. Select test type (X-ray, CT, MRI, Ultrasound) 3. Specify body part 4. Add clinical indication 5. Submit order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Completing Consultation</a:t>
            </a:r>
          </a:p>
          <a:p>
            <a:pPr lvl="0" indent="0" marL="0">
              <a:buNone/>
            </a:pPr>
            <a:r>
              <a:rPr b="1"/>
              <a:t>When finished:</a:t>
            </a:r>
            <a:r>
              <a:rPr/>
              <a:t> 1. Review all prescriptions and orders 2. Click “Complete Consultation” 3. Select patient’s next step: - Discharge (patient can leave) - Admit (for inpatient care) - Refer (to specialist) 4. Patient automatically removed from your queue 5. If prescriptions ordered, pharmacy notified 6. If tests ordered, lab/radiology notified 7. Billing automatically receives charge information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Handling Critical Alerts</a:t>
            </a:r>
          </a:p>
          <a:p>
            <a:pPr lvl="0" indent="0" marL="0">
              <a:buNone/>
            </a:pPr>
            <a:r>
              <a:rPr b="1"/>
              <a:t>When critical lab result received:</a:t>
            </a:r>
          </a:p>
          <a:p>
            <a:pPr lvl="0" indent="-342900" marL="342900">
              <a:buAutoNum type="arabicPeriod"/>
            </a:pPr>
            <a:r>
              <a:rPr b="1"/>
              <a:t>Pop-up notification</a:t>
            </a:r>
            <a:r>
              <a:rPr/>
              <a:t> appears on your screen</a:t>
            </a:r>
          </a:p>
          <a:p>
            <a:pPr lvl="0" indent="-342900" marL="342900">
              <a:buAutoNum type="arabicPeriod"/>
            </a:pPr>
            <a:r>
              <a:rPr b="1"/>
              <a:t>Audible alert</a:t>
            </a:r>
            <a:r>
              <a:rPr/>
              <a:t> (if enabled)</a:t>
            </a:r>
          </a:p>
          <a:p>
            <a:pPr lvl="0" indent="-342900" marL="342900">
              <a:buAutoNum type="arabicPeriod"/>
            </a:pPr>
            <a:r>
              <a:rPr b="1"/>
              <a:t>Email/SMS</a:t>
            </a:r>
            <a:r>
              <a:rPr/>
              <a:t> sent to your contact info</a:t>
            </a:r>
          </a:p>
          <a:p>
            <a:pPr lvl="0" indent="0" marL="0">
              <a:buNone/>
            </a:pPr>
            <a:r>
              <a:rPr b="1"/>
              <a:t>Alert shows:</a:t>
            </a:r>
            <a:r>
              <a:rPr/>
              <a:t> - Patient name and ID - Test name - Critical value - Normal range - Patient’s location</a:t>
            </a:r>
          </a:p>
          <a:p>
            <a:pPr lvl="0" indent="0" marL="0">
              <a:buNone/>
            </a:pPr>
            <a:r>
              <a:rPr b="1"/>
              <a:t>Actions:</a:t>
            </a:r>
            <a:r>
              <a:rPr/>
              <a:t> 1. Click notification to view full result 2. Review result and patient history 3. </a:t>
            </a:r>
            <a:r>
              <a:rPr b="1"/>
              <a:t>Acknowledge alert</a:t>
            </a:r>
            <a:r>
              <a:rPr/>
              <a:t> (required within 15 min) 4. Take clinical action (call patient, adjust treatment, etc.) 5. Document your action in consultation notes</a:t>
            </a:r>
          </a:p>
          <a:p>
            <a:pPr lvl="0" indent="0" marL="0">
              <a:buNone/>
            </a:pPr>
            <a:r>
              <a:rPr b="1"/>
              <a:t>Escalation:</a:t>
            </a:r>
            <a:r>
              <a:rPr/>
              <a:t> - If not acknowledged in 15 min, alert escalates to department head - Compliance tracking for all critical results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For Nurses: Patient Care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Dashboard</a:t>
            </a:r>
          </a:p>
          <a:p>
            <a:pPr lvl="0" indent="0" marL="0">
              <a:buNone/>
            </a:pPr>
            <a:r>
              <a:rPr b="1"/>
              <a:t>Shows:</a:t>
            </a:r>
            <a:r>
              <a:rPr/>
              <a:t> - Patients assigned to you - Pending tasks (vitals checks, medication administration) - Recent notifications - Patient status changes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Patient List</a:t>
            </a:r>
          </a:p>
          <a:p>
            <a:pPr lvl="0" indent="0" marL="0">
              <a:buNone/>
            </a:pPr>
            <a:r>
              <a:rPr b="1"/>
              <a:t>View all your patients:</a:t>
            </a:r>
            <a:r>
              <a:rPr/>
              <a:t> 1. Click “My Patients” from main menu 2. See list with current status: - Waiting for Doctor - In Consultation - Awaiting Tests - Ready for Discharge - etc.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Recording Vitals</a:t>
            </a:r>
          </a:p>
          <a:p>
            <a:pPr lvl="0" indent="0" marL="0">
              <a:buNone/>
            </a:pPr>
            <a:r>
              <a:rPr b="1"/>
              <a:t>When patient arrives or per schedule:</a:t>
            </a:r>
          </a:p>
          <a:p>
            <a:pPr lvl="0" indent="-342900" marL="342900">
              <a:buAutoNum type="arabicPeriod"/>
            </a:pPr>
            <a:r>
              <a:rPr/>
              <a:t>Find patient in your list or search by ID</a:t>
            </a:r>
          </a:p>
          <a:p>
            <a:pPr lvl="0" indent="-342900" marL="342900">
              <a:buAutoNum type="arabicPeriod"/>
            </a:pPr>
            <a:r>
              <a:rPr/>
              <a:t>Click patient name to open chart</a:t>
            </a:r>
          </a:p>
          <a:p>
            <a:pPr lvl="0" indent="-342900" marL="342900">
              <a:buAutoNum type="arabicPeriod"/>
            </a:pPr>
            <a:r>
              <a:rPr/>
              <a:t>Click “Record Vitals” button</a:t>
            </a:r>
          </a:p>
          <a:p>
            <a:pPr lvl="0" indent="-342900" marL="342900">
              <a:buAutoNum type="arabicPeriod"/>
            </a:pPr>
            <a:r>
              <a:rPr/>
              <a:t>Enter measurements:</a:t>
            </a:r>
          </a:p>
          <a:p>
            <a:pPr lvl="1"/>
            <a:r>
              <a:rPr/>
              <a:t>Blood Pressure</a:t>
            </a:r>
          </a:p>
          <a:p>
            <a:pPr lvl="1"/>
            <a:r>
              <a:rPr/>
              <a:t>Temperature</a:t>
            </a:r>
          </a:p>
          <a:p>
            <a:pPr lvl="1"/>
            <a:r>
              <a:rPr/>
              <a:t>Pulse</a:t>
            </a:r>
          </a:p>
          <a:p>
            <a:pPr lvl="1"/>
            <a:r>
              <a:rPr/>
              <a:t>Respiratory Rate</a:t>
            </a:r>
          </a:p>
          <a:p>
            <a:pPr lvl="1"/>
            <a:r>
              <a:rPr/>
              <a:t>O2 Saturation</a:t>
            </a:r>
          </a:p>
          <a:p>
            <a:pPr lvl="1"/>
            <a:r>
              <a:rPr/>
              <a:t>Weight, Height (if first visit)</a:t>
            </a:r>
          </a:p>
          <a:p>
            <a:pPr lvl="1"/>
            <a:r>
              <a:rPr/>
              <a:t>Pain scale</a:t>
            </a:r>
          </a:p>
          <a:p>
            <a:pPr lvl="0" indent="-342900" marL="342900">
              <a:buAutoNum type="arabicPeriod"/>
            </a:pPr>
            <a:r>
              <a:rPr/>
              <a:t>Click “Save”</a:t>
            </a:r>
          </a:p>
          <a:p>
            <a:pPr lvl="0" indent="0" marL="0">
              <a:buNone/>
            </a:pPr>
            <a:r>
              <a:rPr b="1"/>
              <a:t>System automatically:</a:t>
            </a:r>
            <a:r>
              <a:rPr/>
              <a:t> - Timestamps the vitals - Flags abnormal values - Notifies doctor if patient in queue - Adds to patient’s vitals history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Medication Administration (if configured)</a:t>
            </a:r>
          </a:p>
          <a:p>
            <a:pPr lvl="0" indent="-342900" marL="342900">
              <a:buAutoNum type="arabicPeriod"/>
            </a:pPr>
            <a:r>
              <a:rPr/>
              <a:t>Navigate to patient chart</a:t>
            </a:r>
          </a:p>
          <a:p>
            <a:pPr lvl="0" indent="-342900" marL="342900">
              <a:buAutoNum type="arabicPeriod"/>
            </a:pPr>
            <a:r>
              <a:rPr/>
              <a:t>Click “Medications” tab</a:t>
            </a:r>
          </a:p>
          <a:p>
            <a:pPr lvl="0" indent="-342900" marL="342900">
              <a:buAutoNum type="arabicPeriod"/>
            </a:pPr>
            <a:r>
              <a:rPr/>
              <a:t>See ordered medications</a:t>
            </a:r>
          </a:p>
          <a:p>
            <a:pPr lvl="0" indent="-342900" marL="342900">
              <a:buAutoNum type="arabicPeriod"/>
            </a:pPr>
            <a:r>
              <a:rPr/>
              <a:t>When administering:</a:t>
            </a:r>
          </a:p>
          <a:p>
            <a:pPr lvl="1"/>
            <a:r>
              <a:rPr/>
              <a:t>Click “Administer” next to medication</a:t>
            </a:r>
          </a:p>
          <a:p>
            <a:pPr lvl="1"/>
            <a:r>
              <a:rPr/>
              <a:t>Confirm dosage</a:t>
            </a:r>
          </a:p>
          <a:p>
            <a:pPr lvl="1"/>
            <a:r>
              <a:rPr/>
              <a:t>Document time</a:t>
            </a:r>
          </a:p>
          <a:p>
            <a:pPr lvl="1"/>
            <a:r>
              <a:rPr/>
              <a:t>Note any patient reactions</a:t>
            </a:r>
          </a:p>
          <a:p>
            <a:pPr lvl="0" indent="-342900" marL="342900">
              <a:buAutoNum type="arabicPeriod"/>
            </a:pPr>
            <a:r>
              <a:rPr/>
              <a:t>Record automatically created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Tracking Patient Status</a:t>
            </a:r>
          </a:p>
          <a:p>
            <a:pPr lvl="0" indent="0" marL="0">
              <a:buNone/>
            </a:pPr>
            <a:r>
              <a:rPr b="1"/>
              <a:t>Real-time status visible:</a:t>
            </a:r>
            <a:r>
              <a:rPr/>
              <a:t> - “Checked In” - Patient arrived, waiting - “With Doctor” - In consultation - “Tests Ordered” - Awaiting lab/radiology - “Ready for Discharge” - Consultation complete - “Discharged” - Patient left</a:t>
            </a:r>
          </a:p>
          <a:p>
            <a:pPr lvl="0" indent="0" marL="0">
              <a:buNone/>
            </a:pPr>
            <a:r>
              <a:rPr b="1"/>
              <a:t>No more calling around</a:t>
            </a:r>
            <a:r>
              <a:rPr/>
              <a:t> to find out where patient is in process!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Tasks &amp; Notifications</a:t>
            </a:r>
          </a:p>
          <a:p>
            <a:pPr lvl="0" indent="0" marL="0">
              <a:buNone/>
            </a:pPr>
            <a:r>
              <a:rPr b="1"/>
              <a:t>You’ll receive notifications for:</a:t>
            </a:r>
            <a:r>
              <a:rPr/>
              <a:t> - New patient checked in to your unit - Doctor ordered vitals check - Test results ready (if you need to know) - Patient ready for procedure - Discharge instructions needed</a:t>
            </a:r>
          </a:p>
          <a:p>
            <a:pPr lvl="0" indent="0" marL="0">
              <a:buNone/>
            </a:pPr>
            <a:r>
              <a:rPr b="1"/>
              <a:t>Managing notifications:</a:t>
            </a:r>
            <a:r>
              <a:rPr/>
              <a:t> 1. Click bell icon (top right) 2. View unread notifications 3. Click to go to relevant task 4. Mark as read when done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For Receptionists: Registration &amp; Check-In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Registering New Patients</a:t>
            </a:r>
          </a:p>
          <a:p>
            <a:pPr lvl="0" indent="0" marL="0">
              <a:buNone/>
            </a:pPr>
            <a:r>
              <a:rPr b="1"/>
              <a:t>Step 1: Start Registration</a:t>
            </a:r>
            <a:r>
              <a:rPr/>
              <a:t> 1. From dashboard, click “Register New Patient” 2. New patient form opens</a:t>
            </a:r>
          </a:p>
          <a:p>
            <a:pPr lvl="0" indent="0" marL="0">
              <a:buNone/>
            </a:pPr>
            <a:r>
              <a:rPr b="1"/>
              <a:t>Step 2: Enter Demographics</a:t>
            </a:r>
          </a:p>
          <a:p>
            <a:pPr lvl="0" indent="0" marL="0">
              <a:buNone/>
            </a:pPr>
            <a:r>
              <a:rPr i="1"/>
              <a:t>Required fields:</a:t>
            </a:r>
            <a:r>
              <a:rPr/>
              <a:t> - First Name, Last Name - Date of Birth - Gender - Phone Number - Email (if available)</a:t>
            </a:r>
          </a:p>
          <a:p>
            <a:pPr lvl="0" indent="0" marL="0">
              <a:buNone/>
            </a:pPr>
            <a:r>
              <a:rPr i="1"/>
              <a:t>Additional fields:</a:t>
            </a:r>
            <a:r>
              <a:rPr/>
              <a:t> - Address - Emergency Contact (name, relationship, phone) - Insurance Information - ID Number (driver’s license, passport) - Marital Status, Occupation - Blood Group (if known)</a:t>
            </a:r>
          </a:p>
          <a:p>
            <a:pPr lvl="0" indent="0" marL="0">
              <a:buNone/>
            </a:pPr>
            <a:r>
              <a:rPr b="1"/>
              <a:t>Patient ID auto-generated:</a:t>
            </a:r>
            <a:r>
              <a:rPr/>
              <a:t> - Format: PAT-2024-XXXX - Unique identifier for patient - Used in all future interactions</a:t>
            </a:r>
          </a:p>
          <a:p>
            <a:pPr lvl="0" indent="0" marL="0">
              <a:buNone/>
            </a:pPr>
            <a:r>
              <a:rPr b="1"/>
              <a:t>Step 3: Save Patient</a:t>
            </a:r>
            <a:r>
              <a:rPr/>
              <a:t> - Click “Register Patient” - Patient added to database - You’ll see confirmation with patient ID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Checking In Existing Patients</a:t>
            </a:r>
          </a:p>
          <a:p>
            <a:pPr lvl="0" indent="0" marL="0">
              <a:buNone/>
            </a:pPr>
            <a:r>
              <a:rPr b="1"/>
              <a:t>For appointments or walk-ins:</a:t>
            </a:r>
          </a:p>
          <a:p>
            <a:pPr lvl="0" indent="0" marL="0">
              <a:buNone/>
            </a:pPr>
            <a:r>
              <a:rPr b="1"/>
              <a:t>Step 1: Find Patient</a:t>
            </a:r>
            <a:r>
              <a:rPr/>
              <a:t> - Click “Check-In Patient” - Search by: - Patient ID (PAT-2024-XXXX) - Phone number - Name (first or last)</a:t>
            </a:r>
          </a:p>
          <a:p>
            <a:pPr lvl="0" indent="0" marL="0">
              <a:buNone/>
            </a:pPr>
            <a:r>
              <a:rPr b="1"/>
              <a:t>Step 2: Verify Patient</a:t>
            </a:r>
            <a:r>
              <a:rPr/>
              <a:t> - Confirm patient details on screen match patient in front of you - Update any changed information (phone, address, insurance)</a:t>
            </a:r>
          </a:p>
          <a:p>
            <a:pPr lvl="0" indent="0" marL="0">
              <a:buNone/>
            </a:pPr>
            <a:r>
              <a:rPr b="1"/>
              <a:t>Step 3: Record Visit Details</a:t>
            </a:r>
            <a:r>
              <a:rPr/>
              <a:t> - Reason for visit/Chief Complaint - Department (General, Emergency, etc.) - Doctor preference (if any) - Visit type (New consultation, Follow-up)</a:t>
            </a:r>
          </a:p>
          <a:p>
            <a:pPr lvl="0" indent="0" marL="0">
              <a:buNone/>
            </a:pPr>
            <a:r>
              <a:rPr b="1"/>
              <a:t>Step 4: Complete Check-In</a:t>
            </a:r>
            <a:r>
              <a:rPr/>
              <a:t> - Click “Check-In Patient” - New visit created - Patient added to doctor’s queue automatically - Priority set based on visit type (Emergency → Urgent → Normal)</a:t>
            </a:r>
          </a:p>
          <a:p>
            <a:pPr lvl="0" indent="0" marL="0">
              <a:buNone/>
            </a:pPr>
            <a:r>
              <a:rPr b="1"/>
              <a:t>Patient receives:</a:t>
            </a:r>
            <a:r>
              <a:rPr/>
              <a:t> - Visit ID number - Estimated wait time - Queue position</a:t>
            </a:r>
          </a:p>
          <a:p>
            <a:pPr lvl="0" indent="0" marL="0">
              <a:buNone/>
            </a:pPr>
            <a:r>
              <a:rPr b="1"/>
              <a:t>Doctor receives:</a:t>
            </a:r>
            <a:r>
              <a:rPr/>
              <a:t> - Notification of new patient in queue - Can see patient’s chief complaint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Managing Appointments</a:t>
            </a:r>
          </a:p>
          <a:p>
            <a:pPr lvl="0" indent="0" marL="0">
              <a:buNone/>
            </a:pPr>
            <a:r>
              <a:rPr b="1"/>
              <a:t>Scheduling Appointment:</a:t>
            </a:r>
            <a:r>
              <a:rPr/>
              <a:t> 1. Click “New Appointment” 2. Search and select patient (or register new) 3. Select doctor 4. Choose date and time 5. Select visit type 6. Add notes 7. Click “Book Appointment”</a:t>
            </a:r>
          </a:p>
          <a:p>
            <a:pPr lvl="0" indent="0" marL="0">
              <a:buNone/>
            </a:pPr>
            <a:r>
              <a:rPr b="1"/>
              <a:t>Viewing Appointments:</a:t>
            </a:r>
            <a:r>
              <a:rPr/>
              <a:t> - Dashboard shows today’s appointments - Click “Appointments” to see full calendar - Filter by doctor, date, status</a:t>
            </a:r>
          </a:p>
          <a:p>
            <a:pPr lvl="0" indent="0" marL="0">
              <a:buNone/>
            </a:pPr>
            <a:r>
              <a:rPr b="1"/>
              <a:t>Check-in from Appointment:</a:t>
            </a:r>
            <a:r>
              <a:rPr/>
              <a:t> - When patient arrives, find in appointment list - Click “Check-In” button - Verify details - Patient moved to doctor’s queue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Queue Management</a:t>
            </a:r>
          </a:p>
          <a:p>
            <a:pPr lvl="0" indent="0" marL="0">
              <a:buNone/>
            </a:pPr>
            <a:r>
              <a:rPr b="1"/>
              <a:t>Real-time queue view:</a:t>
            </a:r>
            <a:r>
              <a:rPr/>
              <a:t> 1. Click “Queue Status” 2. See all patients currently in queue 3. Organized by: - Department - Doctor - Priority level - Wait time</a:t>
            </a:r>
          </a:p>
          <a:p>
            <a:pPr lvl="0" indent="0" marL="0">
              <a:buNone/>
            </a:pPr>
            <a:r>
              <a:rPr b="1"/>
              <a:t>Useful for:</a:t>
            </a:r>
            <a:r>
              <a:rPr/>
              <a:t> - Telling patients estimated wait time - Managing patient expectations - Seeing bottlenecks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For Lab Technicians: Laboratory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Work Queue</a:t>
            </a:r>
          </a:p>
          <a:p>
            <a:pPr lvl="0" indent="0" marL="0">
              <a:buNone/>
            </a:pPr>
            <a:r>
              <a:rPr b="1"/>
              <a:t>Test Order Queue:</a:t>
            </a:r>
            <a:r>
              <a:rPr/>
              <a:t> 1. From dashboard, click “Lab Tests” or “Pending Tests” 2. See all ordered tests waiting for processing</a:t>
            </a:r>
          </a:p>
          <a:p>
            <a:pPr lvl="0" indent="0" marL="0">
              <a:buNone/>
            </a:pPr>
            <a:r>
              <a:rPr b="1"/>
              <a:t>Queue shows:</a:t>
            </a:r>
            <a:r>
              <a:rPr/>
              <a:t> - Patient name and ID - Test ordered - Ordering doctor - Priority (Normal or Urgent) - Order time - Current status</a:t>
            </a:r>
          </a:p>
          <a:p>
            <a:pPr lvl="0" indent="0" marL="0">
              <a:buNone/>
            </a:pPr>
            <a:r>
              <a:rPr b="1"/>
              <a:t>Statuses:</a:t>
            </a:r>
            <a:r>
              <a:rPr/>
              <a:t> - </a:t>
            </a:r>
            <a:r>
              <a:rPr b="1"/>
              <a:t>Pending</a:t>
            </a:r>
            <a:r>
              <a:rPr/>
              <a:t> - Order received, sample not collected - </a:t>
            </a:r>
            <a:r>
              <a:rPr b="1"/>
              <a:t>Sample Collected</a:t>
            </a:r>
            <a:r>
              <a:rPr/>
              <a:t> - Awaiting processing - </a:t>
            </a:r>
            <a:r>
              <a:rPr b="1"/>
              <a:t>In Progress</a:t>
            </a:r>
            <a:r>
              <a:rPr/>
              <a:t> - Currently testing - </a:t>
            </a:r>
            <a:r>
              <a:rPr b="1"/>
              <a:t>Completed</a:t>
            </a:r>
            <a:r>
              <a:rPr/>
              <a:t> - Results entered, awaiting approval - </a:t>
            </a:r>
            <a:r>
              <a:rPr b="1"/>
              <a:t>Approved</a:t>
            </a:r>
            <a:r>
              <a:rPr/>
              <a:t> - Results released to doctor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Processing Test Orders</a:t>
            </a:r>
          </a:p>
          <a:p>
            <a:pPr lvl="0" indent="0" marL="0">
              <a:buNone/>
            </a:pPr>
            <a:r>
              <a:rPr b="1"/>
              <a:t>Step 1: Collect Sample</a:t>
            </a:r>
            <a:r>
              <a:rPr/>
              <a:t> 1. Find test in “Pending” list 2. Click test to open details 3. Verify patient identity 4. Collect sample 5. Click “Mark Sample Collected” 6. Status changes to “Sample Collected”</a:t>
            </a:r>
          </a:p>
          <a:p>
            <a:pPr lvl="0" indent="0" marL="0">
              <a:buNone/>
            </a:pPr>
            <a:r>
              <a:rPr b="1"/>
              <a:t>Step 2: Process Test</a:t>
            </a:r>
            <a:r>
              <a:rPr/>
              <a:t> 1. When ready to run test, click test in queue 2. Click “Start Processing” 3. Status changes to “In Progress” 4. Run test on equipment 5. Obtain results</a:t>
            </a:r>
          </a:p>
          <a:p>
            <a:pPr lvl="0" indent="0" marL="0">
              <a:buNone/>
            </a:pPr>
            <a:r>
              <a:rPr b="1"/>
              <a:t>Step 3: Enter Results</a:t>
            </a:r>
            <a:r>
              <a:rPr/>
              <a:t> 1. Click test (still showing “In Progress”) 2. Click “Enter Results” 3. Enter result values: - Use fields provided based on test type - Enter numeric values, select from dropdowns, etc. 4. Add technician notes if needed 5. Click “Save Results”</a:t>
            </a:r>
          </a:p>
          <a:p>
            <a:pPr lvl="0" indent="0" marL="0">
              <a:buNone/>
            </a:pPr>
            <a:r>
              <a:rPr b="1"/>
              <a:t>Step 4: Review &amp; Approve</a:t>
            </a:r>
            <a:r>
              <a:rPr/>
              <a:t> - Results marked “Completed” but not yet released - Senior tech or pathologist reviews - Click “Approve Results” - Results instantly distributed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Result Handling</a:t>
            </a:r>
          </a:p>
          <a:p>
            <a:pPr lvl="0" indent="0" marL="0">
              <a:buNone/>
            </a:pPr>
            <a:r>
              <a:rPr b="1"/>
              <a:t>When entering critical value:</a:t>
            </a:r>
          </a:p>
          <a:p>
            <a:pPr lvl="0" indent="-342900" marL="342900">
              <a:buAutoNum type="arabicPeriod"/>
            </a:pPr>
            <a:r>
              <a:rPr/>
              <a:t>System automatically detects based on configured ranges</a:t>
            </a:r>
          </a:p>
          <a:p>
            <a:pPr lvl="0" indent="-342900" marL="342900">
              <a:buAutoNum type="arabicPeriod"/>
            </a:pPr>
            <a:r>
              <a:rPr b="1"/>
              <a:t>Red warning</a:t>
            </a:r>
            <a:r>
              <a:rPr/>
              <a:t> appears: “CRITICAL RESULT DETECTED”</a:t>
            </a:r>
          </a:p>
          <a:p>
            <a:pPr lvl="0" indent="-342900" marL="342900">
              <a:buAutoNum type="arabicPeriod"/>
            </a:pPr>
            <a:r>
              <a:rPr/>
              <a:t>Confirm result is correct</a:t>
            </a:r>
          </a:p>
          <a:p>
            <a:pPr lvl="0" indent="-342900" marL="342900">
              <a:buAutoNum type="arabicPeriod"/>
            </a:pPr>
            <a:r>
              <a:rPr/>
              <a:t>Add any comments</a:t>
            </a:r>
          </a:p>
          <a:p>
            <a:pPr lvl="0" indent="-342900" marL="342900">
              <a:buAutoNum type="arabicPeriod"/>
            </a:pPr>
            <a:r>
              <a:rPr/>
              <a:t>Click “Save Results”</a:t>
            </a:r>
          </a:p>
          <a:p>
            <a:pPr lvl="0" indent="0" marL="0">
              <a:buNone/>
            </a:pPr>
            <a:r>
              <a:rPr b="1"/>
              <a:t>System automatically:</a:t>
            </a:r>
            <a:r>
              <a:rPr/>
              <a:t> - Sends instant notification to ordering doctor - Flags result as critical in patient chart - Tracks notification delivery - Creates audit trail</a:t>
            </a:r>
          </a:p>
          <a:p>
            <a:pPr lvl="0" indent="0" marL="0">
              <a:buNone/>
            </a:pPr>
            <a:r>
              <a:rPr b="1"/>
              <a:t>You don’t need to:</a:t>
            </a:r>
            <a:r>
              <a:rPr/>
              <a:t> - Call doctor (system does it instantly) - Track down doctor (multi-channel notifications) - Document notification (automatic)</a:t>
            </a:r>
          </a:p>
          <a:p>
            <a:pPr lvl="0" indent="0" marL="0">
              <a:buNone/>
            </a:pPr>
            <a:r>
              <a:rPr b="1"/>
              <a:t>Your role:</a:t>
            </a:r>
            <a:r>
              <a:rPr/>
              <a:t> - Enter accurate result - Double-check critical values - Add clinical context if needed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Quality Control</a:t>
            </a:r>
          </a:p>
          <a:p>
            <a:pPr lvl="0" indent="0" marL="0">
              <a:buNone/>
            </a:pPr>
            <a:r>
              <a:rPr b="1"/>
              <a:t>Recording QC:</a:t>
            </a:r>
            <a:r>
              <a:rPr/>
              <a:t> 1. Navigate to “Quality Control” section 2. Select test type 3. Enter control values (Level 1, Level 2, etc.) 4. System validates within acceptable range 5. Out-of-range values flagged 6. Document corrective action if needed</a:t>
            </a:r>
          </a:p>
          <a:p>
            <a:pPr lvl="0" indent="0" marL="0">
              <a:buNone/>
            </a:pPr>
            <a:r>
              <a:rPr b="1"/>
              <a:t>QC tracking:</a:t>
            </a:r>
            <a:r>
              <a:rPr/>
              <a:t> - Historical QC data accessible - Trends and charts available - Compliance reporting built-in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For Pharmacists: Medication Dispensing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Prescription Queue</a:t>
            </a:r>
          </a:p>
          <a:p>
            <a:pPr lvl="0" indent="0" marL="0">
              <a:buNone/>
            </a:pPr>
            <a:r>
              <a:rPr b="1"/>
              <a:t>Viewing Prescriptions:</a:t>
            </a:r>
            <a:r>
              <a:rPr/>
              <a:t> 1. From dashboard, click “Prescriptions” or “Pharmacy Queue” 2. See all prescriptions waiting to be filled</a:t>
            </a:r>
          </a:p>
          <a:p>
            <a:pPr lvl="0" indent="0" marL="0">
              <a:buNone/>
            </a:pPr>
            <a:r>
              <a:rPr b="1"/>
              <a:t>Queue shows:</a:t>
            </a:r>
            <a:r>
              <a:rPr/>
              <a:t> - Patient name and ID - Prescribing doctor - Number of medications - Prescription time - Priority - Status</a:t>
            </a:r>
          </a:p>
          <a:p>
            <a:pPr lvl="0" indent="0" marL="0">
              <a:buNone/>
            </a:pPr>
            <a:r>
              <a:rPr b="1"/>
              <a:t>Statuses:</a:t>
            </a:r>
            <a:r>
              <a:rPr/>
              <a:t> - </a:t>
            </a:r>
            <a:r>
              <a:rPr b="1"/>
              <a:t>Pending</a:t>
            </a:r>
            <a:r>
              <a:rPr/>
              <a:t> - New prescription, not yet processed - </a:t>
            </a:r>
            <a:r>
              <a:rPr b="1"/>
              <a:t>In Progress</a:t>
            </a:r>
            <a:r>
              <a:rPr/>
              <a:t> - Currently being filled - </a:t>
            </a:r>
            <a:r>
              <a:rPr b="1"/>
              <a:t>Dispensed</a:t>
            </a:r>
            <a:r>
              <a:rPr/>
              <a:t> - Given to patient - </a:t>
            </a:r>
            <a:r>
              <a:rPr b="1"/>
              <a:t>Cancelled</a:t>
            </a:r>
            <a:r>
              <a:rPr/>
              <a:t> - Prescription cancelled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Filling Prescriptions</a:t>
            </a:r>
          </a:p>
          <a:p>
            <a:pPr lvl="0" indent="0" marL="0">
              <a:buNone/>
            </a:pPr>
            <a:r>
              <a:rPr b="1"/>
              <a:t>Step 1: Select Prescription</a:t>
            </a:r>
            <a:r>
              <a:rPr/>
              <a:t> 1. Click prescription from queue 2. Prescription details open</a:t>
            </a:r>
          </a:p>
          <a:p>
            <a:pPr lvl="0" indent="0" marL="0">
              <a:buNone/>
            </a:pPr>
            <a:r>
              <a:rPr b="1"/>
              <a:t>View:</a:t>
            </a:r>
            <a:r>
              <a:rPr/>
              <a:t> - Patient information - Allergies (highlighted) - All medications on prescription - Dosage, frequency, duration for each - Doctor’s instructions</a:t>
            </a:r>
          </a:p>
          <a:p>
            <a:pPr lvl="0" indent="0" marL="0">
              <a:buNone/>
            </a:pPr>
            <a:r>
              <a:rPr b="1"/>
              <a:t>Step 2: Start Filling</a:t>
            </a:r>
            <a:r>
              <a:rPr/>
              <a:t> 1. Click “Start Filling” 2. Status changes to “In Progress” 3. For each medication: - Locate in inventory - Verify medication, strength, form - Count/measure quantity - Label container - Package medication</a:t>
            </a:r>
          </a:p>
          <a:p>
            <a:pPr lvl="0" indent="0" marL="0">
              <a:buNone/>
            </a:pPr>
            <a:r>
              <a:rPr b="1"/>
              <a:t>Step 3: Check Inventory</a:t>
            </a:r>
            <a:r>
              <a:rPr/>
              <a:t> - System shows current stock for each medication - If stock low, yellow warning appears - If out of stock, red alert and can’t dispense</a:t>
            </a:r>
          </a:p>
          <a:p>
            <a:pPr lvl="0" indent="0" marL="0">
              <a:buNone/>
            </a:pPr>
            <a:r>
              <a:rPr b="1"/>
              <a:t>Step 4: Dispense to Patient</a:t>
            </a:r>
            <a:r>
              <a:rPr/>
              <a:t> 1. Verify patient identity (ID, name, DOB) 2. Counsel patient on each medication: - How to take - Side effects - Precautions 3. Click “Dispense” button 4. Select payment method (if applicable): - Insurance - Cash - Patient account 5. Click “Complete Dispensing”</a:t>
            </a:r>
          </a:p>
          <a:p>
            <a:pPr lvl="0" indent="0" marL="0">
              <a:buNone/>
            </a:pPr>
            <a:r>
              <a:rPr b="1"/>
              <a:t>System automatically:</a:t>
            </a:r>
            <a:r>
              <a:rPr/>
              <a:t> - Deducts quantities from inventory - Creates billing entry - Notifies billing department - Updates patient’s medication history - Marks prescription as “Dispensed”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Inventory Management</a:t>
            </a:r>
          </a:p>
          <a:p>
            <a:pPr lvl="0" indent="0" marL="0">
              <a:buNone/>
            </a:pPr>
            <a:r>
              <a:rPr b="1"/>
              <a:t>Checking Stock Levels:</a:t>
            </a:r>
            <a:r>
              <a:rPr/>
              <a:t> 1. Click “Inventory” from main menu 2. See all medications with current quantities</a:t>
            </a:r>
          </a:p>
          <a:p>
            <a:pPr lvl="0" indent="0" marL="0">
              <a:buNone/>
            </a:pPr>
            <a:r>
              <a:rPr b="1"/>
              <a:t>Stock table shows:</a:t>
            </a:r>
            <a:r>
              <a:rPr/>
              <a:t> - Medication name - Current quantity - Reorder level - Status (Good, Low, Out of Stock)</a:t>
            </a:r>
          </a:p>
          <a:p>
            <a:pPr lvl="0" indent="0" marL="0">
              <a:buNone/>
            </a:pPr>
            <a:r>
              <a:rPr b="1"/>
              <a:t>Low Stock Alerts:</a:t>
            </a:r>
            <a:r>
              <a:rPr/>
              <a:t> - Automatic notifications when stock falls below reorder level - Yellow badge on dashboard - Medication highlighted in inventory list</a:t>
            </a:r>
          </a:p>
          <a:p>
            <a:pPr lvl="0" indent="0" marL="0">
              <a:buNone/>
            </a:pPr>
            <a:r>
              <a:rPr b="1"/>
              <a:t>Recording Stock Receipt:</a:t>
            </a:r>
            <a:r>
              <a:rPr/>
              <a:t> 1. Navigate to “Inventory” 2. Find medication 3. Click “Receive Stock” 4. Enter: - Quantity received - Batch number - Expiry date - Supplier 5. Click “Save” 6. Quantity automatically updated</a:t>
            </a:r>
          </a:p>
          <a:p>
            <a:pPr lvl="0" indent="0" marL="0">
              <a:buNone/>
            </a:pPr>
            <a:r>
              <a:rPr b="1"/>
              <a:t>Stock Adjustments:</a:t>
            </a:r>
            <a:r>
              <a:rPr/>
              <a:t> - For damaged, expired, or stolen stock - Click “Adjust Stock” - Enter new quantity and reason - Submit adjustment - Audit trail maintained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Handling Alerts</a:t>
            </a:r>
          </a:p>
          <a:p>
            <a:pPr lvl="0" indent="0" marL="0">
              <a:buNone/>
            </a:pPr>
            <a:r>
              <a:rPr b="1"/>
              <a:t>Drug Allergy Alerts:</a:t>
            </a:r>
            <a:r>
              <a:rPr/>
              <a:t> - If prescription contains medication patient is allergic to - </a:t>
            </a:r>
            <a:r>
              <a:rPr b="1"/>
              <a:t>RED ALERT</a:t>
            </a:r>
            <a:r>
              <a:rPr/>
              <a:t> appears when viewing prescription - Shows allergen and medication - Contact doctor before dispensing - Can document intervention</a:t>
            </a:r>
          </a:p>
          <a:p>
            <a:pPr lvl="0" indent="0" marL="0">
              <a:buNone/>
            </a:pPr>
            <a:r>
              <a:rPr b="1"/>
              <a:t>Drug Interactions:</a:t>
            </a:r>
            <a:r>
              <a:rPr/>
              <a:t> (if configured) - System checks for interactions between prescribed medications - Warning displayed if interaction found - Clinical significance indicated - Contact doctor if needed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For Billing Staff: Financial Operations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Dashboard</a:t>
            </a:r>
          </a:p>
          <a:p>
            <a:pPr lvl="0" indent="0" marL="0">
              <a:buNone/>
            </a:pPr>
            <a:r>
              <a:rPr b="1"/>
              <a:t>Shows:</a:t>
            </a:r>
            <a:r>
              <a:rPr/>
              <a:t> - Unbilled services (procedures, tests, medications) - Pending bills (generated but not paid) - Today’s payments - Outstanding balances - Key metrics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Automatic Charge Capture</a:t>
            </a:r>
          </a:p>
          <a:p>
            <a:pPr lvl="0" indent="0" marL="0">
              <a:buNone/>
            </a:pPr>
            <a:r>
              <a:rPr b="1"/>
              <a:t>How charges are captured: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Auto-Captured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Consultation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Doctor 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doctor completes consultation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Medications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Medication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pharmacy dispenses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Lab Tests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charges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test results approved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Radiology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Imaging charges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study completed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Procedures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Procedure fees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documented in system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Result:</a:t>
            </a:r>
            <a:r>
              <a:rPr/>
              <a:t> 80% of charges automatically captured without manual entry!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Viewing Unbilled Services</a:t>
            </a:r>
          </a:p>
          <a:p>
            <a:pPr lvl="0" indent="0" marL="0">
              <a:buNone/>
            </a:pPr>
            <a:r>
              <a:rPr b="1"/>
              <a:t>Check what needs billing:</a:t>
            </a:r>
            <a:r>
              <a:rPr/>
              <a:t> 1. Click “Unbilled Services” from dashboard 2. See list of completed services not yet billed</a:t>
            </a:r>
          </a:p>
          <a:p>
            <a:pPr lvl="0" indent="0" marL="0">
              <a:buNone/>
            </a:pPr>
            <a:r>
              <a:rPr b="1"/>
              <a:t>For each service:</a:t>
            </a:r>
            <a:r>
              <a:rPr/>
              <a:t> - Patient name and ID - Service type (consultation, lab, medication) - Service date - Amount - Status</a:t>
            </a:r>
          </a:p>
          <a:p>
            <a:pPr lvl="0" indent="0" marL="0">
              <a:buNone/>
            </a:pPr>
            <a:r>
              <a:rPr b="1"/>
              <a:t>Creating Bill:</a:t>
            </a:r>
            <a:r>
              <a:rPr/>
              <a:t> 1. Select patient 2. Review all unbilled services for that patient 3. Verify accuracy 4. Click “Generate Bill” 5. Bill automatically created 6. Status changes to “Billed - Pending Payment”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Processing Payments</a:t>
            </a:r>
          </a:p>
          <a:p>
            <a:pPr lvl="0" indent="0" marL="0">
              <a:buNone/>
            </a:pPr>
            <a:r>
              <a:rPr b="1"/>
              <a:t>When patient pays:</a:t>
            </a:r>
          </a:p>
          <a:p>
            <a:pPr lvl="0" indent="0" marL="0">
              <a:buNone/>
            </a:pPr>
            <a:r>
              <a:rPr b="1"/>
              <a:t>Step 1: Find Bill</a:t>
            </a:r>
            <a:r>
              <a:rPr/>
              <a:t> - Search by patient ID, name, or bill number - Click bill from list</a:t>
            </a:r>
          </a:p>
          <a:p>
            <a:pPr lvl="0" indent="0" marL="0">
              <a:buNone/>
            </a:pPr>
            <a:r>
              <a:rPr b="1"/>
              <a:t>Step 2: Record Payment</a:t>
            </a:r>
            <a:r>
              <a:rPr/>
              <a:t> 1. Click “Receive Payment” 2. Enter amount paid 3. Select payment method: - Cash - Card (Debit/Credit) - Insurance - Bank Transfer - Other 4. Add payment reference (check #, transaction ID, etc.) 5. Click “Submit Payment”</a:t>
            </a:r>
          </a:p>
          <a:p>
            <a:pPr lvl="0" indent="0" marL="0">
              <a:buNone/>
            </a:pPr>
            <a:r>
              <a:rPr b="1"/>
              <a:t>Step 3: Print Receipt</a:t>
            </a:r>
            <a:r>
              <a:rPr/>
              <a:t> - Receipt automatically generated - Print and give to patient - Electronic copy emailed to patient (if email on file)</a:t>
            </a:r>
          </a:p>
          <a:p>
            <a:pPr lvl="0" indent="0" marL="0">
              <a:buNone/>
            </a:pPr>
            <a:r>
              <a:rPr b="1"/>
              <a:t>Partial Payments:</a:t>
            </a:r>
            <a:r>
              <a:rPr/>
              <a:t> - Enter amount less than total - Remaining balance tracked - Payment history visible - Future payments applied to same bill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Managing Insurance Claims</a:t>
            </a:r>
          </a:p>
          <a:p>
            <a:pPr lvl="0" indent="0" marL="0">
              <a:buNone/>
            </a:pPr>
            <a:r>
              <a:rPr b="1"/>
              <a:t>For insured patients:</a:t>
            </a:r>
          </a:p>
          <a:p>
            <a:pPr lvl="0" indent="0" marL="0">
              <a:buNone/>
            </a:pPr>
            <a:r>
              <a:rPr b="1"/>
              <a:t>Step 1: Verify Coverage</a:t>
            </a:r>
            <a:r>
              <a:rPr/>
              <a:t> - Insurance information from patient registration - Verify coverage before generating bill - Note co-pay, deductible, coverage percentage</a:t>
            </a:r>
          </a:p>
          <a:p>
            <a:pPr lvl="0" indent="0" marL="0">
              <a:buNone/>
            </a:pPr>
            <a:r>
              <a:rPr b="1"/>
              <a:t>Step 2: Generate Insurance Claim</a:t>
            </a:r>
            <a:r>
              <a:rPr/>
              <a:t> 1. Create bill as normal 2. Select “Insurance” as payment method 3. System generates claim form 4. Review claim details 5. Click “Submit to Insurance”</a:t>
            </a:r>
          </a:p>
          <a:p>
            <a:pPr lvl="0" indent="0" marL="0">
              <a:buNone/>
            </a:pPr>
            <a:r>
              <a:rPr b="1"/>
              <a:t>Step 3: Track Claim</a:t>
            </a:r>
            <a:r>
              <a:rPr/>
              <a:t> - Claim status tracked in system - Submitted, Under Review, Approved, Denied - Follow up on pending claims - Re-submit denied claims after correction</a:t>
            </a:r>
          </a:p>
          <a:p>
            <a:pPr lvl="0" indent="0" marL="0">
              <a:buNone/>
            </a:pPr>
            <a:r>
              <a:rPr b="1"/>
              <a:t>Step 4: Process Insurance Payment</a:t>
            </a:r>
            <a:r>
              <a:rPr/>
              <a:t> - When insurance pays - Record payment against bill - Patient billed for remaining balance (co-pay, deductible)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Outstanding Payments</a:t>
            </a:r>
          </a:p>
          <a:p>
            <a:pPr lvl="0" indent="0" marL="0">
              <a:buNone/>
            </a:pPr>
            <a:r>
              <a:rPr b="1"/>
              <a:t>Track unpaid bills:</a:t>
            </a:r>
            <a:r>
              <a:rPr/>
              <a:t> 1. Click “Outstanding Payments” 2. See all bills with balance</a:t>
            </a:r>
          </a:p>
          <a:p>
            <a:pPr lvl="0" indent="0" marL="0">
              <a:buNone/>
            </a:pPr>
            <a:r>
              <a:rPr b="1"/>
              <a:t>Aging report:</a:t>
            </a:r>
            <a:r>
              <a:rPr/>
              <a:t> - 0-30 days - 31-60 days - 61-90 days - 90+ days</a:t>
            </a:r>
          </a:p>
          <a:p>
            <a:pPr lvl="0" indent="0" marL="0">
              <a:buNone/>
            </a:pPr>
            <a:r>
              <a:rPr b="1"/>
              <a:t>Collections:</a:t>
            </a:r>
            <a:r>
              <a:rPr/>
              <a:t> - Filter by age - Send payment reminders - Escalate to collections if needed - Document all communication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Common Tasks &amp;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Searching for Patients</a:t>
            </a:r>
          </a:p>
          <a:p>
            <a:pPr lvl="0" indent="0" marL="0">
              <a:buNone/>
            </a:pPr>
            <a:r>
              <a:rPr b="1"/>
              <a:t>Multiple ways to search:</a:t>
            </a:r>
          </a:p>
          <a:p>
            <a:pPr lvl="0" indent="0" marL="0">
              <a:buNone/>
            </a:pPr>
            <a:r>
              <a:rPr b="1"/>
              <a:t>Method 1: Quick Search (Top Bar)</a:t>
            </a:r>
            <a:r>
              <a:rPr/>
              <a:t> - Click search box (magnifying glass icon) - Type patient ID, name, or phone - Results appear as you type - Click patient to open chart</a:t>
            </a:r>
          </a:p>
          <a:p>
            <a:pPr lvl="0" indent="0" marL="0">
              <a:buNone/>
            </a:pPr>
            <a:r>
              <a:rPr b="1"/>
              <a:t>Method 2: Patient List</a:t>
            </a:r>
            <a:r>
              <a:rPr/>
              <a:t> - Click “Patients” from main menu - Use filters: Date range, department, doctor, status - Sort by name, ID, date - Click patient to view details</a:t>
            </a:r>
          </a:p>
          <a:p>
            <a:pPr lvl="0" indent="0" marL="0">
              <a:buNone/>
            </a:pPr>
            <a:r>
              <a:rPr b="1"/>
              <a:t>Search Tips:</a:t>
            </a:r>
            <a:r>
              <a:rPr/>
              <a:t> - Patient ID is fastest: PAT-2024-XXXX - Phone number: Type digits only - Name: First or last name works - Partial names work (e.g., “John” finds “Johnson”)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Viewing Patient History</a:t>
            </a:r>
          </a:p>
          <a:p>
            <a:pPr lvl="0" indent="0" marL="0">
              <a:buNone/>
            </a:pPr>
            <a:r>
              <a:rPr b="1"/>
              <a:t>Open patient chart:</a:t>
            </a:r>
            <a:r>
              <a:rPr/>
              <a:t> 1. Search and click patient 2. Patient summary opens</a:t>
            </a:r>
          </a:p>
          <a:p>
            <a:pPr lvl="0" indent="0" marL="0">
              <a:buNone/>
            </a:pPr>
            <a:r>
              <a:rPr b="1"/>
              <a:t>Tabs available:</a:t>
            </a:r>
            <a:r>
              <a:rPr/>
              <a:t> - </a:t>
            </a:r>
            <a:r>
              <a:rPr b="1"/>
              <a:t>Overview:</a:t>
            </a:r>
            <a:r>
              <a:rPr/>
              <a:t> Demographics, allergies, current meds - </a:t>
            </a:r>
            <a:r>
              <a:rPr b="1"/>
              <a:t>Visits:</a:t>
            </a:r>
            <a:r>
              <a:rPr/>
              <a:t> All visits with dates and doctors - </a:t>
            </a:r>
            <a:r>
              <a:rPr b="1"/>
              <a:t>Vitals:</a:t>
            </a:r>
            <a:r>
              <a:rPr/>
              <a:t> Vital signs history with graphs - </a:t>
            </a:r>
            <a:r>
              <a:rPr b="1"/>
              <a:t>Prescriptions:</a:t>
            </a:r>
            <a:r>
              <a:rPr/>
              <a:t> All prescriptions ever written - </a:t>
            </a:r>
            <a:r>
              <a:rPr b="1"/>
              <a:t>Lab Results:</a:t>
            </a:r>
            <a:r>
              <a:rPr/>
              <a:t> All lab results with trends - </a:t>
            </a:r>
            <a:r>
              <a:rPr b="1"/>
              <a:t>Radiology:</a:t>
            </a:r>
            <a:r>
              <a:rPr/>
              <a:t> Imaging studies - </a:t>
            </a:r>
            <a:r>
              <a:rPr b="1"/>
              <a:t>Billing:</a:t>
            </a:r>
            <a:r>
              <a:rPr/>
              <a:t> Financial history - </a:t>
            </a:r>
            <a:r>
              <a:rPr b="1"/>
              <a:t>Documents:</a:t>
            </a:r>
            <a:r>
              <a:rPr/>
              <a:t> Uploaded files, scanned docs</a:t>
            </a:r>
          </a:p>
          <a:p>
            <a:pPr lvl="0" indent="0" marL="0">
              <a:buNone/>
            </a:pPr>
            <a:r>
              <a:rPr b="1"/>
              <a:t>Quick navigation:</a:t>
            </a:r>
            <a:r>
              <a:rPr/>
              <a:t> - Use tabs to switch between sections - Click visit to see details from that visit - Click lab result to see full report - Click prescription to see medications from that time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Printing &amp; Reports</a:t>
            </a:r>
          </a:p>
          <a:p>
            <a:pPr lvl="0" indent="0" marL="0">
              <a:buNone/>
            </a:pPr>
            <a:r>
              <a:rPr b="1"/>
              <a:t>Printing prescriptions:</a:t>
            </a:r>
            <a:r>
              <a:rPr/>
              <a:t> - From consultation screen, click “Print Prescription” - Formatted for patient - Includes doctor signature and license number</a:t>
            </a:r>
          </a:p>
          <a:p>
            <a:pPr lvl="0" indent="0" marL="0">
              <a:buNone/>
            </a:pPr>
            <a:r>
              <a:rPr b="1"/>
              <a:t>Printing bills/receipts:</a:t>
            </a:r>
            <a:r>
              <a:rPr/>
              <a:t> - From billing screen, click “Print Receipt” - Official receipt with hospital details - Patient can use for insurance reimbursement</a:t>
            </a:r>
          </a:p>
          <a:p>
            <a:pPr lvl="0" indent="0" marL="0">
              <a:buNone/>
            </a:pPr>
            <a:r>
              <a:rPr b="1"/>
              <a:t>Generating reports:</a:t>
            </a:r>
            <a:r>
              <a:rPr/>
              <a:t> - From “Reports” menu (if you have access) - Select report type - Choose date range - Add filters - Click “Generate” - Export to PDF or Excel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Managing Your Profile</a:t>
            </a:r>
          </a:p>
          <a:p>
            <a:pPr lvl="0" indent="0" marL="0">
              <a:buNone/>
            </a:pPr>
            <a:r>
              <a:rPr b="1"/>
              <a:t>Update your information:</a:t>
            </a:r>
            <a:r>
              <a:rPr/>
              <a:t> 1. Click your name (top right) 2. Select “Profile” 3. Update: - Contact information (phone, email) - Notification preferences - Password 4. Click “Save Changes”</a:t>
            </a:r>
          </a:p>
          <a:p>
            <a:pPr lvl="0" indent="0" marL="0">
              <a:buNone/>
            </a:pPr>
            <a:r>
              <a:rPr b="1"/>
              <a:t>Notification preferences:</a:t>
            </a:r>
            <a:r>
              <a:rPr/>
              <a:t> - Email notifications: On/Off - SMS notifications: On/Off (if available) - Sound alerts: On/Off - Notification types to receive</a:t>
            </a:r>
          </a:p>
          <a:p>
            <a:pPr lvl="0" indent="0" marL="0">
              <a:buNone/>
            </a:pPr>
            <a:r>
              <a:rPr b="1"/>
              <a:t>Changing password:</a:t>
            </a:r>
            <a:r>
              <a:rPr/>
              <a:t> 1. Profile → “Change Password” 2. Enter current password 3. Enter new password (12+ chars, mixed case, number, symbol) 4. Confirm new password 5. Click “Update Password”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Tips &amp;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General Tips</a:t>
            </a:r>
          </a:p>
          <a:p>
            <a:pPr lvl="0" indent="0" marL="0">
              <a:buNone/>
            </a:pPr>
            <a:r>
              <a:rPr b="1"/>
              <a:t>Accuracy First:</a:t>
            </a:r>
            <a:r>
              <a:rPr/>
              <a:t> - Double-check patient identity before any entry - Verify allergies before prescribing - Confirm critical values before saving</a:t>
            </a:r>
          </a:p>
          <a:p>
            <a:pPr lvl="0" indent="0" marL="0">
              <a:buNone/>
            </a:pPr>
            <a:r>
              <a:rPr b="1"/>
              <a:t>Work the Queue:</a:t>
            </a:r>
            <a:r>
              <a:rPr/>
              <a:t> - Prioritize Emergency &gt; Urgent &gt; Normal - Clear oldest items first within same priority - Don’t leave tasks “in progress” when taking break</a:t>
            </a:r>
          </a:p>
          <a:p>
            <a:pPr lvl="0" indent="0" marL="0">
              <a:buNone/>
            </a:pPr>
            <a:r>
              <a:rPr b="1"/>
              <a:t>Communication:</a:t>
            </a:r>
            <a:r>
              <a:rPr/>
              <a:t> - Add clear notes for next person in workflow - Document all patient interactions - Use system notifications instead of phone calls when possible</a:t>
            </a:r>
          </a:p>
          <a:p>
            <a:pPr lvl="0" indent="0" marL="0">
              <a:buNone/>
            </a:pPr>
            <a:r>
              <a:rPr b="1"/>
              <a:t>Security:</a:t>
            </a:r>
            <a:r>
              <a:rPr/>
              <a:t> - Lock your screen when stepping away (Windows: Win+L, Mac: Cmd+Ctrl+Q) - Never share your password - Log out at end of shift - Don’t let others use your login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 Better Efficiency</a:t>
            </a:r>
          </a:p>
          <a:p>
            <a:pPr lvl="0" indent="0" marL="0">
              <a:buNone/>
            </a:pPr>
            <a:r>
              <a:rPr b="1"/>
              <a:t>Keyboard Shortcuts:</a:t>
            </a:r>
            <a:r>
              <a:rPr/>
              <a:t> (if implemented) - Ctrl+K: Quick search - Ctrl+N: New patient/record - Ctrl+S: Save - Esc: Close dialog/cancel - Tab: Move to next field</a:t>
            </a:r>
          </a:p>
          <a:p>
            <a:pPr lvl="0" indent="0" marL="0">
              <a:buNone/>
            </a:pPr>
            <a:r>
              <a:rPr b="1"/>
              <a:t>Templates:</a:t>
            </a:r>
            <a:r>
              <a:rPr/>
              <a:t> - Use consultation note templates for common conditions - Create medication favorites for frequently prescribed - Save search filters you use often</a:t>
            </a:r>
          </a:p>
          <a:p>
            <a:pPr lvl="0" indent="0" marL="0">
              <a:buNone/>
            </a:pPr>
            <a:r>
              <a:rPr b="1"/>
              <a:t>Batch Similar Tasks:</a:t>
            </a:r>
            <a:r>
              <a:rPr/>
              <a:t> - Check all notifications at once - Fill multiple prescriptions in sequence - Enter multiple lab results together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Quality</a:t>
            </a:r>
          </a:p>
          <a:p>
            <a:pPr lvl="0" indent="0" marL="0">
              <a:buNone/>
            </a:pPr>
            <a:r>
              <a:rPr b="1"/>
              <a:t>Complete Information:</a:t>
            </a:r>
            <a:r>
              <a:rPr/>
              <a:t> - Fill all required fields - Add additional details when relevant - Update changed information (phone, address, insurance)</a:t>
            </a:r>
          </a:p>
          <a:p>
            <a:pPr lvl="0" indent="0" marL="0">
              <a:buNone/>
            </a:pPr>
            <a:r>
              <a:rPr b="1"/>
              <a:t>Standardized Entries:</a:t>
            </a:r>
            <a:r>
              <a:rPr/>
              <a:t> - Use consistent formats - Select from dropdowns when available - Follow hospital naming conventions</a:t>
            </a:r>
          </a:p>
          <a:p>
            <a:pPr lvl="0" indent="0" marL="0">
              <a:buNone/>
            </a:pPr>
            <a:r>
              <a:rPr b="1"/>
              <a:t>Timely Documentation:</a:t>
            </a:r>
            <a:r>
              <a:rPr/>
              <a:t> - Document as soon as possible - Don’t wait until end of shift - Real-time entry ensures accuracy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Getting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In-App Help</a:t>
            </a:r>
          </a:p>
          <a:p>
            <a:pPr lvl="0" indent="0" marL="0">
              <a:buNone/>
            </a:pPr>
            <a:r>
              <a:rPr b="1"/>
              <a:t>Help Icon:</a:t>
            </a:r>
            <a:r>
              <a:rPr/>
              <a:t> - Click “?” icon in any screen - Context-specific help appears - Explains fields and workflow</a:t>
            </a:r>
          </a:p>
          <a:p>
            <a:pPr lvl="0" indent="0" marL="0">
              <a:buNone/>
            </a:pPr>
            <a:r>
              <a:rPr b="1"/>
              <a:t>Tooltips:</a:t>
            </a:r>
            <a:r>
              <a:rPr/>
              <a:t> - Hover over field labels - Short description appears - Useful for unfamiliar fields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User Guides</a:t>
            </a:r>
          </a:p>
          <a:p>
            <a:pPr lvl="0" indent="0" marL="0">
              <a:buNone/>
            </a:pPr>
            <a:r>
              <a:rPr b="1"/>
              <a:t>Documentation:</a:t>
            </a:r>
            <a:r>
              <a:rPr/>
              <a:t> - Click “Help” from main menu - Access full user guides - Search for specific topics - Download PDF guides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Support Team</a:t>
            </a:r>
          </a:p>
          <a:p>
            <a:pPr lvl="0" indent="0" marL="0">
              <a:buNone/>
            </a:pPr>
            <a:r>
              <a:rPr b="1"/>
              <a:t>During Go-Live (First 30 Days):</a:t>
            </a:r>
            <a:r>
              <a:rPr/>
              <a:t> - On-site support team available - Ask any question, no matter how small - Hands-on assistance provided - Extended hours support</a:t>
            </a:r>
          </a:p>
          <a:p>
            <a:pPr lvl="0" indent="0" marL="0">
              <a:buNone/>
            </a:pPr>
            <a:r>
              <a:rPr b="1"/>
              <a:t>Ongoing Support:</a:t>
            </a:r>
          </a:p>
          <a:p>
            <a:pPr lvl="0" indent="0" marL="0">
              <a:buNone/>
            </a:pPr>
            <a:r>
              <a:rPr b="1"/>
              <a:t>For technical issues:</a:t>
            </a:r>
            <a:r>
              <a:rPr/>
              <a:t> - </a:t>
            </a:r>
            <a:r>
              <a:rPr b="1"/>
              <a:t>IT Help Desk:</a:t>
            </a:r>
            <a:r>
              <a:rPr/>
              <a:t> [phone] or [email] - </a:t>
            </a:r>
            <a:r>
              <a:rPr b="1"/>
              <a:t>Hours:</a:t>
            </a:r>
            <a:r>
              <a:rPr/>
              <a:t> 24/7 - </a:t>
            </a:r>
            <a:r>
              <a:rPr b="1"/>
              <a:t>Response time:</a:t>
            </a:r>
            <a:r>
              <a:rPr/>
              <a:t> &lt; 2 hours</a:t>
            </a:r>
          </a:p>
          <a:p>
            <a:pPr lvl="0" indent="0" marL="0">
              <a:buNone/>
            </a:pPr>
            <a:r>
              <a:rPr b="1"/>
              <a:t>For clinical workflow questions:</a:t>
            </a:r>
            <a:r>
              <a:rPr/>
              <a:t> - </a:t>
            </a:r>
            <a:r>
              <a:rPr b="1"/>
              <a:t>Clinical Super Users:</a:t>
            </a:r>
            <a:r>
              <a:rPr/>
              <a:t> [list of names and extensions] - Your department champion - Training coordinator</a:t>
            </a:r>
          </a:p>
          <a:p>
            <a:pPr lvl="0" indent="0" marL="0">
              <a:buNone/>
            </a:pPr>
            <a:r>
              <a:rPr b="1"/>
              <a:t>For urgent issues:</a:t>
            </a:r>
            <a:r>
              <a:rPr/>
              <a:t> - Use “Report Issue” button in system - Describe problem - Screenshot if possible - Priority escalation for critical issues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Training Resources</a:t>
            </a:r>
          </a:p>
          <a:p>
            <a:pPr lvl="0" indent="0" marL="0">
              <a:buNone/>
            </a:pPr>
            <a:r>
              <a:rPr b="1"/>
              <a:t>Training Portal:</a:t>
            </a:r>
            <a:r>
              <a:rPr/>
              <a:t> - Access at [training-url] - Video tutorials for each role - Step-by-step guides - Practice environment</a:t>
            </a:r>
          </a:p>
          <a:p>
            <a:pPr lvl="0" indent="0" marL="0">
              <a:buNone/>
            </a:pPr>
            <a:r>
              <a:rPr b="1"/>
              <a:t>Regular Training Sessions:</a:t>
            </a:r>
            <a:r>
              <a:rPr/>
              <a:t> - Monthly refresher webinars - New feature training - Advanced tips and tricks - Q&amp;A sessions</a:t>
            </a:r>
          </a:p>
          <a:p>
            <a:pPr lvl="0" indent="0" marL="0">
              <a:buNone/>
            </a:pPr>
            <a:r>
              <a:rPr b="1"/>
              <a:t>Super Users:</a:t>
            </a:r>
            <a:r>
              <a:rPr/>
              <a:t> - Each department has designated super users - Trained in-depth on system - First point of contact for questions - Can assist with common issues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Reference Card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Doctor’s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Queue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→ Consultations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Start Consult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Click patient → Start Consultation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Prescribe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 Prescription → Search drug → Enter details → Save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Order Lab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 Lab Test → Search test → Add details → Submit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Consultation → Select next step (discharge/admit)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Patient chart → Lab Results tab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Nurse’s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Record Vitals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patient → Record Vitals → Enter values → Save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Patients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→ My Patients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Check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Bell icon → View notifications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Patient Chart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patient → Click name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Receptionist’s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New Patient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Register New Patient → Enter details → Save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Check-In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Check-In Patient → Search patient → Verify → Check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Appointment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Appointment → Select patient &amp; doctor → Book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Queue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Queue Status → See all waiting patients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Lab Tech’s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Tests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→ Lab Tests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Sample Collected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Click test → Mark Sample Collected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Enter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Click test → Enter Results → Input values → Save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Approve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results → Approve Results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Pharmacist’s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Rx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→ Prescriptions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Fill Rx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Click prescription → Start Filling → Verify meds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Dispense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Dispense → Verify patient →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Check Stock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Inventory → View stock levels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Billing Quick Guide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View Unbilled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Dashboard → Unbilled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Generate Bill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Select patient → Review services → Generate Bill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Receive Payment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bill → Receive Payment → Enter amount → Submit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Print Receipt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Bill details → Print Receipt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Aboard!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This system is here to make your job easier - Don’t hesitate to ask for help - Provide feedback on what works and what doesn’t - We’re all learning together</a:t>
            </a:r>
          </a:p>
          <a:p>
            <a:pPr lvl="0" indent="0" marL="0">
              <a:buNone/>
            </a:pPr>
            <a:r>
              <a:rPr b="1"/>
              <a:t>Together, we’re improving patient care and making our hospital more efficient!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Support Hotline:</a:t>
            </a:r>
            <a:r>
              <a:rPr/>
              <a:t> [Phone number] </a:t>
            </a:r>
            <a:r>
              <a:rPr b="1"/>
              <a:t>Email:</a:t>
            </a:r>
            <a:r>
              <a:rPr/>
              <a:t> [support@hospital.com] </a:t>
            </a:r>
            <a:r>
              <a:rPr b="1"/>
              <a:t>Training Coordinator:</a:t>
            </a:r>
            <a:r>
              <a:rPr/>
              <a:t> [Name and contact] </a:t>
            </a:r>
            <a:r>
              <a:rPr b="1"/>
              <a:t>IT Help Desk:</a:t>
            </a:r>
            <a:r>
              <a:rPr/>
              <a:t> [Phone and email]</a:t>
            </a:r>
          </a:p>
          <a:p>
            <a:pPr lvl="0" indent="0" marL="0">
              <a:buNone/>
            </a:pPr>
            <a:r>
              <a:rPr b="1"/>
              <a:t>Training Resources:</a:t>
            </a:r>
            <a:r>
              <a:rPr/>
              <a:t> - User Guide Library: [URL] - Video Tutorials: [URL] - Practice Environment: [URL]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Document Version:</a:t>
            </a:r>
            <a:r>
              <a:rPr/>
              <a:t> 1.0 </a:t>
            </a:r>
            <a:r>
              <a:rPr b="1"/>
              <a:t>Last Updated:</a:t>
            </a:r>
            <a:r>
              <a:rPr/>
              <a:t> [Date] </a:t>
            </a:r>
            <a:r>
              <a:rPr b="1"/>
              <a:t>Next Review:</a:t>
            </a:r>
            <a:r>
              <a:rPr/>
              <a:t> [Date]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2025-11-14T12:07:52Z</dcterms:created>
  <dcterms:modified xsi:type="dcterms:W3CDTF">2025-11-14T12:07:52Z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