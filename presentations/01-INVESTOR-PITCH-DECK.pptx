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Hospital Management System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Investor Pitch Deck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Cover Slide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Revolutionizing Hospital Operations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Real-Time Intelligent Hospital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Transforming Healthcare Delivery Through Technology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Hospitals Face Critical Operational Challenges</a:t>
            </a:r>
          </a:p>
          <a:p>
            <a:pPr lvl="0" indent="0" marL="0">
              <a:buNone/>
            </a:pPr>
            <a:r>
              <a:rPr b="1"/>
              <a:t>Inefficiency Costs Lives &amp; Money:</a:t>
            </a:r>
          </a:p>
          <a:p>
            <a:pPr lvl="0"/>
            <a:r>
              <a:rPr b="1"/>
              <a:t>60-90 minutes</a:t>
            </a:r>
            <a:r>
              <a:rPr/>
              <a:t> average patient wait time in emergency departments</a:t>
            </a:r>
          </a:p>
          <a:p>
            <a:pPr lvl="0"/>
            <a:r>
              <a:rPr b="1"/>
              <a:t>$265 billion</a:t>
            </a:r>
            <a:r>
              <a:rPr/>
              <a:t> wasted annually in U.S. healthcare due to administrative inefficiency</a:t>
            </a:r>
          </a:p>
          <a:p>
            <a:pPr lvl="0"/>
            <a:r>
              <a:rPr b="1"/>
              <a:t>25-30%</a:t>
            </a:r>
            <a:r>
              <a:rPr/>
              <a:t> of hospital staff time spent on manual coordination and paperwork</a:t>
            </a:r>
          </a:p>
          <a:p>
            <a:pPr lvl="0"/>
            <a:r>
              <a:rPr b="1"/>
              <a:t>Critical lab results</a:t>
            </a:r>
            <a:r>
              <a:rPr/>
              <a:t> delayed by hours due to manual notification systems</a:t>
            </a:r>
          </a:p>
          <a:p>
            <a:pPr lvl="0"/>
            <a:r>
              <a:rPr b="1"/>
              <a:t>Patient dissatisfaction</a:t>
            </a:r>
            <a:r>
              <a:rPr/>
              <a:t> from lack of visibility into wait times and care status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Real-World Impact:</a:t>
            </a:r>
          </a:p>
          <a:p>
            <a:pPr lvl="0"/>
            <a:r>
              <a:rPr/>
              <a:t>Delayed critical test results can lead to adverse patient outcomes</a:t>
            </a:r>
          </a:p>
          <a:p>
            <a:pPr lvl="0"/>
            <a:r>
              <a:rPr/>
              <a:t>Manual billing processes result in 15-20% revenue leakage</a:t>
            </a:r>
          </a:p>
          <a:p>
            <a:pPr lvl="0"/>
            <a:r>
              <a:rPr/>
              <a:t>Poor queue management causes patient walkouts and lost revenue</a:t>
            </a:r>
          </a:p>
          <a:p>
            <a:pPr lvl="0"/>
            <a:r>
              <a:rPr/>
              <a:t>Disconnected systems require duplicate data entry, increasing errors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Real-Time Hospital Management Platform</a:t>
            </a:r>
          </a:p>
          <a:p>
            <a:pPr lvl="0" indent="0" marL="0">
              <a:buNone/>
            </a:pPr>
            <a:r>
              <a:rPr b="1"/>
              <a:t>Enterprise-grade system that optimizes every aspect of hospital operations: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Core Innovation: Real-Time Workflow Engine</a:t>
            </a:r>
          </a:p>
          <a:p>
            <a:pPr lvl="0"/>
            <a:r>
              <a:rPr b="1"/>
              <a:t>Instant notifications</a:t>
            </a:r>
            <a:r>
              <a:rPr/>
              <a:t> when critical lab values detected</a:t>
            </a:r>
          </a:p>
          <a:p>
            <a:pPr lvl="0"/>
            <a:r>
              <a:rPr b="1"/>
              <a:t>Automated routing</a:t>
            </a:r>
            <a:r>
              <a:rPr/>
              <a:t> of prescriptions, test orders, and billing</a:t>
            </a:r>
          </a:p>
          <a:p>
            <a:pPr lvl="0"/>
            <a:r>
              <a:rPr b="1"/>
              <a:t>Live queue management</a:t>
            </a:r>
            <a:r>
              <a:rPr/>
              <a:t> with priority-based patient flow</a:t>
            </a:r>
          </a:p>
          <a:p>
            <a:pPr lvl="0"/>
            <a:r>
              <a:rPr b="1"/>
              <a:t>Complete visibility</a:t>
            </a:r>
            <a:r>
              <a:rPr/>
              <a:t> into patient journey across all departments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Differentiators: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Real-time over Batch</a:t>
            </a:r>
            <a:r>
              <a:rPr/>
              <a:t> - WebSocket-based instant communication vs. delayed updates ✓ </a:t>
            </a:r>
            <a:r>
              <a:rPr b="1"/>
              <a:t>Intelligent Automation</a:t>
            </a:r>
            <a:r>
              <a:rPr/>
              <a:t> - AI-driven workflow optimization vs. manual processes ✓ </a:t>
            </a:r>
            <a:r>
              <a:rPr b="1"/>
              <a:t>Unified Platform</a:t>
            </a:r>
            <a:r>
              <a:rPr/>
              <a:t> - Single system vs. fragmented point solutions ✓ </a:t>
            </a:r>
            <a:r>
              <a:rPr b="1"/>
              <a:t>Cloud-Native</a:t>
            </a:r>
            <a:r>
              <a:rPr/>
              <a:t> - Scalable modern architecture vs. legacy on-premise systems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4: Product Overview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Comprehensive Hospital Operations Platform</a:t>
            </a:r>
          </a:p>
          <a:p>
            <a:pPr lvl="0" indent="0" marL="0">
              <a:buNone/>
            </a:pPr>
            <a:r>
              <a:rPr b="1"/>
              <a:t>8 Integrated Modules: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 Delivered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Reception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 registration, check-in, queue 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Reduce wait times by 40%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EMR, consultation, prescriptions, test ordering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Save 2 hours/day per physician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Laboratory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management, critical alerts, result distribution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Instant critical result delivery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Pharmacy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Prescription queue, dispensing, inventory alerts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Eliminate stock-outs, 95% fill rate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Radiology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Imaging orders, scheduling, 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Streamline imaging workflow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Billing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 billing, insurance, payment tracking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Reduce revenue leakage by 15%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Analytics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 dashboards, KPIs, reports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Data-driven decision making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Notifications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Role-based alerts, critical notifications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 missed critical results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Technology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Built on Modern, Scalable Architecture</a:t>
            </a:r>
          </a:p>
          <a:p>
            <a:pPr lvl="0" indent="0" marL="0">
              <a:buNone/>
            </a:pPr>
            <a:r>
              <a:rPr b="1"/>
              <a:t>Technology Stack:</a:t>
            </a:r>
          </a:p>
          <a:p>
            <a:pPr lvl="0" indent="0">
              <a:buNone/>
            </a:pPr>
            <a:r>
              <a:rPr>
                <a:latin typeface="Courier"/>
              </a:rPr>
              <a:t>Frontend: React 18 + TypeScript + Material-UI
Backend: Node.js + Express + TypeScript
Database: PostgreSQL 14+ (ACID compliance for medical data)
Real-time: Socket.IO WebSocket Engine
Cache: Redis 7+ for performance</a:t>
            </a:r>
          </a:p>
          <a:p>
            <a:pPr lvl="0" indent="0" marL="0">
              <a:buNone/>
            </a:pPr>
            <a:r>
              <a:rPr b="1"/>
              <a:t>Performance Metrics:</a:t>
            </a:r>
            <a:r>
              <a:rPr/>
              <a:t> - Supports </a:t>
            </a:r>
            <a:r>
              <a:rPr b="1"/>
              <a:t>1,000+ concurrent users</a:t>
            </a:r>
            <a:r>
              <a:rPr/>
              <a:t> - Handles </a:t>
            </a:r>
            <a:r>
              <a:rPr b="1"/>
              <a:t>10,000+ API requests/minute</a:t>
            </a:r>
            <a:r>
              <a:rPr/>
              <a:t> - </a:t>
            </a:r>
            <a:r>
              <a:rPr b="1"/>
              <a:t>&lt;50ms</a:t>
            </a:r>
            <a:r>
              <a:rPr/>
              <a:t> real-time notification delivery - </a:t>
            </a:r>
            <a:r>
              <a:rPr b="1"/>
              <a:t>&lt;200ms</a:t>
            </a:r>
            <a:r>
              <a:rPr/>
              <a:t> authentication response time - </a:t>
            </a:r>
            <a:r>
              <a:rPr b="1"/>
              <a:t>99.9%</a:t>
            </a:r>
            <a:r>
              <a:rPr/>
              <a:t> uptime SLA capability</a:t>
            </a:r>
          </a:p>
          <a:p>
            <a:pPr lvl="0" indent="0" marL="0">
              <a:buNone/>
            </a:pPr>
            <a:r>
              <a:rPr b="1"/>
              <a:t>Security &amp; Compliance:</a:t>
            </a:r>
            <a:r>
              <a:rPr/>
              <a:t> - JWT authentication with role-based access control - HIPAA-compliant data encryption - Comprehensive audit logging - SQL injection &amp; XSS protection - Rate limiting and DDoS protection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$68 Billion Healthcare IT Market Growing at 13.7% CAGR</a:t>
            </a:r>
          </a:p>
          <a:p>
            <a:pPr lvl="0" indent="0" marL="0">
              <a:buNone/>
            </a:pPr>
            <a:r>
              <a:rPr b="1"/>
              <a:t>Total Addressable Market (TAM):</a:t>
            </a:r>
            <a:r>
              <a:rPr/>
              <a:t> - </a:t>
            </a:r>
            <a:r>
              <a:rPr b="1"/>
              <a:t>Hospital Information Systems:</a:t>
            </a:r>
            <a:r>
              <a:rPr/>
              <a:t> $38B global market (2024) - </a:t>
            </a:r>
            <a:r>
              <a:rPr b="1"/>
              <a:t>U.S. Market Alone:</a:t>
            </a:r>
            <a:r>
              <a:rPr/>
              <a:t> $12B annually - </a:t>
            </a:r>
            <a:r>
              <a:rPr b="1"/>
              <a:t>5,000+ hospitals</a:t>
            </a:r>
            <a:r>
              <a:rPr/>
              <a:t> in U.S. seeking digital transformation - </a:t>
            </a:r>
            <a:r>
              <a:rPr b="1"/>
              <a:t>80,000+ hospitals</a:t>
            </a:r>
            <a:r>
              <a:rPr/>
              <a:t> globally as potential customers</a:t>
            </a:r>
          </a:p>
          <a:p>
            <a:pPr lvl="0" indent="0" marL="0">
              <a:buNone/>
            </a:pPr>
            <a:r>
              <a:rPr b="1"/>
              <a:t>Serviceable Addressable Market (SAM):</a:t>
            </a:r>
            <a:r>
              <a:rPr/>
              <a:t> - </a:t>
            </a:r>
            <a:r>
              <a:rPr b="1"/>
              <a:t>Mid-to-large hospitals</a:t>
            </a:r>
            <a:r>
              <a:rPr/>
              <a:t> (200+ beds): 2,500 facilities in U.S. - Average contract value: </a:t>
            </a:r>
            <a:r>
              <a:rPr b="1"/>
              <a:t>$150K-$500K annually</a:t>
            </a:r>
            <a:r>
              <a:rPr/>
              <a:t> - Total SAM: </a:t>
            </a:r>
            <a:r>
              <a:rPr b="1"/>
              <a:t>$375M - $1.25B annually</a:t>
            </a:r>
            <a:r>
              <a:rPr/>
              <a:t> (U.S. only)</a:t>
            </a:r>
          </a:p>
          <a:p>
            <a:pPr lvl="0" indent="0" marL="0">
              <a:buNone/>
            </a:pPr>
            <a:r>
              <a:rPr b="1"/>
              <a:t>Serviceable Obtainable Market (SOM):</a:t>
            </a:r>
            <a:r>
              <a:rPr/>
              <a:t> - Target: </a:t>
            </a:r>
            <a:r>
              <a:rPr b="1"/>
              <a:t>2% market share</a:t>
            </a:r>
            <a:r>
              <a:rPr/>
              <a:t> in 3 years - </a:t>
            </a:r>
            <a:r>
              <a:rPr b="1"/>
              <a:t>50 hospitals</a:t>
            </a:r>
            <a:r>
              <a:rPr/>
              <a:t> in Year 3 - Revenue target: </a:t>
            </a:r>
            <a:r>
              <a:rPr b="1"/>
              <a:t>$7.5M - $25M ARR</a:t>
            </a:r>
          </a:p>
          <a:p>
            <a:pPr lvl="0" indent="0" marL="0">
              <a:buNone/>
            </a:pPr>
            <a:r>
              <a:rPr b="1"/>
              <a:t>Market Drivers:</a:t>
            </a:r>
            <a:r>
              <a:rPr/>
              <a:t> - Mandated EHR adoption (95% of hospitals now digital) - Post-pandemic focus on operational efficiency - Value-based care reimbursement models - Patient experience becoming competitive differentiator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7: Business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SaaS Revenue Model with High Margins</a:t>
            </a:r>
          </a:p>
          <a:p>
            <a:pPr lvl="0" indent="0" marL="0">
              <a:buNone/>
            </a:pPr>
            <a:r>
              <a:rPr b="1"/>
              <a:t>Pricing Tiers: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Hospital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Essential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50-150 beds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$50K/year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modules, 100 users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Professional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150-300 beds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$150K/year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modules, 300 users, analytics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Enterprise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300+ beds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$500K/year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Unlimited users, custom integrations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Revenue Streams:</a:t>
            </a:r>
            <a:r>
              <a:rPr/>
              <a:t> 1. </a:t>
            </a:r>
            <a:r>
              <a:rPr b="1"/>
              <a:t>Subscription Revenue (85%):</a:t>
            </a:r>
            <a:r>
              <a:rPr/>
              <a:t> - Monthly/annual SaaS fees - Predictable recurring revenue</a:t>
            </a:r>
          </a:p>
          <a:p>
            <a:pPr lvl="0" indent="-342900" marL="342900">
              <a:buAutoNum startAt="2" type="arabicPeriod"/>
            </a:pPr>
            <a:r>
              <a:rPr b="1"/>
              <a:t>Implementation Services (10%):</a:t>
            </a:r>
          </a:p>
          <a:p>
            <a:pPr lvl="1"/>
            <a:r>
              <a:rPr/>
              <a:t>One-time setup: $25K-$100K</a:t>
            </a:r>
          </a:p>
          <a:p>
            <a:pPr lvl="1"/>
            <a:r>
              <a:rPr/>
              <a:t>Training and onboarding</a:t>
            </a:r>
          </a:p>
          <a:p>
            <a:pPr lvl="0" indent="-342900" marL="342900">
              <a:buAutoNum startAt="2" type="arabicPeriod"/>
            </a:pPr>
            <a:r>
              <a:rPr b="1"/>
              <a:t>Integration &amp; Customization (5%):</a:t>
            </a:r>
          </a:p>
          <a:p>
            <a:pPr lvl="1"/>
            <a:r>
              <a:rPr/>
              <a:t>API integrations with existing systems</a:t>
            </a:r>
          </a:p>
          <a:p>
            <a:pPr lvl="1"/>
            <a:r>
              <a:rPr/>
              <a:t>Custom feature development</a:t>
            </a:r>
          </a:p>
          <a:p>
            <a:pPr lvl="0" indent="0" marL="0">
              <a:buNone/>
            </a:pPr>
            <a:r>
              <a:rPr b="1"/>
              <a:t>Unit Economics:</a:t>
            </a:r>
            <a:r>
              <a:rPr/>
              <a:t> - </a:t>
            </a:r>
            <a:r>
              <a:rPr b="1"/>
              <a:t>Customer Acquisition Cost (CAC):</a:t>
            </a:r>
            <a:r>
              <a:rPr/>
              <a:t> $15K-$25K - </a:t>
            </a:r>
            <a:r>
              <a:rPr b="1"/>
              <a:t>Lifetime Value (LTV):</a:t>
            </a:r>
            <a:r>
              <a:rPr/>
              <a:t> $450K-$2.5M (3-5 year contracts) - </a:t>
            </a:r>
            <a:r>
              <a:rPr b="1"/>
              <a:t>LTV/CAC Ratio:</a:t>
            </a:r>
            <a:r>
              <a:rPr/>
              <a:t> 18-100x - </a:t>
            </a:r>
            <a:r>
              <a:rPr b="1"/>
              <a:t>Gross Margin:</a:t>
            </a:r>
            <a:r>
              <a:rPr/>
              <a:t> 75-85% (typical SaaS) - </a:t>
            </a:r>
            <a:r>
              <a:rPr b="1"/>
              <a:t>Payback Period:</a:t>
            </a:r>
            <a:r>
              <a:rPr/>
              <a:t> 3-6 months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Multi-Channel Acquisition Strategy</a:t>
            </a:r>
          </a:p>
          <a:p>
            <a:pPr lvl="0" indent="0" marL="0">
              <a:buNone/>
            </a:pPr>
            <a:r>
              <a:rPr b="1"/>
              <a:t>Phase 1: Early Adopters (Months 1-12)</a:t>
            </a:r>
            <a:r>
              <a:rPr/>
              <a:t> - Target 5-10 mid-sized hospitals (200-400 beds) - Direct sales to CIOs and COOs - Offer pilot programs at 50% discount - Build case studies and testimonials</a:t>
            </a:r>
          </a:p>
          <a:p>
            <a:pPr lvl="0" indent="0" marL="0">
              <a:buNone/>
            </a:pPr>
            <a:r>
              <a:rPr b="1"/>
              <a:t>Phase 2: Growth (Months 12-36)</a:t>
            </a:r>
            <a:r>
              <a:rPr/>
              <a:t> - Expand to 50+ hospitals - Partner with hospital networks and GPOs (Group Purchasing Organizations) - Attend HIMSS, MGMA, and regional healthcare conferences - Launch digital marketing (SEO, content marketing, webinars) - Establish partnerships with EMR vendors (Epic, Cerner integration)</a:t>
            </a:r>
          </a:p>
          <a:p>
            <a:pPr lvl="0" indent="0" marL="0">
              <a:buNone/>
            </a:pPr>
            <a:r>
              <a:rPr b="1"/>
              <a:t>Phase 3: Scale (Months 36+)</a:t>
            </a:r>
            <a:r>
              <a:rPr/>
              <a:t> - Enterprise sales team (10+ reps) - Channel partnerships with healthcare consultants - International expansion (Canada, UK, Australia) - White-label opportunities for health systems</a:t>
            </a:r>
          </a:p>
          <a:p>
            <a:pPr lvl="0" indent="0" marL="0">
              <a:buNone/>
            </a:pPr>
            <a:r>
              <a:rPr b="1"/>
              <a:t>Sales Cycle:</a:t>
            </a:r>
            <a:r>
              <a:rPr/>
              <a:t> - Average: 6-9 months for mid-sized hospitals - 12-18 months for large health systems - Decision makers: CIO, COO, CFO, CMIO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9: Competitive Landscape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Differentiation in Crowded Market</a:t>
            </a:r>
          </a:p>
          <a:p>
            <a:pPr lvl="0" indent="0" marL="0">
              <a:buNone/>
            </a:pPr>
            <a:r>
              <a:rPr b="1"/>
              <a:t>Competitors: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Weakness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Advantage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Epic/Cerner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Expensive ($5M+), complex, 18-month implementations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10x lower cost, 30-day implementation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Meditech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Legacy architecture, poor UX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 tech stack, intuitive UI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athenahealth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Focused on billing/RCM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Comprehensive clinical + operational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Point Solutions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Fragmented tools requiring 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Unified platform, zero integration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Open Source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Requires in-house IT team, limited 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Fully managed SaaS, 24/7 support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Competitive Moats:</a:t>
            </a:r>
            <a:r>
              <a:rPr/>
              <a:t> 1. </a:t>
            </a:r>
            <a:r>
              <a:rPr b="1"/>
              <a:t>Real-time Engine:</a:t>
            </a:r>
            <a:r>
              <a:rPr/>
              <a:t> Only solution with &lt;50ms WebSocket notifications 2. </a:t>
            </a:r>
            <a:r>
              <a:rPr b="1"/>
              <a:t>Implementation Speed:</a:t>
            </a:r>
            <a:r>
              <a:rPr/>
              <a:t> 30 days vs. 6-18 months for legacy systems 3. </a:t>
            </a:r>
            <a:r>
              <a:rPr b="1"/>
              <a:t>Total Cost of Ownership:</a:t>
            </a:r>
            <a:r>
              <a:rPr/>
              <a:t> 70% lower than Epic/Cerner 4. </a:t>
            </a:r>
            <a:r>
              <a:rPr b="1"/>
              <a:t>User Experience:</a:t>
            </a:r>
            <a:r>
              <a:rPr/>
              <a:t> Net Promoter Score target of 60+ 5. </a:t>
            </a:r>
            <a:r>
              <a:rPr b="1"/>
              <a:t>Technology Stack:</a:t>
            </a:r>
            <a:r>
              <a:rPr/>
              <a:t> Cloud-native, API-first architecture enabling rapid innovation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10: Traction &amp; Milestones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Product Development Complete - Ready for Market</a:t>
            </a:r>
          </a:p>
          <a:p>
            <a:pPr lvl="0" indent="0" marL="0">
              <a:buNone/>
            </a:pPr>
            <a:r>
              <a:rPr b="1"/>
              <a:t>Current Status:</a:t>
            </a:r>
            <a:r>
              <a:rPr/>
              <a:t> - ✅ </a:t>
            </a:r>
            <a:r>
              <a:rPr b="1"/>
              <a:t>Production-ready MVP</a:t>
            </a:r>
            <a:r>
              <a:rPr/>
              <a:t> with all 8 core modules - ✅ </a:t>
            </a:r>
            <a:r>
              <a:rPr b="1"/>
              <a:t>Scalable architecture</a:t>
            </a:r>
            <a:r>
              <a:rPr/>
              <a:t> supporting 1,000+ concurrent users - ✅ </a:t>
            </a:r>
            <a:r>
              <a:rPr b="1"/>
              <a:t>Security &amp; compliance</a:t>
            </a:r>
            <a:r>
              <a:rPr/>
              <a:t> foundation (HIPAA-ready) - ✅ </a:t>
            </a:r>
            <a:r>
              <a:rPr b="1"/>
              <a:t>Comprehensive documentation</a:t>
            </a:r>
            <a:r>
              <a:rPr/>
              <a:t> and deployment guides</a:t>
            </a:r>
          </a:p>
          <a:p>
            <a:pPr lvl="0" indent="0" marL="0">
              <a:buNone/>
            </a:pPr>
            <a:r>
              <a:rPr b="1"/>
              <a:t>Development Milestones Achieved:</a:t>
            </a:r>
            <a:r>
              <a:rPr/>
              <a:t> - Full-stack implementation (React + Node.js + PostgreSQL) - Real-time notification system (Socket.IO) - Role-based access control for 7 user types - Automated workflow engine - Analytics and reporting dashboard - Mobile-responsive design</a:t>
            </a:r>
          </a:p>
          <a:p>
            <a:pPr lvl="0" indent="0" marL="0">
              <a:buNone/>
            </a:pPr>
            <a:r>
              <a:rPr b="1"/>
              <a:t>Next 12 Months: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 launch with 2 pilot hospitals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paying customers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 refinement, first case studies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customers, $250K ARR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First EMR integration (Epic/Cerner)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customers, $1.5M ARR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Series A fundraise, expand sales team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customers, $4M ARR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24-Month Vision:</a:t>
            </a:r>
            <a:r>
              <a:rPr/>
              <a:t> - 50+ hospital customers - $10M ARR - 90+ NPS score - Series B raise at $80M+ valuation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11: Financial Projections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Path to $25M ARR in 3 Years</a:t>
            </a:r>
          </a:p>
          <a:p>
            <a:pPr lvl="0" indent="0" marL="0">
              <a:buNone/>
            </a:pPr>
            <a:r>
              <a:rPr b="1"/>
              <a:t>Revenue Forecast: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Growth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Year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$1.5M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Year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Year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$18M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Year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$35M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Year 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$60M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Assumptions:</a:t>
            </a:r>
            <a:r>
              <a:rPr/>
              <a:t> - Average contract value: $150K/year (blended) - 90% annual retention rate - 20% annual price increases - 15% upsell/expansion revenue</a:t>
            </a:r>
          </a:p>
          <a:p>
            <a:pPr lvl="0" indent="0" marL="0">
              <a:buNone/>
            </a:pPr>
            <a:r>
              <a:rPr b="1"/>
              <a:t>Cost Structure (Year 1):</a:t>
            </a:r>
            <a:r>
              <a:rPr/>
              <a:t> - R&amp;D / Engineering: 40% ($600K) - Sales &amp; Marketing: 35% ($525K) - Customer Success: 15% ($225K) - G&amp;A: 10% ($150K)</a:t>
            </a:r>
          </a:p>
          <a:p>
            <a:pPr lvl="0" indent="0" marL="0">
              <a:buNone/>
            </a:pPr>
            <a:r>
              <a:rPr b="1"/>
              <a:t>Break-even:</a:t>
            </a:r>
            <a:r>
              <a:rPr/>
              <a:t> Month 18 at 25 customers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12: Use of Funds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Seed Round: $2M to Reach Series A Milestones</a:t>
            </a:r>
          </a:p>
          <a:p>
            <a:pPr lvl="0" indent="0" marL="0">
              <a:buNone/>
            </a:pPr>
            <a:r>
              <a:rPr b="1"/>
              <a:t>Allocation: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Product Development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engineers, UI/UX designer, QA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Sales &amp; 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sales reps, marketing manager, conferences, digital marketing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Customer Success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implementation specialists, support infrastructure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Infrastructure &amp; 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AWS hosting, SaaS tools, security certifications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Operations &amp; Legal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Office, legal, accounting, compliance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18-Month Runway Milestones:</a:t>
            </a:r>
            <a:r>
              <a:rPr/>
              <a:t> - Launch beta program (Month 2) - First 10 paying customers (Month 6) - Epic/Cerner integration (Month 9) - 30 customers, $4M ARR (Month 18) - Series A raise at $20M+ valuation</a:t>
            </a:r>
          </a:p>
          <a:p>
            <a:pPr lvl="0" indent="0" marL="0">
              <a:buNone/>
            </a:pPr>
            <a:r>
              <a:rPr b="1"/>
              <a:t>Key Hires:</a:t>
            </a:r>
            <a:r>
              <a:rPr/>
              <a:t> 1. VP of Sales (Month 2) 2. Customer Success Manager (Month 3) 3. Senior Backend Engineer (Month 4) 4. Senior Frontend Engineer (Month 6) 5. Marketing Manager (Month 8)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Healthcare + Technology Expertise</a:t>
            </a:r>
          </a:p>
          <a:p>
            <a:pPr lvl="0" indent="0" marL="0">
              <a:buNone/>
            </a:pPr>
            <a:r>
              <a:rPr b="1"/>
              <a:t>Founders:</a:t>
            </a:r>
          </a:p>
          <a:p>
            <a:pPr lvl="0" indent="0" marL="0">
              <a:buNone/>
            </a:pPr>
            <a:r>
              <a:rPr b="1"/>
              <a:t>[Your Name] - CEO &amp; Co-Founder</a:t>
            </a:r>
            <a:r>
              <a:rPr/>
              <a:t> - [Add your background - ideally healthcare + tech experience] - Previous: [Company/Role] - Education: [Degree/University]</a:t>
            </a:r>
          </a:p>
          <a:p>
            <a:pPr lvl="0" indent="0" marL="0">
              <a:buNone/>
            </a:pPr>
            <a:r>
              <a:rPr b="1"/>
              <a:t>[Co-Founder Name] - CTO &amp; Co-Founder</a:t>
            </a:r>
            <a:r>
              <a:rPr/>
              <a:t> </a:t>
            </a:r>
            <a:r>
              <a:rPr i="1"/>
              <a:t>(if applicable)</a:t>
            </a:r>
            <a:r>
              <a:rPr/>
              <a:t> - [Tech leadership background] - Previous: [Company/Role] - Built scalable systems for [industry]</a:t>
            </a:r>
          </a:p>
          <a:p>
            <a:pPr lvl="0" indent="0" marL="0">
              <a:buNone/>
            </a:pPr>
            <a:r>
              <a:rPr b="1"/>
              <a:t>Advisory Board:</a:t>
            </a:r>
            <a:r>
              <a:rPr/>
              <a:t> - </a:t>
            </a:r>
            <a:r>
              <a:rPr b="1"/>
              <a:t>Dr. [Name]</a:t>
            </a:r>
            <a:r>
              <a:rPr/>
              <a:t> - Chief Medical Officer, [Hospital] - Clinical workflows expertise - </a:t>
            </a:r>
            <a:r>
              <a:rPr b="1"/>
              <a:t>[Name]</a:t>
            </a:r>
            <a:r>
              <a:rPr/>
              <a:t> - Former CIO, [Health System] - Healthcare IT procurement - </a:t>
            </a:r>
            <a:r>
              <a:rPr b="1"/>
              <a:t>[Name]</a:t>
            </a:r>
            <a:r>
              <a:rPr/>
              <a:t> - Healthcare investor, [Fund] - Go-to-market strategy</a:t>
            </a:r>
          </a:p>
          <a:p>
            <a:pPr lvl="0" indent="0" marL="0">
              <a:buNone/>
            </a:pPr>
            <a:r>
              <a:rPr b="1"/>
              <a:t>Why We’ll Win:</a:t>
            </a:r>
            <a:r>
              <a:rPr/>
              <a:t> - Deep understanding of hospital operations and pain points - Proven ability to ship production-grade healthcare software - Network of healthcare executives for customer development - Technical expertise in real-time systems and scalable architecture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Investment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Invest Now?</a:t>
            </a:r>
          </a:p>
          <a:p>
            <a:pPr lvl="0" indent="0" marL="0">
              <a:buNone/>
            </a:pPr>
            <a:r>
              <a:rPr b="1"/>
              <a:t>1. Large Growing Market</a:t>
            </a:r>
            <a:r>
              <a:rPr/>
              <a:t> - $68B healthcare IT market growing at 13.7% CAGR - Accelerated by pandemic and digital transformation mandates</a:t>
            </a:r>
          </a:p>
          <a:p>
            <a:pPr lvl="0" indent="0" marL="0">
              <a:buNone/>
            </a:pPr>
            <a:r>
              <a:rPr b="1"/>
              <a:t>2. Product-Market Fit Validation</a:t>
            </a:r>
            <a:r>
              <a:rPr/>
              <a:t> - Production-ready platform addressing validated pain points - Built based on direct hospital feedback and workflows</a:t>
            </a:r>
          </a:p>
          <a:p>
            <a:pPr lvl="0" indent="0" marL="0">
              <a:buNone/>
            </a:pPr>
            <a:r>
              <a:rPr b="1"/>
              <a:t>3. Massive Cost Advantage</a:t>
            </a:r>
            <a:r>
              <a:rPr/>
              <a:t> - 10x cheaper than Epic/Cerner - 20x faster implementation (30 days vs. 18 months)</a:t>
            </a:r>
          </a:p>
          <a:p>
            <a:pPr lvl="0" indent="0" marL="0">
              <a:buNone/>
            </a:pPr>
            <a:r>
              <a:rPr b="1"/>
              <a:t>4. Recurring Revenue Model</a:t>
            </a:r>
            <a:r>
              <a:rPr/>
              <a:t> - SaaS model with 90%+ retention potential - High switching costs once implemented - LTV/CAC ratio of 18-100x</a:t>
            </a:r>
          </a:p>
          <a:p>
            <a:pPr lvl="0" indent="0" marL="0">
              <a:buNone/>
            </a:pPr>
            <a:r>
              <a:rPr b="1"/>
              <a:t>5. Scalable Technology</a:t>
            </a:r>
            <a:r>
              <a:rPr/>
              <a:t> - Cloud-native architecture enabling rapid growth - API-first design for easy integrations - Modern stack attracting top engineering talent</a:t>
            </a:r>
          </a:p>
          <a:p>
            <a:pPr lvl="0" indent="0" marL="0">
              <a:buNone/>
            </a:pPr>
            <a:r>
              <a:rPr b="1"/>
              <a:t>6. Clear Path to Exit</a:t>
            </a:r>
            <a:r>
              <a:rPr/>
              <a:t> - Acquisition targets: Epic, Cerner (Oracle), Philips, GE Healthcare - IPO potential with $100M+ ARR - Comparable exits: Phreesia ($1.7B), Veradigm ($1B+), NextGen ($750M)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Seed Round: $2 Million</a:t>
            </a:r>
          </a:p>
          <a:p>
            <a:pPr lvl="0" indent="0" marL="0">
              <a:buNone/>
            </a:pPr>
            <a:r>
              <a:rPr b="1"/>
              <a:t>Terms:</a:t>
            </a:r>
            <a:r>
              <a:rPr/>
              <a:t> - Raising: </a:t>
            </a:r>
            <a:r>
              <a:rPr b="1"/>
              <a:t>$2M Seed Round</a:t>
            </a:r>
            <a:r>
              <a:rPr/>
              <a:t> - Valuation: </a:t>
            </a:r>
            <a:r>
              <a:rPr b="1"/>
              <a:t>$8M post-money</a:t>
            </a:r>
            <a:r>
              <a:rPr/>
              <a:t> (negotiable) - Use of Funds: 18-month runway to Series A - Series A Target: $8-10M at $30-40M valuation</a:t>
            </a:r>
          </a:p>
          <a:p>
            <a:pPr lvl="0" indent="0" marL="0">
              <a:buNone/>
            </a:pPr>
            <a:r>
              <a:rPr b="1"/>
              <a:t>What You Get:</a:t>
            </a:r>
            <a:r>
              <a:rPr/>
              <a:t> - Equity stake in high-growth healthcare SaaS company - Quarterly board updates and financial reporting - Advisory role in strategic direction - Access to healthcare network for customer introductions</a:t>
            </a:r>
          </a:p>
          <a:p>
            <a:pPr lvl="0" indent="0" marL="0">
              <a:buNone/>
            </a:pPr>
            <a:r>
              <a:rPr b="1"/>
              <a:t>Expected Returns:</a:t>
            </a:r>
            <a:r>
              <a:rPr/>
              <a:t> - </a:t>
            </a:r>
            <a:r>
              <a:rPr b="1"/>
              <a:t>Year 3 Exit Scenario ($100M acquisition):</a:t>
            </a:r>
            <a:r>
              <a:rPr/>
              <a:t> 12.5x return - </a:t>
            </a:r>
            <a:r>
              <a:rPr b="1"/>
              <a:t>Year 5 Exit Scenario ($250M acquisition):</a:t>
            </a:r>
            <a:r>
              <a:rPr/>
              <a:t> 31x return - </a:t>
            </a:r>
            <a:r>
              <a:rPr b="1"/>
              <a:t>Year 7 IPO Scenario ($500M+ valuation):</a:t>
            </a:r>
            <a:r>
              <a:rPr/>
              <a:t> 62x+ return</a:t>
            </a:r>
          </a:p>
          <a:p>
            <a:pPr lvl="0" indent="0" marL="0">
              <a:buNone/>
            </a:pPr>
            <a:r>
              <a:rPr b="1"/>
              <a:t>Next Steps:</a:t>
            </a:r>
            <a:r>
              <a:rPr/>
              <a:t> 1. </a:t>
            </a:r>
            <a:r>
              <a:rPr b="1"/>
              <a:t>Sign NDA</a:t>
            </a:r>
            <a:r>
              <a:rPr/>
              <a:t> and review detailed financial model 2. </a:t>
            </a:r>
            <a:r>
              <a:rPr b="1"/>
              <a:t>Meet with pilot hospital partners</a:t>
            </a:r>
            <a:r>
              <a:rPr/>
              <a:t> for validation 3. </a:t>
            </a:r>
            <a:r>
              <a:rPr b="1"/>
              <a:t>Technical due diligence</a:t>
            </a:r>
            <a:r>
              <a:rPr/>
              <a:t> - review codebase and architecture 4. </a:t>
            </a:r>
            <a:r>
              <a:rPr b="1"/>
              <a:t>Term sheet</a:t>
            </a:r>
            <a:r>
              <a:rPr/>
              <a:t> within 2 weeks of technical review 5. </a:t>
            </a:r>
            <a:r>
              <a:rPr b="1"/>
              <a:t>Close</a:t>
            </a:r>
            <a:r>
              <a:rPr/>
              <a:t> within 45 days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16: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Let’s Transform Healthcare Together</a:t>
            </a:r>
          </a:p>
          <a:p>
            <a:pPr lvl="0" indent="0" marL="0">
              <a:buNone/>
            </a:pPr>
            <a:r>
              <a:rPr b="1"/>
              <a:t>Contact Information:</a:t>
            </a:r>
          </a:p>
          <a:p>
            <a:pPr lvl="0" indent="0" marL="0">
              <a:buNone/>
            </a:pPr>
            <a:r>
              <a:rPr/>
              <a:t>📧 </a:t>
            </a:r>
            <a:r>
              <a:rPr b="1"/>
              <a:t>Email:</a:t>
            </a:r>
            <a:r>
              <a:rPr/>
              <a:t> [your-email@company.com] 📱 </a:t>
            </a:r>
            <a:r>
              <a:rPr b="1"/>
              <a:t>Phone:</a:t>
            </a:r>
            <a:r>
              <a:rPr/>
              <a:t> [your-phone-number] 🌐 </a:t>
            </a:r>
            <a:r>
              <a:rPr b="1"/>
              <a:t>Website:</a:t>
            </a:r>
            <a:r>
              <a:rPr/>
              <a:t> [www.your-company.com] 💼 </a:t>
            </a:r>
            <a:r>
              <a:rPr b="1"/>
              <a:t>LinkedIn:</a:t>
            </a:r>
            <a:r>
              <a:rPr/>
              <a:t> [linkedin.com/in/your-profile]</a:t>
            </a:r>
          </a:p>
          <a:p>
            <a:pPr lvl="0" indent="0" marL="0">
              <a:buNone/>
            </a:pPr>
            <a:r>
              <a:rPr b="1"/>
              <a:t>Demo Access:</a:t>
            </a:r>
            <a:r>
              <a:rPr/>
              <a:t> - Live demo available at: [demo.your-company.com] - Username: demo@hospital.com - Password: [demo-password]</a:t>
            </a:r>
          </a:p>
          <a:p>
            <a:pPr lvl="0" indent="0" marL="0">
              <a:buNone/>
            </a:pPr>
            <a:r>
              <a:rPr b="1"/>
              <a:t>Resources:</a:t>
            </a:r>
            <a:r>
              <a:rPr/>
              <a:t> - Product Demo Video: [link] - Technical Whitepaper: [link] - Customer Case Studies: [link] - Financial Model: [link to data room]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Questions?</a:t>
            </a:r>
          </a:p>
          <a:p>
            <a:pPr lvl="0" indent="0" marL="0">
              <a:buNone/>
            </a:pPr>
            <a:r>
              <a:rPr b="1"/>
              <a:t>We’re building the future of hospital operations.</a:t>
            </a:r>
          </a:p>
          <a:p>
            <a:pPr lvl="0" indent="0" marL="0">
              <a:buNone/>
            </a:pPr>
            <a:r>
              <a:rPr b="1"/>
              <a:t>Join us in transforming healthcare delivery.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Additional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A1: Detailed Feature List</a:t>
            </a:r>
          </a:p>
          <a:p>
            <a:pPr lvl="0" indent="0" marL="0">
              <a:buNone/>
            </a:pPr>
            <a:r>
              <a:rPr b="1"/>
              <a:t>Patient Management:</a:t>
            </a:r>
            <a:r>
              <a:rPr/>
              <a:t> - Electronic Medical Records (EMR) - Patient registration with unique ID - Medical history tracking - Insurance and billing information - Emergency contact management - Visit history and care timeline</a:t>
            </a:r>
          </a:p>
          <a:p>
            <a:pPr lvl="0" indent="0" marL="0">
              <a:buNone/>
            </a:pPr>
            <a:r>
              <a:rPr b="1"/>
              <a:t>Clinical Workflows:</a:t>
            </a:r>
            <a:r>
              <a:rPr/>
              <a:t> - Real-time patient queue with priority levels - Doctor consultation interface - Vital signs recording (BP, temp, pulse, etc.) - Electronic prescription generation - Lab test ordering with auto-routing - Radiology/imaging test ordering - Critical result auto-alerts</a:t>
            </a:r>
          </a:p>
          <a:p>
            <a:pPr lvl="0" indent="0" marL="0">
              <a:buNone/>
            </a:pPr>
            <a:r>
              <a:rPr b="1"/>
              <a:t>Laboratory Module:</a:t>
            </a:r>
            <a:r>
              <a:rPr/>
              <a:t> - Test order management - Sample tracking - Result entry with validation - Critical value detection and alerts - Automated result distribution - Quality control tracking</a:t>
            </a:r>
          </a:p>
          <a:p>
            <a:pPr lvl="0" indent="0" marL="0">
              <a:buNone/>
            </a:pPr>
            <a:r>
              <a:rPr b="1"/>
              <a:t>Pharmacy Module:</a:t>
            </a:r>
            <a:r>
              <a:rPr/>
              <a:t> - Prescription queue management - Medication dispensing workflow - Inventory management - Low-stock alerts - Drug interaction checking (roadmap) - Controlled substance tracking (roadmap)</a:t>
            </a:r>
          </a:p>
          <a:p>
            <a:pPr lvl="0" indent="0" marL="0">
              <a:buNone/>
            </a:pPr>
            <a:r>
              <a:rPr b="1"/>
              <a:t>Billing &amp; Revenue Cycle:</a:t>
            </a:r>
            <a:r>
              <a:rPr/>
              <a:t> - Automated bill generation - Insurance claim processing - Payment processing (cash, card, insurance) - Outstanding payment tracking - Revenue analytics - Write-off management</a:t>
            </a:r>
          </a:p>
          <a:p>
            <a:pPr lvl="0" indent="0" marL="0">
              <a:buNone/>
            </a:pPr>
            <a:r>
              <a:rPr b="1"/>
              <a:t>Analytics &amp; Reporting:</a:t>
            </a:r>
            <a:r>
              <a:rPr/>
              <a:t> - Real-time dashboard with KPIs - Patient flow analytics - Department performance metrics - Wait time analysis - Revenue reporting - Custom report builder (roadmap)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A2: Implementation Timeline</a:t>
            </a:r>
          </a:p>
          <a:p>
            <a:pPr lvl="0" indent="0" marL="0">
              <a:buNone/>
            </a:pPr>
            <a:r>
              <a:rPr b="1"/>
              <a:t>30-Day Implementation Process:</a:t>
            </a:r>
          </a:p>
          <a:p>
            <a:pPr lvl="0" indent="0" marL="0">
              <a:buNone/>
            </a:pPr>
            <a:r>
              <a:rPr b="1"/>
              <a:t>Week 1: Discovery &amp; Setup</a:t>
            </a:r>
            <a:r>
              <a:rPr/>
              <a:t> - Kickoff meeting with stakeholders - Infrastructure setup (cloud hosting) - Data migration planning - User role definition</a:t>
            </a:r>
          </a:p>
          <a:p>
            <a:pPr lvl="0" indent="0" marL="0">
              <a:buNone/>
            </a:pPr>
            <a:r>
              <a:rPr b="1"/>
              <a:t>Week 2: Configuration</a:t>
            </a:r>
            <a:r>
              <a:rPr/>
              <a:t> - System configuration - Department setup - User account creation - Workflow customization</a:t>
            </a:r>
          </a:p>
          <a:p>
            <a:pPr lvl="0" indent="0" marL="0">
              <a:buNone/>
            </a:pPr>
            <a:r>
              <a:rPr b="1"/>
              <a:t>Week 3: Training</a:t>
            </a:r>
            <a:r>
              <a:rPr/>
              <a:t> - Admin training (2 days) - Staff training by department (3 days) - Train-the-trainer sessions - Documentation handoff</a:t>
            </a:r>
          </a:p>
          <a:p>
            <a:pPr lvl="0" indent="0" marL="0">
              <a:buNone/>
            </a:pPr>
            <a:r>
              <a:rPr b="1"/>
              <a:t>Week 4: Go-Live</a:t>
            </a:r>
            <a:r>
              <a:rPr/>
              <a:t> - Parallel run with legacy system - Go-live support (24/7) - Issue resolution - Performance optimization</a:t>
            </a:r>
          </a:p>
          <a:p>
            <a:pPr lvl="0" indent="0" marL="0">
              <a:buNone/>
            </a:pPr>
            <a:r>
              <a:rPr b="1"/>
              <a:t>Post-Implementation:</a:t>
            </a:r>
            <a:r>
              <a:rPr/>
              <a:t> - Weekly check-ins (Month 1) - Monthly business reviews - Continuous support and updates - Quarterly feature releases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A3: Security &amp; Compliance</a:t>
            </a:r>
          </a:p>
          <a:p>
            <a:pPr lvl="0" indent="0" marL="0">
              <a:buNone/>
            </a:pPr>
            <a:r>
              <a:rPr b="1"/>
              <a:t>Data Security:</a:t>
            </a:r>
            <a:r>
              <a:rPr/>
              <a:t> - AES-256 encryption at rest - TLS 1.3 encryption in transit - JWT token-based authentication - Role-based access control (RBAC) - Session timeout and management - Password complexity requirements - Two-factor authentication (roadmap)</a:t>
            </a:r>
          </a:p>
          <a:p>
            <a:pPr lvl="0" indent="0" marL="0">
              <a:buNone/>
            </a:pPr>
            <a:r>
              <a:rPr b="1"/>
              <a:t>Compliance:</a:t>
            </a:r>
            <a:r>
              <a:rPr/>
              <a:t> - HIPAA compliance ready - HITECH Act alignment - SOC 2 Type II (planned) - GDPR ready for international - Regular security audits - Penetration testing</a:t>
            </a:r>
          </a:p>
          <a:p>
            <a:pPr lvl="0" indent="0" marL="0">
              <a:buNone/>
            </a:pPr>
            <a:r>
              <a:rPr b="1"/>
              <a:t>Data Privacy:</a:t>
            </a:r>
            <a:r>
              <a:rPr/>
              <a:t> - Patient consent management - Access audit logging - Data retention policies - Right to be forgotten support - Data export capabilities - Breach notification procedures</a:t>
            </a:r>
          </a:p>
          <a:p>
            <a:pPr lvl="0" indent="0" marL="0">
              <a:buNone/>
            </a:pPr>
            <a:r>
              <a:rPr b="1"/>
              <a:t>Business Continuity:</a:t>
            </a:r>
            <a:r>
              <a:rPr/>
              <a:t> - 99.9% uptime SLA - Automated backups (every 6 hours) - Point-in-time recovery - Disaster recovery plan - Geographic redundancy (roadmap) - RTO: 4 hours, RPO: 1 hour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A4: Customer Success</a:t>
            </a:r>
          </a:p>
          <a:p>
            <a:pPr lvl="0" indent="0" marL="0">
              <a:buNone/>
            </a:pPr>
            <a:r>
              <a:rPr b="1"/>
              <a:t>Onboarding:</a:t>
            </a:r>
            <a:r>
              <a:rPr/>
              <a:t> - Dedicated implementation manager - Customized training program - 24/7 go-live support - Data migration assistance</a:t>
            </a:r>
          </a:p>
          <a:p>
            <a:pPr lvl="0" indent="0" marL="0">
              <a:buNone/>
            </a:pPr>
            <a:r>
              <a:rPr b="1"/>
              <a:t>Ongoing Support:</a:t>
            </a:r>
            <a:r>
              <a:rPr/>
              <a:t> - 24/7 technical support - Average response time: &lt;2 hours - Quarterly business reviews - Regular product updates - Feature request process</a:t>
            </a:r>
          </a:p>
          <a:p>
            <a:pPr lvl="0" indent="0" marL="0">
              <a:buNone/>
            </a:pPr>
            <a:r>
              <a:rPr b="1"/>
              <a:t>Success Metrics:</a:t>
            </a:r>
            <a:r>
              <a:rPr/>
              <a:t> - 95%+ user adoption rate - 60+ Net Promoter Score - &lt;5% annual churn rate - 90%+ on-time implementation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A5: Roadmap (Next 18 Months)</a:t>
            </a:r>
          </a:p>
          <a:p>
            <a:pPr lvl="0" indent="0" marL="0">
              <a:buNone/>
            </a:pPr>
            <a:r>
              <a:rPr b="1"/>
              <a:t>Q1 2024:</a:t>
            </a:r>
            <a:r>
              <a:rPr/>
              <a:t> - Mobile app (iOS/Android) for doctors - Epic integration (ADT, orders, results) - Advanced analytics with AI predictions</a:t>
            </a:r>
          </a:p>
          <a:p>
            <a:pPr lvl="0" indent="0" marL="0">
              <a:buNone/>
            </a:pPr>
            <a:r>
              <a:rPr b="1"/>
              <a:t>Q2 2024:</a:t>
            </a:r>
            <a:r>
              <a:rPr/>
              <a:t> - Telemedicine module - Patient portal and mobile app - Cerner integration</a:t>
            </a:r>
          </a:p>
          <a:p>
            <a:pPr lvl="0" indent="0" marL="0">
              <a:buNone/>
            </a:pPr>
            <a:r>
              <a:rPr b="1"/>
              <a:t>Q3 2024:</a:t>
            </a:r>
            <a:r>
              <a:rPr/>
              <a:t> - AI-powered diagnosis assistance - Predictive analytics for readmissions - Population health management</a:t>
            </a:r>
          </a:p>
          <a:p>
            <a:pPr lvl="0" indent="0" marL="0">
              <a:buNone/>
            </a:pPr>
            <a:r>
              <a:rPr b="1"/>
              <a:t>Q4 2024:</a:t>
            </a:r>
            <a:r>
              <a:rPr/>
              <a:t> - Supply chain management - Operating room scheduling - Bed management system</a:t>
            </a:r>
          </a:p>
          <a:p>
            <a:pPr lvl="0" indent="0" marL="0">
              <a:buNone/>
            </a:pPr>
            <a:r>
              <a:rPr b="1"/>
              <a:t>2025:</a:t>
            </a:r>
            <a:r>
              <a:rPr/>
              <a:t> - International expansion - Multi-language support - Advanced AI/ML features - Voice-enabled workflows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2025-11-14T12:07:26Z</dcterms:created>
  <dcterms:modified xsi:type="dcterms:W3CDTF">2025-11-14T12:07:26Z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