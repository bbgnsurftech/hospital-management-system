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Revolutionizing Hospital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3F4F6"/>
                </a:solidFill>
              </a:defRPr>
            </a:pPr>
            <a:r>
              <a:t>Real-Time Intelligent Hospital Management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Problem: Hospitals Face Critical Inefficiencies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011680" cy="164592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60-90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2011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F2937"/>
                </a:solidFill>
              </a:defRPr>
            </a:pPr>
            <a:r>
              <a:t>Average ED Wait Time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371600"/>
            <a:ext cx="2011680" cy="164592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$265B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3108960"/>
            <a:ext cx="2011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F2937"/>
                </a:solidFill>
              </a:defRPr>
            </a:pPr>
            <a:r>
              <a:t>Wasted Annually in 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371600"/>
            <a:ext cx="2011680" cy="164592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25-30%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108960"/>
            <a:ext cx="2011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F2937"/>
                </a:solidFill>
              </a:defRPr>
            </a:pPr>
            <a:r>
              <a:t>Staff Time on Paperwork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0" y="1371600"/>
            <a:ext cx="2011680" cy="164592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Hours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3108960"/>
            <a:ext cx="2011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1F2937"/>
                </a:solidFill>
              </a:defRPr>
            </a:pPr>
            <a:r>
              <a:t>Critical Result Delays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3192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1F2937"/>
                </a:solidFill>
              </a:defRPr>
            </a:pPr>
            <a:r>
              <a:t>Delayed critical test results lead to adverse patient outcomes</a:t>
            </a:r>
          </a:p>
          <a:p>
            <a:pPr>
              <a:spcAft>
                <a:spcPts val="1200"/>
              </a:spcAft>
              <a:defRPr sz="1400">
                <a:solidFill>
                  <a:srgbClr val="1F2937"/>
                </a:solidFill>
              </a:defRPr>
            </a:pPr>
            <a:r>
              <a:t>Manual billing processes result in 15-20% revenue leakage</a:t>
            </a:r>
          </a:p>
          <a:p>
            <a:pPr>
              <a:spcAft>
                <a:spcPts val="1200"/>
              </a:spcAft>
              <a:defRPr sz="1400">
                <a:solidFill>
                  <a:srgbClr val="1F2937"/>
                </a:solidFill>
              </a:defRPr>
            </a:pPr>
            <a:r>
              <a:t>Poor queue management causes patient walkouts and lost revenue</a:t>
            </a:r>
          </a:p>
          <a:p>
            <a:pPr>
              <a:spcAft>
                <a:spcPts val="1200"/>
              </a:spcAft>
              <a:defRPr sz="1400">
                <a:solidFill>
                  <a:srgbClr val="1F2937"/>
                </a:solidFill>
              </a:defRPr>
            </a:pPr>
            <a:r>
              <a:t>Disconnected systems require duplicate data entry, increasing errors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Solution: Real-Time Hospital Management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10972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E3A8A"/>
                </a:solidFill>
              </a:defRPr>
            </a:pPr>
            <a:r>
              <a:t>Enterprise-grade system that optimizes every aspect of hospital operations through real-time workflow automation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78892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Real-Time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1F2937"/>
                </a:solidFill>
              </a:defRPr>
            </a:pPr>
            <a:r>
              <a:t>WebSocket-based instant notifications (&lt;50ms) vs. delayed batch updates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61188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Intelligent Automation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1F2937"/>
                </a:solidFill>
              </a:defRPr>
            </a:pPr>
            <a:r>
              <a:t>AI-driven workflow optimization vs. manual processes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43484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8912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Unified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66344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1F2937"/>
                </a:solidFill>
              </a:defRPr>
            </a:pPr>
            <a:r>
              <a:t>Single integrated system vs. fragmented point solutions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525780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Modern 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48640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1F2937"/>
                </a:solidFill>
              </a:defRPr>
            </a:pPr>
            <a:r>
              <a:t>Cloud-native, scalable vs. legacy on-premise systems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Product Overview: 8 Integrated Modules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4114800" cy="118872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3749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Reception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F2937"/>
                </a:solidFill>
              </a:defRPr>
            </a:pPr>
            <a:r>
              <a:t>Patient registration, check-in, queue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3749039" cy="228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✓ 40% wait time reduction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697480"/>
            <a:ext cx="4114800" cy="118872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3749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Doctor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F2937"/>
                </a:solidFill>
              </a:defRPr>
            </a:pPr>
            <a:r>
              <a:t>EMR, consultations, prescriptions, test ordering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66160"/>
            <a:ext cx="3749039" cy="228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✓ 2 hrs/day saved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23360"/>
            <a:ext cx="4114800" cy="118872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160520"/>
            <a:ext cx="3749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Laboratory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8056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F2937"/>
                </a:solidFill>
              </a:defRPr>
            </a:pPr>
            <a:r>
              <a:t>Test management, critical alerts, results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892040"/>
            <a:ext cx="3749039" cy="228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✓ Instant critical delivery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49240"/>
            <a:ext cx="4114800" cy="118872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486400"/>
            <a:ext cx="3749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Pharmacy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F2937"/>
                </a:solidFill>
              </a:defRPr>
            </a:pPr>
            <a:r>
              <a:t>Prescription queue, dispensing, inventory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6217920"/>
            <a:ext cx="3749039" cy="228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✓ 95% fill rate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1371600"/>
            <a:ext cx="4114800" cy="118872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1508760"/>
            <a:ext cx="3749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Radiology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182880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F2937"/>
                </a:solidFill>
              </a:defRPr>
            </a:pPr>
            <a:r>
              <a:t>Imaging orders, scheduling, reporting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2240280"/>
            <a:ext cx="3749039" cy="228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✓ Streamlined workflow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46320" y="2697480"/>
            <a:ext cx="4114800" cy="118872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0" y="2834640"/>
            <a:ext cx="3749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Billing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315468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F2937"/>
                </a:solidFill>
              </a:defRPr>
            </a:pPr>
            <a:r>
              <a:t>Automated billing, insurance, payments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0" y="3566160"/>
            <a:ext cx="3749039" cy="228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✓ 15% revenue recovery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46320" y="4023360"/>
            <a:ext cx="4114800" cy="118872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0" y="4160520"/>
            <a:ext cx="3749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Analytics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48056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F2937"/>
                </a:solidFill>
              </a:defRPr>
            </a:pPr>
            <a:r>
              <a:t>Real-time dashboards, KPIs, reports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0" y="4892040"/>
            <a:ext cx="3749039" cy="228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✓ Data-driven decisions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46320" y="5349240"/>
            <a:ext cx="4114800" cy="118872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0" y="5486400"/>
            <a:ext cx="3749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Notifications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580644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F2937"/>
                </a:solidFill>
              </a:defRPr>
            </a:pPr>
            <a:r>
              <a:t>Role-based alerts, critical notifications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0" y="6217920"/>
            <a:ext cx="3749039" cy="228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✓ Zero missed results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Market Opportunity: $68B Healthcare IT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3657600" cy="1371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7200" b="1">
                <a:solidFill>
                  <a:srgbClr val="3B82F6"/>
                </a:solidFill>
              </a:defRPr>
            </a:pPr>
            <a:r>
              <a:t>$68B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</a:defRPr>
            </a:pPr>
            <a:r>
              <a:t>Growing at 13.7% CAGR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371600"/>
            <a:ext cx="731520" cy="73152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371600"/>
            <a:ext cx="3200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Total Addressable Market</a:t>
            </a:r>
          </a:p>
          <a:p>
            <a:pPr>
              <a:defRPr sz="1800" b="1">
                <a:solidFill>
                  <a:srgbClr val="3B82F6"/>
                </a:solidFill>
              </a:defRPr>
            </a:pPr>
            <a:r>
              <a:t>$38B</a:t>
            </a:r>
          </a:p>
          <a:p>
            <a:pPr>
              <a:defRPr sz="1000">
                <a:solidFill>
                  <a:srgbClr val="1F2937"/>
                </a:solidFill>
              </a:defRPr>
            </a:pPr>
            <a:r>
              <a:t>Hospital Information Systems Global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926080"/>
            <a:ext cx="731520" cy="73152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926080"/>
            <a:ext cx="3200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Serviceable Addressable Market</a:t>
            </a:r>
          </a:p>
          <a:p>
            <a:pPr>
              <a:defRPr sz="1800" b="1">
                <a:solidFill>
                  <a:srgbClr val="3B82F6"/>
                </a:solidFill>
              </a:defRPr>
            </a:pPr>
            <a:r>
              <a:t>$375M - $1.25B</a:t>
            </a:r>
          </a:p>
          <a:p>
            <a:pPr>
              <a:defRPr sz="1000">
                <a:solidFill>
                  <a:srgbClr val="1F2937"/>
                </a:solidFill>
              </a:defRPr>
            </a:pPr>
            <a:r>
              <a:t>Mid-to-large US hospitals (200+ beds)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4480560"/>
            <a:ext cx="731520" cy="73152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4480560"/>
            <a:ext cx="3200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Serviceable Obtainable Market</a:t>
            </a:r>
          </a:p>
          <a:p>
            <a:pPr>
              <a:defRPr sz="1800" b="1">
                <a:solidFill>
                  <a:srgbClr val="3B82F6"/>
                </a:solidFill>
              </a:defRPr>
            </a:pPr>
            <a:r>
              <a:t>$7.5M - $25M</a:t>
            </a:r>
          </a:p>
          <a:p>
            <a:pPr>
              <a:defRPr sz="1000">
                <a:solidFill>
                  <a:srgbClr val="1F2937"/>
                </a:solidFill>
              </a:defRPr>
            </a:pPr>
            <a:r>
              <a:t>2% market share in 3 years (50 hospitals)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Market Drivers: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1F2937"/>
                </a:solidFill>
              </a:defRPr>
            </a:pPr>
            <a:r>
              <a:t>Mandated EHR adoption (95% of hospitals now digital)</a:t>
            </a:r>
          </a:p>
          <a:p>
            <a:pPr>
              <a:spcAft>
                <a:spcPts val="1200"/>
              </a:spcAft>
              <a:defRPr sz="1200">
                <a:solidFill>
                  <a:srgbClr val="1F2937"/>
                </a:solidFill>
              </a:defRPr>
            </a:pPr>
            <a:r>
              <a:t>Post-pandemic focus on operational efficiency</a:t>
            </a:r>
          </a:p>
          <a:p>
            <a:pPr>
              <a:spcAft>
                <a:spcPts val="1200"/>
              </a:spcAft>
              <a:defRPr sz="1200">
                <a:solidFill>
                  <a:srgbClr val="1F2937"/>
                </a:solidFill>
              </a:defRPr>
            </a:pPr>
            <a:r>
              <a:t>Value-based care reimbursement models</a:t>
            </a:r>
          </a:p>
          <a:p>
            <a:pPr>
              <a:spcAft>
                <a:spcPts val="1200"/>
              </a:spcAft>
              <a:defRPr sz="1200">
                <a:solidFill>
                  <a:srgbClr val="1F2937"/>
                </a:solidFill>
              </a:defRPr>
            </a:pPr>
            <a:r>
              <a:t>Patient experience as competitive differentiator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Business Model: High-Margin SaaS Revenue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651760" cy="22860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22860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Essential</a:t>
            </a:r>
          </a:p>
          <a:p>
            <a:pPr algn="ctr">
              <a:spcBef>
                <a:spcPts val="600"/>
              </a:spcBef>
              <a:defRPr sz="1200">
                <a:solidFill>
                  <a:srgbClr val="F3F4F6"/>
                </a:solidFill>
              </a:defRPr>
            </a:pPr>
            <a:r>
              <a:t>50-150 beds</a:t>
            </a:r>
          </a:p>
          <a:p>
            <a:pPr algn="ctr">
              <a:spcBef>
                <a:spcPts val="1200"/>
              </a:spcBef>
              <a:defRPr sz="2800" b="1">
                <a:solidFill>
                  <a:srgbClr val="FFFFFF"/>
                </a:solidFill>
              </a:defRPr>
            </a:pPr>
            <a:r>
              <a:t>$50K/year</a:t>
            </a:r>
          </a:p>
          <a:p>
            <a:pPr algn="ctr">
              <a:spcBef>
                <a:spcPts val="1200"/>
              </a:spcBef>
              <a:defRPr sz="1100">
                <a:solidFill>
                  <a:srgbClr val="F3F4F6"/>
                </a:solidFill>
              </a:defRPr>
            </a:pPr>
            <a:r>
              <a:t>Core modules, 100 users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651760" cy="228600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22860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Professional</a:t>
            </a:r>
          </a:p>
          <a:p>
            <a:pPr algn="ctr">
              <a:spcBef>
                <a:spcPts val="600"/>
              </a:spcBef>
              <a:defRPr sz="1200">
                <a:solidFill>
                  <a:srgbClr val="F3F4F6"/>
                </a:solidFill>
              </a:defRPr>
            </a:pPr>
            <a:r>
              <a:t>150-300 beds</a:t>
            </a:r>
          </a:p>
          <a:p>
            <a:pPr algn="ctr">
              <a:spcBef>
                <a:spcPts val="1200"/>
              </a:spcBef>
              <a:defRPr sz="2800" b="1">
                <a:solidFill>
                  <a:srgbClr val="FFFFFF"/>
                </a:solidFill>
              </a:defRPr>
            </a:pPr>
            <a:r>
              <a:t>$150K/year</a:t>
            </a:r>
          </a:p>
          <a:p>
            <a:pPr algn="ctr">
              <a:spcBef>
                <a:spcPts val="1200"/>
              </a:spcBef>
              <a:defRPr sz="1100">
                <a:solidFill>
                  <a:srgbClr val="F3F4F6"/>
                </a:solidFill>
              </a:defRPr>
            </a:pPr>
            <a:r>
              <a:t>All modules, 300 users,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371600"/>
            <a:ext cx="2651760" cy="228600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554480"/>
            <a:ext cx="22860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Enterprise</a:t>
            </a:r>
          </a:p>
          <a:p>
            <a:pPr algn="ctr">
              <a:spcBef>
                <a:spcPts val="600"/>
              </a:spcBef>
              <a:defRPr sz="1200">
                <a:solidFill>
                  <a:srgbClr val="F3F4F6"/>
                </a:solidFill>
              </a:defRPr>
            </a:pPr>
            <a:r>
              <a:t>300+ beds</a:t>
            </a:r>
          </a:p>
          <a:p>
            <a:pPr algn="ctr">
              <a:spcBef>
                <a:spcPts val="1200"/>
              </a:spcBef>
              <a:defRPr sz="2800" b="1">
                <a:solidFill>
                  <a:srgbClr val="FFFFFF"/>
                </a:solidFill>
              </a:defRPr>
            </a:pPr>
            <a:r>
              <a:t>$500K/year</a:t>
            </a:r>
          </a:p>
          <a:p>
            <a:pPr algn="ctr">
              <a:spcBef>
                <a:spcPts val="1200"/>
              </a:spcBef>
              <a:defRPr sz="1100">
                <a:solidFill>
                  <a:srgbClr val="F3F4F6"/>
                </a:solidFill>
              </a:defRPr>
            </a:pPr>
            <a:r>
              <a:t>Unlimited users, custom integrations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3A8A"/>
                </a:solidFill>
              </a:defRPr>
            </a:pPr>
            <a:r>
              <a:t>Unit Economics: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80560"/>
            <a:ext cx="2651760" cy="1097280"/>
          </a:xfrm>
          <a:prstGeom prst="roundRect">
            <a:avLst/>
          </a:prstGeom>
          <a:solidFill>
            <a:srgbClr val="F3F4F6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572000"/>
            <a:ext cx="22860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>
                <a:solidFill>
                  <a:srgbClr val="1F2937"/>
                </a:solidFill>
              </a:defRPr>
            </a:pPr>
            <a:r>
              <a:t>LTV/CAC Ratio</a:t>
            </a:r>
          </a:p>
          <a:p>
            <a:pPr algn="ctr">
              <a:defRPr sz="2400" b="1">
                <a:solidFill>
                  <a:srgbClr val="10B981"/>
                </a:solidFill>
              </a:defRPr>
            </a:pPr>
            <a:r>
              <a:t>18-100x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4480560"/>
            <a:ext cx="2651760" cy="1097280"/>
          </a:xfrm>
          <a:prstGeom prst="roundRect">
            <a:avLst/>
          </a:prstGeom>
          <a:solidFill>
            <a:srgbClr val="F3F4F6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4572000"/>
            <a:ext cx="22860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>
                <a:solidFill>
                  <a:srgbClr val="1F2937"/>
                </a:solidFill>
              </a:defRPr>
            </a:pPr>
            <a:r>
              <a:t>Gross Margin</a:t>
            </a:r>
          </a:p>
          <a:p>
            <a:pPr algn="ctr">
              <a:defRPr sz="2400" b="1">
                <a:solidFill>
                  <a:srgbClr val="10B981"/>
                </a:solidFill>
              </a:defRPr>
            </a:pPr>
            <a:r>
              <a:t>75-85%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4480560"/>
            <a:ext cx="2651760" cy="1097280"/>
          </a:xfrm>
          <a:prstGeom prst="roundRect">
            <a:avLst/>
          </a:prstGeom>
          <a:solidFill>
            <a:srgbClr val="F3F4F6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4572000"/>
            <a:ext cx="22860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200">
                <a:solidFill>
                  <a:srgbClr val="1F2937"/>
                </a:solidFill>
              </a:defRPr>
            </a:pPr>
            <a:r>
              <a:t>Payback Period</a:t>
            </a:r>
          </a:p>
          <a:p>
            <a:pPr algn="ctr">
              <a:defRPr sz="2400" b="1">
                <a:solidFill>
                  <a:srgbClr val="10B981"/>
                </a:solidFill>
              </a:defRPr>
            </a:pPr>
            <a:r>
              <a:t>3-6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Financial Projections: Path to $25M ARR in 3 Years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463040" cy="3657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Year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371600"/>
            <a:ext cx="1463040" cy="3657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New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1371600"/>
            <a:ext cx="1463040" cy="3657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Total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371600"/>
            <a:ext cx="1463040" cy="3657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ARR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371600"/>
            <a:ext cx="1463040" cy="3657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Growth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Year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82880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82880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182880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3B82F6"/>
                </a:solidFill>
              </a:defRPr>
            </a:pPr>
            <a:r>
              <a:t>$1.5M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82880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37744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Year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37744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37744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7744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3B82F6"/>
                </a:solidFill>
              </a:defRPr>
            </a:pPr>
            <a:r>
              <a:t>$7M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37744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367%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2608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Year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292608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92608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292608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3B82F6"/>
                </a:solidFill>
              </a:defRPr>
            </a:pPr>
            <a:r>
              <a:t>$18M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92608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157%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47472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Year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47472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347472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135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47472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3B82F6"/>
                </a:solidFill>
              </a:defRPr>
            </a:pPr>
            <a:r>
              <a:t>$35M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347472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94%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02336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Year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402336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80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402336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215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02336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3B82F6"/>
                </a:solidFill>
              </a:defRPr>
            </a:pPr>
            <a:r>
              <a:t>$60M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4023360"/>
            <a:ext cx="14630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>
                <a:solidFill>
                  <a:srgbClr val="1F2937"/>
                </a:solidFill>
              </a:defRPr>
            </a:pPr>
            <a:r>
              <a:t>71%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02920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Key Assumptions: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3949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F2937"/>
                </a:solidFill>
              </a:defRPr>
            </a:pPr>
            <a:r>
              <a:t>• Avg contract: $150K/year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6692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F2937"/>
                </a:solidFill>
              </a:defRPr>
            </a:pPr>
            <a:r>
              <a:t>• 90% retention rate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9436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1F2937"/>
                </a:solidFill>
              </a:defRPr>
            </a:pPr>
            <a:r>
              <a:t>• 20% annual price increases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0" y="5029200"/>
            <a:ext cx="3657600" cy="118872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0" y="5212080"/>
            <a:ext cx="329184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Break-Even</a:t>
            </a:r>
          </a:p>
          <a:p>
            <a:pPr algn="ctr">
              <a:defRPr sz="1400">
                <a:solidFill>
                  <a:srgbClr val="F3F4F6"/>
                </a:solidFill>
              </a:defRPr>
            </a:pPr>
            <a:r>
              <a:t>Month 18 at 25 customers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Ask: $2M Seed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645920"/>
            <a:ext cx="67665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$2 Million Seed Round</a:t>
            </a:r>
          </a:p>
          <a:p>
            <a:pPr algn="ctr">
              <a:spcBef>
                <a:spcPts val="1200"/>
              </a:spcBef>
              <a:defRPr sz="2000">
                <a:solidFill>
                  <a:srgbClr val="F3F4F6"/>
                </a:solidFill>
              </a:defRPr>
            </a:pPr>
            <a:r>
              <a:t>$8M post-money 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474720"/>
            <a:ext cx="8229600" cy="4572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52044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300" b="1">
                <a:solidFill>
                  <a:srgbClr val="3B82F6"/>
                </a:solidFill>
              </a:defRPr>
            </a:pPr>
            <a:r>
              <a:t>Product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520440"/>
            <a:ext cx="7315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300" b="1">
                <a:solidFill>
                  <a:srgbClr val="3B82F6"/>
                </a:solidFill>
              </a:defRPr>
            </a:pPr>
            <a: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520440"/>
            <a:ext cx="9144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300" b="1">
                <a:solidFill>
                  <a:srgbClr val="1F2937"/>
                </a:solidFill>
              </a:defRPr>
            </a:pPr>
            <a:r>
              <a:t>$600K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52044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1F2937"/>
                </a:solidFill>
              </a:defRPr>
            </a:pPr>
            <a:r>
              <a:t>3 engineers, UI/UX, QA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23360"/>
            <a:ext cx="8229600" cy="4572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Sales &amp; Marketing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069080"/>
            <a:ext cx="7315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300" b="1">
                <a:solidFill>
                  <a:srgbClr val="0D9488"/>
                </a:solidFill>
              </a:defRPr>
            </a:pPr>
            <a:r>
              <a:t>35%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069080"/>
            <a:ext cx="9144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300" b="1">
                <a:solidFill>
                  <a:srgbClr val="1F2937"/>
                </a:solidFill>
              </a:defRPr>
            </a:pPr>
            <a:r>
              <a:t>$700K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406908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1F2937"/>
                </a:solidFill>
              </a:defRPr>
            </a:pPr>
            <a:r>
              <a:t>2 sales reps, marketing, conferences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572000"/>
            <a:ext cx="8229600" cy="4572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Customer Success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17720"/>
            <a:ext cx="7315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</a:defRPr>
            </a:pPr>
            <a:r>
              <a:t>15%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617720"/>
            <a:ext cx="9144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300" b="1">
                <a:solidFill>
                  <a:srgbClr val="1F2937"/>
                </a:solidFill>
              </a:defRPr>
            </a:pPr>
            <a:r>
              <a:t>$300K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61772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1F2937"/>
                </a:solidFill>
              </a:defRPr>
            </a:pPr>
            <a:r>
              <a:t>2 implementation specialists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120640"/>
            <a:ext cx="8229600" cy="4572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16636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300" b="1">
                <a:solidFill>
                  <a:srgbClr val="F97316"/>
                </a:solidFill>
              </a:defRPr>
            </a:pPr>
            <a:r>
              <a:t>Infrastructure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5166360"/>
            <a:ext cx="7315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300" b="1">
                <a:solidFill>
                  <a:srgbClr val="F97316"/>
                </a:solidFill>
              </a:defRPr>
            </a:pPr>
            <a:r>
              <a:t>10%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166360"/>
            <a:ext cx="9144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300" b="1">
                <a:solidFill>
                  <a:srgbClr val="1F2937"/>
                </a:solidFill>
              </a:defRPr>
            </a:pPr>
            <a:r>
              <a:t>$200K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516636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1F2937"/>
                </a:solidFill>
              </a:defRPr>
            </a:pPr>
            <a:r>
              <a:t>AWS hosting, tools, security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69280"/>
            <a:ext cx="8229600" cy="4572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71500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300" b="1">
                <a:solidFill>
                  <a:srgbClr val="1F2937"/>
                </a:solidFill>
              </a:defRPr>
            </a:pPr>
            <a:r>
              <a:t>Operations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5715000"/>
            <a:ext cx="73152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300" b="1">
                <a:solidFill>
                  <a:srgbClr val="1F2937"/>
                </a:solidFill>
              </a:defRPr>
            </a:pPr>
            <a:r>
              <a:t>10%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5715000"/>
            <a:ext cx="9144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300" b="1">
                <a:solidFill>
                  <a:srgbClr val="1F2937"/>
                </a:solidFill>
              </a:defRPr>
            </a:pPr>
            <a:r>
              <a:t>$200K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5715000"/>
            <a:ext cx="2743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1F2937"/>
                </a:solidFill>
              </a:defRPr>
            </a:pPr>
            <a:r>
              <a:t>Office, legal, accounting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Why Invest Now?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B82F6"/>
                </a:solidFill>
              </a:defRPr>
            </a:pPr>
            <a:r>
              <a:t>Large Growing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6459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$68B healthcare IT market at 13.7% CAGR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240280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2402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D9488"/>
                </a:solidFill>
              </a:defRPr>
            </a:pPr>
            <a:r>
              <a:t>Proven Product-Market 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14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Production-ready platform addressing validated pain points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1089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Massive Cost Advantage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8328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10x cheaper, 20x faster implementation than legacy systems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977640"/>
            <a:ext cx="457200" cy="4572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9776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97316"/>
                </a:solidFill>
              </a:defRPr>
            </a:pPr>
            <a:r>
              <a:t>Recurring Revenue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2519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SaaS with 90%+ retention and 18-100x LTV/CAC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846320"/>
            <a:ext cx="457200" cy="457200"/>
          </a:xfrm>
          <a:prstGeom prst="ellipse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8463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Scalable Technology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1206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Cloud-native architecture enabling rapid growth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71500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7150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F4444"/>
                </a:solidFill>
              </a:defRPr>
            </a:pPr>
            <a:r>
              <a:t>Clear Path to Exit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9893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Acquisition by Epic, Cerner, or IPO with $100M+ ARR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Let's Transform Healthcare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3F4F6"/>
                </a:solidFill>
              </a:defRPr>
            </a:pPr>
            <a:r>
              <a:t>Thank You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5029200"/>
            <a:ext cx="548640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0" y="5212080"/>
            <a:ext cx="49377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1E3A8A"/>
                </a:solidFill>
              </a:defRPr>
            </a:pPr>
            <a:r>
              <a:t>📧 investors@hospital-management-system.com</a:t>
            </a:r>
          </a:p>
          <a:p>
            <a:pPr algn="ctr">
              <a:spcBef>
                <a:spcPts val="800"/>
              </a:spcBef>
              <a:defRPr sz="1600">
                <a:solidFill>
                  <a:srgbClr val="1E3A8A"/>
                </a:solidFill>
              </a:defRPr>
            </a:pPr>
            <a:r>
              <a:t>📱 +1 (555) 123-4567</a:t>
            </a:r>
          </a:p>
          <a:p>
            <a:pPr algn="ctr">
              <a:spcBef>
                <a:spcPts val="800"/>
              </a:spcBef>
              <a:defRPr sz="1600">
                <a:solidFill>
                  <a:srgbClr val="1E3A8A"/>
                </a:solidFill>
              </a:defRPr>
            </a:pPr>
            <a:r>
              <a:t>🌐 www.hospital-management-system.com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