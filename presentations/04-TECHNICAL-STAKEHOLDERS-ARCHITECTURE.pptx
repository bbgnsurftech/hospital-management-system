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3F4F6"/>
                </a:solidFill>
              </a:defRPr>
            </a:pPr>
            <a:r>
              <a:t>Modern, Scalable, Secure Healthcare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7315200" cy="1188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08760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6766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4F6"/>
                </a:solidFill>
              </a:defRPr>
            </a:pPr>
            <a:r>
              <a:t>React 18 • TypeScript • Material-UI</a:t>
            </a:r>
            <a:br/>
            <a:r>
              <a:t>Responsive • Real-time updates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97480"/>
            <a:ext cx="7315200" cy="11887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46120"/>
            <a:ext cx="6766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4F6"/>
                </a:solidFill>
              </a:defRPr>
            </a:pPr>
            <a:r>
              <a:t>Node.js 20 • Express • TypeScript</a:t>
            </a:r>
            <a:br/>
            <a:r>
              <a:t>RESTful APIs • Socket.IO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023360"/>
            <a:ext cx="7315200" cy="1188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160520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572000"/>
            <a:ext cx="6766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4F6"/>
                </a:solidFill>
              </a:defRPr>
            </a:pPr>
            <a:r>
              <a:t>PostgreSQL 14+ • ACID compliance</a:t>
            </a:r>
            <a:br/>
            <a:r>
              <a:t>Redis 7+ for caching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349240"/>
            <a:ext cx="7315200" cy="11887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486400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897880"/>
            <a:ext cx="6766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4F6"/>
                </a:solidFill>
              </a:defRPr>
            </a:pPr>
            <a:r>
              <a:t>JWT Auth • RBAC • Encryption</a:t>
            </a:r>
            <a:br/>
            <a:r>
              <a:t>HIPAA compliant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Performance &amp; Scalability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11680" cy="1828800"/>
          </a:xfrm>
          <a:prstGeom prst="roundRect">
            <a:avLst/>
          </a:prstGeom>
          <a:solidFill>
            <a:srgbClr val="F3F4F6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828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1,000+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1F2937"/>
                </a:solidFill>
              </a:defRPr>
            </a:pPr>
            <a:r>
              <a:t>Concurrent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645920"/>
            <a:ext cx="2011680" cy="1828800"/>
          </a:xfrm>
          <a:prstGeom prst="roundRect">
            <a:avLst/>
          </a:prstGeom>
          <a:solidFill>
            <a:srgbClr val="F3F4F6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2011680"/>
            <a:ext cx="1828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&lt;200ms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83464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1F2937"/>
                </a:solidFill>
              </a:defRPr>
            </a:pPr>
            <a:r>
              <a:t>API Response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45920"/>
            <a:ext cx="2011680" cy="1828800"/>
          </a:xfrm>
          <a:prstGeom prst="roundRect">
            <a:avLst/>
          </a:prstGeom>
          <a:solidFill>
            <a:srgbClr val="F3F4F6"/>
          </a:solidFill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011680"/>
            <a:ext cx="1828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0D9488"/>
                </a:solidFill>
              </a:defRPr>
            </a:pPr>
            <a:r>
              <a:t>99.9%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3464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1F2937"/>
                </a:solidFill>
              </a:defRPr>
            </a:pPr>
            <a:r>
              <a:t>Uptime SLA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645920"/>
            <a:ext cx="2011680" cy="1828800"/>
          </a:xfrm>
          <a:prstGeom prst="roundRect">
            <a:avLst/>
          </a:prstGeom>
          <a:solidFill>
            <a:srgbClr val="F3F4F6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011680"/>
            <a:ext cx="1828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F97316"/>
                </a:solidFill>
              </a:defRPr>
            </a:pPr>
            <a:r>
              <a:t>&lt;50ms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83464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1F2937"/>
                </a:solidFill>
              </a:defRPr>
            </a:pPr>
            <a:r>
              <a:t>WebSocket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✓ Horizontal scalability with stateless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✓ Redis caching for optimal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✓ PostgreSQL connection pooling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✓ Real-time WebSocket notifications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✓ Auto-scaling based on 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