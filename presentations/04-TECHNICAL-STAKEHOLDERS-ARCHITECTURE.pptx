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Hospital Management System</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Architecture &amp; IT Overview</a:t>
            </a:r>
          </a:p>
        </p:txBody>
      </p:sp>
      <p:sp>
        <p:nvSpPr>
          <p:cNvPr id="3" name="Content Placeholder 2"/>
          <p:cNvSpPr>
            <a:spLocks noGrp="1"/>
          </p:cNvSpPr>
          <p:nvPr>
            <p:ph idx="1"/>
          </p:nvPr>
        </p:nvSpPr>
        <p:spPr/>
        <p:txBody>
          <a:bodyPr/>
          <a:lstStyle/>
          <a:p>
            <a:pPr lvl="0" indent="0" marL="0">
              <a:buNone/>
            </a:pPr>
            <a:r>
              <a:rPr b="1"/>
              <a:t>For CIOs, IT Directors, System Administrators, and DevOps Teams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Table of Contents</a:t>
            </a:r>
          </a:p>
        </p:txBody>
      </p:sp>
      <p:sp>
        <p:nvSpPr>
          <p:cNvPr id="3" name="Content Placeholder 2"/>
          <p:cNvSpPr>
            <a:spLocks noGrp="1"/>
          </p:cNvSpPr>
          <p:nvPr>
            <p:ph idx="1"/>
          </p:nvPr>
        </p:nvSpPr>
        <p:spPr/>
        <p:txBody>
          <a:bodyPr/>
          <a:lstStyle/>
          <a:p>
            <a:pPr lvl="0" indent="-342900" marL="342900">
              <a:buAutoNum type="arabicPeriod"/>
            </a:pPr>
            <a:r>
              <a:rPr/>
              <a:t>Executive Technical Summary</a:t>
            </a:r>
          </a:p>
          <a:p>
            <a:pPr lvl="0" indent="-342900" marL="342900">
              <a:buAutoNum type="arabicPeriod"/>
            </a:pPr>
            <a:r>
              <a:rPr/>
              <a:t>System Architecture</a:t>
            </a:r>
          </a:p>
          <a:p>
            <a:pPr lvl="0" indent="-342900" marL="342900">
              <a:buAutoNum type="arabicPeriod"/>
            </a:pPr>
            <a:r>
              <a:rPr/>
              <a:t>Technology Stack</a:t>
            </a:r>
          </a:p>
          <a:p>
            <a:pPr lvl="0" indent="-342900" marL="342900">
              <a:buAutoNum type="arabicPeriod"/>
            </a:pPr>
            <a:r>
              <a:rPr/>
              <a:t>Database Design</a:t>
            </a:r>
          </a:p>
          <a:p>
            <a:pPr lvl="0" indent="-342900" marL="342900">
              <a:buAutoNum type="arabicPeriod"/>
            </a:pPr>
            <a:r>
              <a:rPr/>
              <a:t>Security Architecture</a:t>
            </a:r>
          </a:p>
          <a:p>
            <a:pPr lvl="0" indent="-342900" marL="342900">
              <a:buAutoNum type="arabicPeriod"/>
            </a:pPr>
            <a:r>
              <a:rPr/>
              <a:t>Integration Capabilities</a:t>
            </a:r>
          </a:p>
          <a:p>
            <a:pPr lvl="0" indent="-342900" marL="342900">
              <a:buAutoNum type="arabicPeriod"/>
            </a:pPr>
            <a:r>
              <a:rPr/>
              <a:t>Infrastructure &amp; Deployment</a:t>
            </a:r>
          </a:p>
          <a:p>
            <a:pPr lvl="0" indent="-342900" marL="342900">
              <a:buAutoNum type="arabicPeriod"/>
            </a:pPr>
            <a:r>
              <a:rPr/>
              <a:t>Performance &amp; Scalability</a:t>
            </a:r>
          </a:p>
          <a:p>
            <a:pPr lvl="0" indent="-342900" marL="342900">
              <a:buAutoNum type="arabicPeriod"/>
            </a:pPr>
            <a:r>
              <a:rPr/>
              <a:t>Monitoring &amp; Maintenance</a:t>
            </a:r>
          </a:p>
          <a:p>
            <a:pPr lvl="0" indent="-342900" marL="342900">
              <a:buAutoNum type="arabicPeriod"/>
            </a:pPr>
            <a:r>
              <a:rPr/>
              <a:t>Disaster Recovery &amp; Business Continuity</a:t>
            </a:r>
          </a:p>
          <a:p>
            <a:pPr lvl="0" indent="-342900" marL="342900">
              <a:buAutoNum type="arabicPeriod"/>
            </a:pPr>
            <a:r>
              <a:rPr/>
              <a:t>Implementation Requirements</a:t>
            </a:r>
          </a:p>
          <a:p>
            <a:pPr lvl="0" indent="-342900" marL="342900">
              <a:buAutoNum type="arabicPeriod"/>
            </a:pPr>
            <a:r>
              <a:rPr/>
              <a:t>Technical Support Model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Executive Technical Summary</a:t>
            </a:r>
          </a:p>
        </p:txBody>
      </p:sp>
      <p:sp>
        <p:nvSpPr>
          <p:cNvPr id="3" name="Content Placeholder 2"/>
          <p:cNvSpPr>
            <a:spLocks noGrp="1"/>
          </p:cNvSpPr>
          <p:nvPr>
            <p:ph idx="1"/>
          </p:nvPr>
        </p:nvSpPr>
        <p:spPr/>
        <p:txBody>
          <a:bodyPr/>
          <a:lstStyle/>
          <a:p>
            <a:pPr lvl="0" indent="0" marL="0">
              <a:spcBef>
                <a:spcPts val="3000"/>
              </a:spcBef>
              <a:buNone/>
            </a:pPr>
            <a:r>
              <a:rPr b="1"/>
              <a:t>Architecture Overview</a:t>
            </a:r>
          </a:p>
          <a:p>
            <a:pPr lvl="0" indent="0" marL="0">
              <a:buNone/>
            </a:pPr>
            <a:r>
              <a:rPr b="1"/>
              <a:t>Modern, Cloud-Native, API-First Platform</a:t>
            </a:r>
          </a:p>
          <a:p>
            <a:pPr lvl="0" indent="0" marL="0">
              <a:buNone/>
            </a:pPr>
            <a:r>
              <a:rPr/>
              <a:t>The Hospital Management System is built on a microservices-inspired architecture using proven enterprise technologies:</a:t>
            </a:r>
          </a:p>
          <a:p>
            <a:pPr lvl="0"/>
            <a:r>
              <a:rPr b="1"/>
              <a:t>Frontend:</a:t>
            </a:r>
            <a:r>
              <a:rPr/>
              <a:t> React 18 with TypeScript, Material-UI</a:t>
            </a:r>
          </a:p>
          <a:p>
            <a:pPr lvl="0"/>
            <a:r>
              <a:rPr b="1"/>
              <a:t>Backend:</a:t>
            </a:r>
            <a:r>
              <a:rPr/>
              <a:t> Node.js 20+ with Express.js and TypeScript</a:t>
            </a:r>
          </a:p>
          <a:p>
            <a:pPr lvl="0"/>
            <a:r>
              <a:rPr b="1"/>
              <a:t>Database:</a:t>
            </a:r>
            <a:r>
              <a:rPr/>
              <a:t> PostgreSQL 14+ for ACID compliance</a:t>
            </a:r>
          </a:p>
          <a:p>
            <a:pPr lvl="0"/>
            <a:r>
              <a:rPr b="1"/>
              <a:t>Cache/Queue:</a:t>
            </a:r>
            <a:r>
              <a:rPr/>
              <a:t> Redis 7+ for performance optimization</a:t>
            </a:r>
          </a:p>
          <a:p>
            <a:pPr lvl="0"/>
            <a:r>
              <a:rPr b="1"/>
              <a:t>Real-time:</a:t>
            </a:r>
            <a:r>
              <a:rPr/>
              <a:t> Socket.IO for WebSocket-based instant notifications</a:t>
            </a:r>
          </a:p>
          <a:p>
            <a:pPr lvl="0"/>
            <a:r>
              <a:rPr b="1"/>
              <a:t>Deployment:</a:t>
            </a:r>
            <a:r>
              <a:rPr/>
              <a:t> Docker containers on cloud infrastructure</a:t>
            </a:r>
          </a:p>
          <a:p>
            <a:pPr lvl="0" indent="0" marL="0">
              <a:spcBef>
                <a:spcPts val="3000"/>
              </a:spcBef>
              <a:buNone/>
            </a:pPr>
            <a:r>
              <a:rPr b="1"/>
              <a:t>Key Technical Features</a:t>
            </a:r>
          </a:p>
          <a:p>
            <a:pPr lvl="0" indent="0" marL="0">
              <a:buNone/>
            </a:pPr>
            <a:r>
              <a:rPr/>
              <a:t>✅ </a:t>
            </a:r>
            <a:r>
              <a:rPr b="1"/>
              <a:t>RESTful API Architecture</a:t>
            </a:r>
            <a:r>
              <a:rPr/>
              <a:t> - Clean, versioned APIs (</a:t>
            </a:r>
            <a:r>
              <a:rPr>
                <a:latin typeface="Courier"/>
              </a:rPr>
              <a:t>/api/v1/*</a:t>
            </a:r>
            <a:r>
              <a:rPr/>
              <a:t>) ✅ </a:t>
            </a:r>
            <a:r>
              <a:rPr b="1"/>
              <a:t>Real-Time WebSocket Engine</a:t>
            </a:r>
            <a:r>
              <a:rPr/>
              <a:t> - &lt;50ms notification delivery ✅ </a:t>
            </a:r>
            <a:r>
              <a:rPr b="1"/>
              <a:t>ACID-Compliant Transactions</a:t>
            </a:r>
            <a:r>
              <a:rPr/>
              <a:t> - Medical data integrity guaranteed ✅ </a:t>
            </a:r>
            <a:r>
              <a:rPr b="1"/>
              <a:t>Role-Based Access Control</a:t>
            </a:r>
            <a:r>
              <a:rPr/>
              <a:t> - Granular permission system ✅ </a:t>
            </a:r>
            <a:r>
              <a:rPr b="1"/>
              <a:t>Horizontal Scalability</a:t>
            </a:r>
            <a:r>
              <a:rPr/>
              <a:t> - Stateless design for easy scaling ✅ </a:t>
            </a:r>
            <a:r>
              <a:rPr b="1"/>
              <a:t>API-First Design</a:t>
            </a:r>
            <a:r>
              <a:rPr/>
              <a:t> - Easy integration with existing systems ✅ </a:t>
            </a:r>
            <a:r>
              <a:rPr b="1"/>
              <a:t>Comprehensive Audit Logging</a:t>
            </a:r>
            <a:r>
              <a:rPr/>
              <a:t> - Full compliance trail ✅ </a:t>
            </a:r>
            <a:r>
              <a:rPr b="1"/>
              <a:t>Production-Ready</a:t>
            </a:r>
            <a:r>
              <a:rPr/>
              <a:t> - Supports 1000+ concurrent users</a:t>
            </a:r>
          </a:p>
          <a:p>
            <a:pPr lvl="0" indent="0" marL="0">
              <a:spcBef>
                <a:spcPts val="3000"/>
              </a:spcBef>
              <a:buNone/>
            </a:pPr>
            <a:r>
              <a:rPr b="1"/>
              <a:t>Deployment Model</a:t>
            </a:r>
          </a:p>
          <a:p>
            <a:pPr lvl="0" indent="0" marL="0">
              <a:buNone/>
            </a:pPr>
            <a:r>
              <a:rPr b="1"/>
              <a:t>SaaS (Preferred):</a:t>
            </a:r>
            <a:r>
              <a:rPr/>
              <a:t> - Hosted on our cloud infrastructure - Managed updates and maintenance - 99.9% uptime SLA - Automatic backups and DR - No on-premise hardware needed</a:t>
            </a:r>
          </a:p>
          <a:p>
            <a:pPr lvl="0" indent="0" marL="0">
              <a:buNone/>
            </a:pPr>
            <a:r>
              <a:rPr b="1"/>
              <a:t>On-Premise (Available):</a:t>
            </a:r>
            <a:r>
              <a:rPr/>
              <a:t> - Deploy in your data center - Full control over infrastructure - You manage updates and maintenance - Requires: Docker, PostgreSQL, Redis</a:t>
            </a:r>
          </a:p>
          <a:p>
            <a:pPr lvl="0" indent="0" marL="0">
              <a:buNone/>
            </a:pPr>
            <a:r>
              <a:rPr b="1"/>
              <a:t>Hybrid (Custom):</a:t>
            </a:r>
            <a:r>
              <a:rPr/>
              <a:t> - Core system in cloud - Sensitive data on-premise - Custom integration points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System Architecture</a:t>
            </a:r>
          </a:p>
        </p:txBody>
      </p:sp>
      <p:sp>
        <p:nvSpPr>
          <p:cNvPr id="3" name="Content Placeholder 2"/>
          <p:cNvSpPr>
            <a:spLocks noGrp="1"/>
          </p:cNvSpPr>
          <p:nvPr>
            <p:ph idx="1"/>
          </p:nvPr>
        </p:nvSpPr>
        <p:spPr/>
        <p:txBody>
          <a:bodyPr/>
          <a:lstStyle/>
          <a:p>
            <a:pPr lvl="0" indent="0" marL="0">
              <a:spcBef>
                <a:spcPts val="3000"/>
              </a:spcBef>
              <a:buNone/>
            </a:pPr>
            <a:r>
              <a:rPr b="1"/>
              <a:t>High-Level Architecture Diagram</a:t>
            </a:r>
          </a:p>
          <a:p>
            <a:pPr lvl="0" indent="0">
              <a:buNone/>
            </a:pPr>
            <a:r>
              <a:rPr>
                <a:latin typeface="Courier"/>
              </a:rPr>
              <a:t>┌─────────────────────────────────────────────────────────┐
│                    CLIENT LAYER                         │
├─────────────────────────────────────────────────────────┤
│  Web Browsers (Chrome, Firefox, Safari, Edge)          │
│  - Desktop, Tablet, Mobile (responsive)                │
│  - React 18 SPA with Material-UI                       │
│  - WebSocket persistent connection                     │
└────────────────────┬────────────────────────────────────┘
                     │ HTTPS / WSS
                     │
┌────────────────────▼────────────────────────────────────┐
│                  LOAD BALANCER                          │
│  - SSL Termination                                      │
│  - Request Distribution                                 │
│  - Health Checks                                        │
│  - Sticky Sessions (for WebSocket)                     │
└────────────────────┬────────────────────────────────────┘
                     │
        ┌────────────┴────────────┐
        │                         │
┌───────▼──────┐          ┌──────▼───────┐
│ App Server 1 │          │ App Server 2 │  ... N servers
├──────────────┤          ├──────────────┤
│  Express.js  │          │  Express.js  │
│  Node.js 20  │          │  Node.js 20  │
│  Socket.IO   │          │  Socket.IO   │
└───────┬──────┘          └──────┬───────┘
        │                         │
        └────────────┬────────────┘
                     │
        ┌────────────┴────────────┐
        │                         │
┌───────▼──────┐          ┌──────▼───────┐
│ PostgreSQL   │          │    Redis     │
│ 14+ Primary  │          │  Cache/Queue │
│ (RDBMS)      │          │  Session Mgmt│
└──────────────┘          └──────────────┘</a:t>
            </a:r>
          </a:p>
          <a:p>
            <a:pPr lvl="0" indent="0" marL="0">
              <a:spcBef>
                <a:spcPts val="3000"/>
              </a:spcBef>
              <a:buNone/>
            </a:pPr>
            <a:r>
              <a:rPr b="1"/>
              <a:t>Component Architecture</a:t>
            </a:r>
          </a:p>
          <a:p>
            <a:pPr lvl="0" indent="0" marL="0">
              <a:buNone/>
            </a:pPr>
            <a:r>
              <a:rPr b="1"/>
              <a:t>Frontend Components:</a:t>
            </a:r>
            <a:r>
              <a:rPr/>
              <a:t> - React Router v6 for client-side routing - Zustand for state management - Axios for HTTP requests - Socket.IO Client for real-time - Material-UI components - react-hook-form for forms - Recharts for analytics visualization</a:t>
            </a:r>
          </a:p>
          <a:p>
            <a:pPr lvl="0" indent="0" marL="0">
              <a:buNone/>
            </a:pPr>
            <a:r>
              <a:rPr b="1"/>
              <a:t>Backend Components:</a:t>
            </a:r>
          </a:p>
          <a:p>
            <a:pPr lvl="0" indent="0">
              <a:buNone/>
            </a:pPr>
            <a:r>
              <a:rPr>
                <a:latin typeface="Courier"/>
              </a:rPr>
              <a:t>backend/
├── src/
│   ├── server.ts                 # Application entry point
│   ├── config/                   # Configuration management
│   │   ├── database.ts           # PostgreSQL connection pool
│   │   └── redis.ts              # Redis client config
│   ├── middleware/               # Express middleware
│   │   ├── auth.ts               # JWT authentication
│   │   ├── validator.ts          # Request validation
│   │   ├── errorHandler.ts       # Error handling
│   │   └── rateLimiter.ts        # Rate limiting
│   ├── routes/                   # API route definitions
│   │   ├── auth.ts               # /api/v1/auth
│   │   ├── patients.ts           # /api/v1/patients
│   │   ├── doctors.ts            # /api/v1/doctors
│   │   ├── lab.ts                # /api/v1/lab
│   │   ├── pharmacy.ts           # /api/v1/pharmacy
│   │   ├── billing.ts            # /api/v1/billing
│   │   └── analytics.ts          # /api/v1/analytics
│   ├── controllers/              # Business logic handlers
│   ├── services/                 # Core business services
│   │   ├── queueService.ts       # Queue management
│   │   ├── notificationService.ts # Notifications
│   │   ├── socketService.ts      # WebSocket handling
│   │   └── billingService.ts     # Billing logic
│   ├── models/                   # Data access layer
│   └── database/                 # Database schema
│       └── schema.sql            # PostgreSQL schema
└── package.json</a:t>
            </a:r>
          </a:p>
          <a:p>
            <a:pPr lvl="0" indent="0" marL="0">
              <a:spcBef>
                <a:spcPts val="3000"/>
              </a:spcBef>
              <a:buNone/>
            </a:pPr>
            <a:r>
              <a:rPr b="1"/>
              <a:t>Request Flow</a:t>
            </a:r>
          </a:p>
          <a:p>
            <a:pPr lvl="0" indent="0" marL="0">
              <a:buNone/>
            </a:pPr>
            <a:r>
              <a:rPr b="1"/>
              <a:t>Typical API Request:</a:t>
            </a:r>
          </a:p>
          <a:p>
            <a:pPr lvl="0" indent="0">
              <a:buNone/>
            </a:pPr>
            <a:r>
              <a:rPr>
                <a:latin typeface="Courier"/>
              </a:rPr>
              <a:t>1. Client → HTTPS Request → Load Balancer
2. Load Balancer → App Server (round-robin)
3. App Server → Auth Middleware (JWT validation)
4. Auth Middleware → Route Handler
5. Route Handler → Controller
6. Controller → Service Layer (business logic)
7. Service → Database Query (PostgreSQL)
8. Database → Service → Controller → Response
9. Response → Client (JSON)</a:t>
            </a:r>
          </a:p>
          <a:p>
            <a:pPr lvl="0" indent="0" marL="0">
              <a:buNone/>
            </a:pPr>
            <a:r>
              <a:rPr b="1"/>
              <a:t>Real-Time Notification Flow:</a:t>
            </a:r>
          </a:p>
          <a:p>
            <a:pPr lvl="0" indent="0">
              <a:buNone/>
            </a:pPr>
            <a:r>
              <a:rPr>
                <a:latin typeface="Courier"/>
              </a:rPr>
              <a:t>1. Event occurs (e.g., lab result entered)
2. Service layer triggers notification
3. notificationService.create() → PostgreSQL (persist)
4. socketService.emit() → Socket.IO
5. Socket.IO → User-specific room (user-{userId})
6. WebSocket → Client receives instant notification
7. Client displays toast notification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Technology Stack</a:t>
            </a:r>
          </a:p>
        </p:txBody>
      </p:sp>
      <p:sp>
        <p:nvSpPr>
          <p:cNvPr id="3" name="Content Placeholder 2"/>
          <p:cNvSpPr>
            <a:spLocks noGrp="1"/>
          </p:cNvSpPr>
          <p:nvPr>
            <p:ph idx="1"/>
          </p:nvPr>
        </p:nvSpPr>
        <p:spPr/>
        <p:txBody>
          <a:bodyPr/>
          <a:lstStyle/>
          <a:p>
            <a:pPr lvl="0" indent="0" marL="0">
              <a:spcBef>
                <a:spcPts val="3000"/>
              </a:spcBef>
              <a:buNone/>
            </a:pPr>
            <a:r>
              <a:rPr b="1"/>
              <a:t>Backend Technologies</a:t>
            </a:r>
          </a:p>
          <a:p>
            <a:pPr lvl="0" indent="0" marL="0">
              <a:buNone/>
            </a:pPr>
            <a:r>
              <a:rPr b="1"/>
              <a:t>Runtime &amp; Framework:</a:t>
            </a:r>
            <a:r>
              <a:rPr/>
              <a:t> - </a:t>
            </a:r>
            <a:r>
              <a:rPr b="1"/>
              <a:t>Node.js 20.x LTS</a:t>
            </a:r>
            <a:r>
              <a:rPr/>
              <a:t> - JavaScript runtime - </a:t>
            </a:r>
            <a:r>
              <a:rPr b="1"/>
              <a:t>Express.js 4.18.2</a:t>
            </a:r>
            <a:r>
              <a:rPr/>
              <a:t> - Web application framework - </a:t>
            </a:r>
            <a:r>
              <a:rPr b="1"/>
              <a:t>TypeScript 5.3.3</a:t>
            </a:r>
            <a:r>
              <a:rPr/>
              <a:t> - Type-safe JavaScript - </a:t>
            </a:r>
            <a:r>
              <a:rPr b="1"/>
              <a:t>ts-node</a:t>
            </a:r>
            <a:r>
              <a:rPr/>
              <a:t> - TypeScript execution for Node.js</a:t>
            </a:r>
          </a:p>
          <a:p>
            <a:pPr lvl="0" indent="0" marL="0">
              <a:buNone/>
            </a:pPr>
            <a:r>
              <a:rPr b="1"/>
              <a:t>Database &amp; Caching:</a:t>
            </a:r>
            <a:r>
              <a:rPr/>
              <a:t> - </a:t>
            </a:r>
            <a:r>
              <a:rPr b="1"/>
              <a:t>PostgreSQL 14+</a:t>
            </a:r>
            <a:r>
              <a:rPr/>
              <a:t> - Primary relational database - ACID compliance for medical data integrity - JSONB support for flexible schemas - Full-text search capabilities - Partitioning for large tables - </a:t>
            </a:r>
            <a:r>
              <a:rPr b="1"/>
              <a:t>Redis 7+</a:t>
            </a:r>
            <a:r>
              <a:rPr/>
              <a:t> - In-memory data store - Session management - Cache layer - Queue management - Real-time data storage</a:t>
            </a:r>
          </a:p>
          <a:p>
            <a:pPr lvl="0" indent="0" marL="0">
              <a:buNone/>
            </a:pPr>
            <a:r>
              <a:rPr b="1"/>
              <a:t>Real-Time Communication:</a:t>
            </a:r>
            <a:r>
              <a:rPr/>
              <a:t> - </a:t>
            </a:r>
            <a:r>
              <a:rPr b="1"/>
              <a:t>Socket.IO 4.6.2</a:t>
            </a:r>
            <a:r>
              <a:rPr/>
              <a:t> - WebSocket library - Room-based messaging - Automatic reconnection - Fallback to long-polling - Binary data support</a:t>
            </a:r>
          </a:p>
          <a:p>
            <a:pPr lvl="0" indent="0" marL="0">
              <a:buNone/>
            </a:pPr>
            <a:r>
              <a:rPr b="1"/>
              <a:t>Authentication &amp; Security:</a:t>
            </a:r>
            <a:r>
              <a:rPr/>
              <a:t> - </a:t>
            </a:r>
            <a:r>
              <a:rPr b="1"/>
              <a:t>jsonwebtoken (JWT)</a:t>
            </a:r>
            <a:r>
              <a:rPr/>
              <a:t> - Token-based auth - </a:t>
            </a:r>
            <a:r>
              <a:rPr b="1"/>
              <a:t>bcryptjs</a:t>
            </a:r>
            <a:r>
              <a:rPr/>
              <a:t> - Password hashing (10 rounds) - </a:t>
            </a:r>
            <a:r>
              <a:rPr b="1"/>
              <a:t>express-validator</a:t>
            </a:r>
            <a:r>
              <a:rPr/>
              <a:t> - Input validation - </a:t>
            </a:r>
            <a:r>
              <a:rPr b="1"/>
              <a:t>helmet</a:t>
            </a:r>
            <a:r>
              <a:rPr/>
              <a:t> - Security headers - </a:t>
            </a:r>
            <a:r>
              <a:rPr b="1"/>
              <a:t>cors</a:t>
            </a:r>
            <a:r>
              <a:rPr/>
              <a:t> - Cross-origin resource sharing - </a:t>
            </a:r>
            <a:r>
              <a:rPr b="1"/>
              <a:t>express-rate-limit</a:t>
            </a:r>
            <a:r>
              <a:rPr/>
              <a:t> - API rate limiting</a:t>
            </a:r>
          </a:p>
          <a:p>
            <a:pPr lvl="0" indent="0" marL="0">
              <a:buNone/>
            </a:pPr>
            <a:r>
              <a:rPr b="1"/>
              <a:t>Utilities:</a:t>
            </a:r>
            <a:r>
              <a:rPr/>
              <a:t> - </a:t>
            </a:r>
            <a:r>
              <a:rPr b="1"/>
              <a:t>winston</a:t>
            </a:r>
            <a:r>
              <a:rPr/>
              <a:t> - Logging framework - </a:t>
            </a:r>
            <a:r>
              <a:rPr b="1"/>
              <a:t>node-cron</a:t>
            </a:r>
            <a:r>
              <a:rPr/>
              <a:t> - Scheduled tasks - </a:t>
            </a:r>
            <a:r>
              <a:rPr b="1"/>
              <a:t>multer</a:t>
            </a:r>
            <a:r>
              <a:rPr/>
              <a:t> - File upload handling - </a:t>
            </a:r>
            <a:r>
              <a:rPr b="1"/>
              <a:t>compression</a:t>
            </a:r>
            <a:r>
              <a:rPr/>
              <a:t> - Response compression (gzip) - </a:t>
            </a:r>
            <a:r>
              <a:rPr b="1"/>
              <a:t>dotenv</a:t>
            </a:r>
            <a:r>
              <a:rPr/>
              <a:t> - Environment variable management</a:t>
            </a:r>
          </a:p>
          <a:p>
            <a:pPr lvl="0" indent="0" marL="0">
              <a:spcBef>
                <a:spcPts val="3000"/>
              </a:spcBef>
              <a:buNone/>
            </a:pPr>
            <a:r>
              <a:rPr b="1"/>
              <a:t>Frontend Technologies</a:t>
            </a:r>
          </a:p>
          <a:p>
            <a:pPr lvl="0" indent="0" marL="0">
              <a:buNone/>
            </a:pPr>
            <a:r>
              <a:rPr b="1"/>
              <a:t>Core Framework:</a:t>
            </a:r>
            <a:r>
              <a:rPr/>
              <a:t> - </a:t>
            </a:r>
            <a:r>
              <a:rPr b="1"/>
              <a:t>React 18.2.0</a:t>
            </a:r>
            <a:r>
              <a:rPr/>
              <a:t> - UI library - </a:t>
            </a:r>
            <a:r>
              <a:rPr b="1"/>
              <a:t>TypeScript 5.2.2</a:t>
            </a:r>
            <a:r>
              <a:rPr/>
              <a:t> - Type safety - </a:t>
            </a:r>
            <a:r>
              <a:rPr b="1"/>
              <a:t>Vite 5.0.8</a:t>
            </a:r>
            <a:r>
              <a:rPr/>
              <a:t> - Build tool (fast HMR)</a:t>
            </a:r>
          </a:p>
          <a:p>
            <a:pPr lvl="0" indent="0" marL="0">
              <a:buNone/>
            </a:pPr>
            <a:r>
              <a:rPr b="1"/>
              <a:t>State Management:</a:t>
            </a:r>
            <a:r>
              <a:rPr/>
              <a:t> - </a:t>
            </a:r>
            <a:r>
              <a:rPr b="1"/>
              <a:t>Zustand 4.4.7</a:t>
            </a:r>
            <a:r>
              <a:rPr/>
              <a:t> - Lightweight state management - Auth store - Notification store - User preferences</a:t>
            </a:r>
          </a:p>
          <a:p>
            <a:pPr lvl="0" indent="0" marL="0">
              <a:buNone/>
            </a:pPr>
            <a:r>
              <a:rPr b="1"/>
              <a:t>UI Library:</a:t>
            </a:r>
            <a:r>
              <a:rPr/>
              <a:t> - </a:t>
            </a:r>
            <a:r>
              <a:rPr b="1"/>
              <a:t>Material-UI (MUI) 5.15.0</a:t>
            </a:r>
            <a:r>
              <a:rPr/>
              <a:t> - Pre-built components - Theme customization - Responsive design - Accessibility built-in - </a:t>
            </a:r>
            <a:r>
              <a:rPr b="1"/>
              <a:t>Material Icons</a:t>
            </a:r>
            <a:r>
              <a:rPr/>
              <a:t> - Icon library</a:t>
            </a:r>
          </a:p>
          <a:p>
            <a:pPr lvl="0" indent="0" marL="0">
              <a:buNone/>
            </a:pPr>
            <a:r>
              <a:rPr b="1"/>
              <a:t>HTTP &amp; Real-Time:</a:t>
            </a:r>
            <a:r>
              <a:rPr/>
              <a:t> - </a:t>
            </a:r>
            <a:r>
              <a:rPr b="1"/>
              <a:t>Axios 1.6.2</a:t>
            </a:r>
            <a:r>
              <a:rPr/>
              <a:t> - HTTP client - Request/response interceptors - Automatic JSON transformation - Error handling - </a:t>
            </a:r>
            <a:r>
              <a:rPr b="1"/>
              <a:t>Socket.IO Client 4.6.2</a:t>
            </a:r>
            <a:r>
              <a:rPr/>
              <a:t> - WebSocket client</a:t>
            </a:r>
          </a:p>
          <a:p>
            <a:pPr lvl="0" indent="0" marL="0">
              <a:buNone/>
            </a:pPr>
            <a:r>
              <a:rPr b="1"/>
              <a:t>Routing &amp; Forms:</a:t>
            </a:r>
            <a:r>
              <a:rPr/>
              <a:t> - </a:t>
            </a:r>
            <a:r>
              <a:rPr b="1"/>
              <a:t>React Router 6.20.1</a:t>
            </a:r>
            <a:r>
              <a:rPr/>
              <a:t> - Client-side routing - </a:t>
            </a:r>
            <a:r>
              <a:rPr b="1"/>
              <a:t>react-hook-form 7.49.2</a:t>
            </a:r>
            <a:r>
              <a:rPr/>
              <a:t> - Form management - Performance optimization - Built-in validation</a:t>
            </a:r>
          </a:p>
          <a:p>
            <a:pPr lvl="0" indent="0" marL="0">
              <a:buNone/>
            </a:pPr>
            <a:r>
              <a:rPr b="1"/>
              <a:t>Data Visualization:</a:t>
            </a:r>
            <a:r>
              <a:rPr/>
              <a:t> - </a:t>
            </a:r>
            <a:r>
              <a:rPr b="1"/>
              <a:t>Recharts 2.10.3</a:t>
            </a:r>
            <a:r>
              <a:rPr/>
              <a:t> - Chart library - Line charts for vitals trends - Bar charts for analytics - Pie charts for distribution</a:t>
            </a:r>
          </a:p>
          <a:p>
            <a:pPr lvl="0" indent="0" marL="0">
              <a:buNone/>
            </a:pPr>
            <a:r>
              <a:rPr b="1"/>
              <a:t>Notifications:</a:t>
            </a:r>
            <a:r>
              <a:rPr/>
              <a:t> - </a:t>
            </a:r>
            <a:r>
              <a:rPr b="1"/>
              <a:t>react-hot-toast 2.4.1</a:t>
            </a:r>
            <a:r>
              <a:rPr/>
              <a:t> - Toast notifications - </a:t>
            </a:r>
            <a:r>
              <a:rPr b="1"/>
              <a:t>react-toastify 9.1.3</a:t>
            </a:r>
            <a:r>
              <a:rPr/>
              <a:t> - Alternative notifications</a:t>
            </a:r>
          </a:p>
          <a:p>
            <a:pPr lvl="0" indent="0" marL="0">
              <a:buNone/>
            </a:pPr>
            <a:r>
              <a:rPr b="1"/>
              <a:t>Date Handling:</a:t>
            </a:r>
            <a:r>
              <a:rPr/>
              <a:t> - </a:t>
            </a:r>
            <a:r>
              <a:rPr b="1"/>
              <a:t>date-fns 3.0.6</a:t>
            </a:r>
            <a:r>
              <a:rPr/>
              <a:t> - Date manipulation - Lightweight (vs. Moment.js) - Tree-shakeable - TypeScript support</a:t>
            </a:r>
          </a:p>
          <a:p>
            <a:pPr lvl="0" indent="0" marL="0">
              <a:spcBef>
                <a:spcPts val="3000"/>
              </a:spcBef>
              <a:buNone/>
            </a:pPr>
            <a:r>
              <a:rPr b="1"/>
              <a:t>Development Tools</a:t>
            </a:r>
          </a:p>
          <a:p>
            <a:pPr lvl="0" indent="0" marL="0">
              <a:buNone/>
            </a:pPr>
            <a:r>
              <a:rPr b="1"/>
              <a:t>Build &amp; Development:</a:t>
            </a:r>
            <a:r>
              <a:rPr/>
              <a:t> - </a:t>
            </a:r>
            <a:r>
              <a:rPr b="1"/>
              <a:t>Vite</a:t>
            </a:r>
            <a:r>
              <a:rPr/>
              <a:t> - Frontend build tool - </a:t>
            </a:r>
            <a:r>
              <a:rPr b="1"/>
              <a:t>ESLint</a:t>
            </a:r>
            <a:r>
              <a:rPr/>
              <a:t> - Code linting - </a:t>
            </a:r>
            <a:r>
              <a:rPr b="1"/>
              <a:t>Prettier</a:t>
            </a:r>
            <a:r>
              <a:rPr/>
              <a:t> - Code formatting - </a:t>
            </a:r>
            <a:r>
              <a:rPr b="1"/>
              <a:t>TypeScript Compiler</a:t>
            </a:r>
            <a:r>
              <a:rPr/>
              <a:t> - Type checking</a:t>
            </a:r>
          </a:p>
          <a:p>
            <a:pPr lvl="0" indent="0" marL="0">
              <a:buNone/>
            </a:pPr>
            <a:r>
              <a:rPr b="1"/>
              <a:t>Testing (Recommended):</a:t>
            </a:r>
            <a:r>
              <a:rPr/>
              <a:t> - </a:t>
            </a:r>
            <a:r>
              <a:rPr b="1"/>
              <a:t>Jest</a:t>
            </a:r>
            <a:r>
              <a:rPr/>
              <a:t> - Unit testing - </a:t>
            </a:r>
            <a:r>
              <a:rPr b="1"/>
              <a:t>React Testing Library</a:t>
            </a:r>
            <a:r>
              <a:rPr/>
              <a:t> - Component testing - </a:t>
            </a:r>
            <a:r>
              <a:rPr b="1"/>
              <a:t>Supertest</a:t>
            </a:r>
            <a:r>
              <a:rPr/>
              <a:t> - API testing - </a:t>
            </a:r>
            <a:r>
              <a:rPr b="1"/>
              <a:t>Cypress</a:t>
            </a:r>
            <a:r>
              <a:rPr/>
              <a:t> - E2E testing</a:t>
            </a:r>
          </a:p>
          <a:p>
            <a:pPr lvl="0" indent="0" marL="0">
              <a:buNone/>
            </a:pPr>
            <a:r>
              <a:rPr b="1"/>
              <a:t>DevOps:</a:t>
            </a:r>
            <a:r>
              <a:rPr/>
              <a:t> - </a:t>
            </a:r>
            <a:r>
              <a:rPr b="1"/>
              <a:t>Docker</a:t>
            </a:r>
            <a:r>
              <a:rPr/>
              <a:t> - Containerization - </a:t>
            </a:r>
            <a:r>
              <a:rPr b="1"/>
              <a:t>Docker Compose</a:t>
            </a:r>
            <a:r>
              <a:rPr/>
              <a:t> - Multi-container orchestration - </a:t>
            </a:r>
            <a:r>
              <a:rPr b="1"/>
              <a:t>Git</a:t>
            </a:r>
            <a:r>
              <a:rPr/>
              <a:t> - Version control - </a:t>
            </a:r>
            <a:r>
              <a:rPr b="1"/>
              <a:t>GitHub Actions / GitLab CI</a:t>
            </a:r>
            <a:r>
              <a:rPr/>
              <a:t> - CI/CD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Database Design</a:t>
            </a:r>
          </a:p>
        </p:txBody>
      </p:sp>
      <p:sp>
        <p:nvSpPr>
          <p:cNvPr id="3" name="Content Placeholder 2"/>
          <p:cNvSpPr>
            <a:spLocks noGrp="1"/>
          </p:cNvSpPr>
          <p:nvPr>
            <p:ph idx="1"/>
          </p:nvPr>
        </p:nvSpPr>
        <p:spPr/>
        <p:txBody>
          <a:bodyPr/>
          <a:lstStyle/>
          <a:p>
            <a:pPr lvl="0" indent="0" marL="0">
              <a:spcBef>
                <a:spcPts val="3000"/>
              </a:spcBef>
              <a:buNone/>
            </a:pPr>
            <a:r>
              <a:rPr b="1"/>
              <a:t>PostgreSQL Schema</a:t>
            </a:r>
          </a:p>
          <a:p>
            <a:pPr lvl="0" indent="0" marL="0">
              <a:buNone/>
            </a:pPr>
            <a:r>
              <a:rPr b="1"/>
              <a:t>Core Tables:</a:t>
            </a:r>
          </a:p>
          <a:p>
            <a:pPr lvl="0" indent="0">
              <a:buNone/>
            </a:pPr>
            <a:r>
              <a:rPr i="1">
                <a:solidFill>
                  <a:srgbClr val="60A0B0"/>
                </a:solidFill>
                <a:latin typeface="Courier"/>
              </a:rPr>
              <a:t>-- Users (staff)</a:t>
            </a:r>
            <a:br/>
            <a:r>
              <a:rPr b="1">
                <a:solidFill>
                  <a:srgbClr val="007020"/>
                </a:solidFill>
                <a:latin typeface="Courier"/>
              </a:rPr>
              <a:t>CREATE</a:t>
            </a:r>
            <a:r>
              <a:rPr>
                <a:latin typeface="Courier"/>
              </a:rPr>
              <a:t> </a:t>
            </a:r>
            <a:r>
              <a:rPr b="1">
                <a:solidFill>
                  <a:srgbClr val="007020"/>
                </a:solidFill>
                <a:latin typeface="Courier"/>
              </a:rPr>
              <a:t>TABLE</a:t>
            </a:r>
            <a:r>
              <a:rPr>
                <a:latin typeface="Courier"/>
              </a:rPr>
              <a:t> users (</a:t>
            </a:r>
            <a:br/>
            <a:r>
              <a:rPr>
                <a:latin typeface="Courier"/>
              </a:rPr>
              <a:t>    </a:t>
            </a:r>
            <a:r>
              <a:rPr b="1">
                <a:solidFill>
                  <a:srgbClr val="007020"/>
                </a:solidFill>
                <a:latin typeface="Courier"/>
              </a:rPr>
              <a:t>id</a:t>
            </a:r>
            <a:r>
              <a:rPr>
                <a:latin typeface="Courier"/>
              </a:rPr>
              <a:t> SERIAL </a:t>
            </a:r>
            <a:r>
              <a:rPr b="1">
                <a:solidFill>
                  <a:srgbClr val="007020"/>
                </a:solidFill>
                <a:latin typeface="Courier"/>
              </a:rPr>
              <a:t>PRIMARY</a:t>
            </a:r>
            <a:r>
              <a:rPr>
                <a:latin typeface="Courier"/>
              </a:rPr>
              <a:t> </a:t>
            </a:r>
            <a:r>
              <a:rPr b="1">
                <a:solidFill>
                  <a:srgbClr val="007020"/>
                </a:solidFill>
                <a:latin typeface="Courier"/>
              </a:rPr>
              <a:t>KEY</a:t>
            </a:r>
            <a:r>
              <a:rPr>
                <a:latin typeface="Courier"/>
              </a:rPr>
              <a:t>,</a:t>
            </a:r>
            <a:br/>
            <a:r>
              <a:rPr>
                <a:latin typeface="Courier"/>
              </a:rPr>
              <a:t>    email </a:t>
            </a:r>
            <a:r>
              <a:rPr>
                <a:solidFill>
                  <a:srgbClr val="902000"/>
                </a:solidFill>
                <a:latin typeface="Courier"/>
              </a:rPr>
              <a:t>VARCHAR</a:t>
            </a:r>
            <a:r>
              <a:rPr>
                <a:latin typeface="Courier"/>
              </a:rPr>
              <a:t>(</a:t>
            </a:r>
            <a:r>
              <a:rPr>
                <a:solidFill>
                  <a:srgbClr val="40A070"/>
                </a:solidFill>
                <a:latin typeface="Courier"/>
              </a:rPr>
              <a:t>255</a:t>
            </a:r>
            <a:r>
              <a:rPr>
                <a:latin typeface="Courier"/>
              </a:rPr>
              <a:t>) </a:t>
            </a:r>
            <a:r>
              <a:rPr b="1">
                <a:solidFill>
                  <a:srgbClr val="007020"/>
                </a:solidFill>
                <a:latin typeface="Courier"/>
              </a:rPr>
              <a:t>UNIQUE</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password_hash </a:t>
            </a:r>
            <a:r>
              <a:rPr>
                <a:solidFill>
                  <a:srgbClr val="902000"/>
                </a:solidFill>
                <a:latin typeface="Courier"/>
              </a:rPr>
              <a:t>VARCHAR</a:t>
            </a:r>
            <a:r>
              <a:rPr>
                <a:latin typeface="Courier"/>
              </a:rPr>
              <a:t>(</a:t>
            </a:r>
            <a:r>
              <a:rPr>
                <a:solidFill>
                  <a:srgbClr val="40A070"/>
                </a:solidFill>
                <a:latin typeface="Courier"/>
              </a:rPr>
              <a:t>255</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first_name </a:t>
            </a:r>
            <a:r>
              <a:rPr>
                <a:solidFill>
                  <a:srgbClr val="902000"/>
                </a:solidFill>
                <a:latin typeface="Courier"/>
              </a:rPr>
              <a:t>VARCHAR</a:t>
            </a:r>
            <a:r>
              <a:rPr>
                <a:latin typeface="Courier"/>
              </a:rPr>
              <a:t>(</a:t>
            </a:r>
            <a:r>
              <a:rPr>
                <a:solidFill>
                  <a:srgbClr val="40A070"/>
                </a:solidFill>
                <a:latin typeface="Courier"/>
              </a:rPr>
              <a:t>100</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last_name </a:t>
            </a:r>
            <a:r>
              <a:rPr>
                <a:solidFill>
                  <a:srgbClr val="902000"/>
                </a:solidFill>
                <a:latin typeface="Courier"/>
              </a:rPr>
              <a:t>VARCHAR</a:t>
            </a:r>
            <a:r>
              <a:rPr>
                <a:latin typeface="Courier"/>
              </a:rPr>
              <a:t>(</a:t>
            </a:r>
            <a:r>
              <a:rPr>
                <a:solidFill>
                  <a:srgbClr val="40A070"/>
                </a:solidFill>
                <a:latin typeface="Courier"/>
              </a:rPr>
              <a:t>100</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a:t>
            </a:r>
            <a:r>
              <a:rPr b="1">
                <a:solidFill>
                  <a:srgbClr val="007020"/>
                </a:solidFill>
                <a:latin typeface="Courier"/>
              </a:rPr>
              <a:t>role</a:t>
            </a:r>
            <a:r>
              <a:rPr>
                <a:latin typeface="Courier"/>
              </a:rPr>
              <a:t>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 </a:t>
            </a:r>
            <a:r>
              <a:rPr i="1">
                <a:solidFill>
                  <a:srgbClr val="60A0B0"/>
                </a:solidFill>
                <a:latin typeface="Courier"/>
              </a:rPr>
              <a:t>-- admin, doctor, nurse, receptionist, etc.</a:t>
            </a:r>
            <a:br/>
            <a:r>
              <a:rPr>
                <a:latin typeface="Courier"/>
              </a:rPr>
              <a:t>    phone </a:t>
            </a:r>
            <a:r>
              <a:rPr>
                <a:solidFill>
                  <a:srgbClr val="902000"/>
                </a:solidFill>
                <a:latin typeface="Courier"/>
              </a:rPr>
              <a:t>VARCHAR</a:t>
            </a:r>
            <a:r>
              <a:rPr>
                <a:latin typeface="Courier"/>
              </a:rPr>
              <a:t>(</a:t>
            </a:r>
            <a:r>
              <a:rPr>
                <a:solidFill>
                  <a:srgbClr val="40A070"/>
                </a:solidFill>
                <a:latin typeface="Courier"/>
              </a:rPr>
              <a:t>20</a:t>
            </a:r>
            <a:r>
              <a:rPr>
                <a:latin typeface="Courier"/>
              </a:rPr>
              <a:t>),</a:t>
            </a:r>
            <a:br/>
            <a:r>
              <a:rPr>
                <a:latin typeface="Courier"/>
              </a:rPr>
              <a:t>    is_active </a:t>
            </a:r>
            <a:r>
              <a:rPr>
                <a:solidFill>
                  <a:srgbClr val="902000"/>
                </a:solidFill>
                <a:latin typeface="Courier"/>
              </a:rPr>
              <a:t>BOOLEAN</a:t>
            </a:r>
            <a:r>
              <a:rPr>
                <a:latin typeface="Courier"/>
              </a:rPr>
              <a:t> </a:t>
            </a:r>
            <a:r>
              <a:rPr b="1">
                <a:solidFill>
                  <a:srgbClr val="007020"/>
                </a:solidFill>
                <a:latin typeface="Courier"/>
              </a:rPr>
              <a:t>DEFAULT</a:t>
            </a:r>
            <a:r>
              <a:rPr>
                <a:latin typeface="Courier"/>
              </a:rPr>
              <a:t> </a:t>
            </a:r>
            <a:r>
              <a:rPr b="1">
                <a:solidFill>
                  <a:srgbClr val="007020"/>
                </a:solidFill>
                <a:latin typeface="Courier"/>
              </a:rPr>
              <a:t>true</a:t>
            </a:r>
            <a:r>
              <a:rPr>
                <a:latin typeface="Courier"/>
              </a:rPr>
              <a:t>,</a:t>
            </a:r>
            <a:br/>
            <a:r>
              <a:rPr>
                <a:latin typeface="Courier"/>
              </a:rPr>
              <a:t>    created_at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r>
              <a:rPr>
                <a:latin typeface="Courier"/>
              </a:rPr>
              <a:t>,</a:t>
            </a:r>
            <a:br/>
            <a:r>
              <a:rPr>
                <a:latin typeface="Courier"/>
              </a:rPr>
              <a:t>    updated_at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br/>
            <a:r>
              <a:rPr>
                <a:latin typeface="Courier"/>
              </a:rPr>
              <a:t>);</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idx_users_email </a:t>
            </a:r>
            <a:r>
              <a:rPr b="1">
                <a:solidFill>
                  <a:srgbClr val="007020"/>
                </a:solidFill>
                <a:latin typeface="Courier"/>
              </a:rPr>
              <a:t>ON</a:t>
            </a:r>
            <a:r>
              <a:rPr>
                <a:latin typeface="Courier"/>
              </a:rPr>
              <a:t> users(email);</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idx_users_role </a:t>
            </a:r>
            <a:r>
              <a:rPr b="1">
                <a:solidFill>
                  <a:srgbClr val="007020"/>
                </a:solidFill>
                <a:latin typeface="Courier"/>
              </a:rPr>
              <a:t>ON</a:t>
            </a:r>
            <a:r>
              <a:rPr>
                <a:latin typeface="Courier"/>
              </a:rPr>
              <a:t> users(</a:t>
            </a:r>
            <a:r>
              <a:rPr b="1">
                <a:solidFill>
                  <a:srgbClr val="007020"/>
                </a:solidFill>
                <a:latin typeface="Courier"/>
              </a:rPr>
              <a:t>role</a:t>
            </a:r>
            <a:r>
              <a:rPr>
                <a:latin typeface="Courier"/>
              </a:rPr>
              <a:t>);</a:t>
            </a:r>
            <a:br/>
            <a:br/>
            <a:r>
              <a:rPr i="1">
                <a:solidFill>
                  <a:srgbClr val="60A0B0"/>
                </a:solidFill>
                <a:latin typeface="Courier"/>
              </a:rPr>
              <a:t>-- Patients</a:t>
            </a:r>
            <a:br/>
            <a:r>
              <a:rPr b="1">
                <a:solidFill>
                  <a:srgbClr val="007020"/>
                </a:solidFill>
                <a:latin typeface="Courier"/>
              </a:rPr>
              <a:t>CREATE</a:t>
            </a:r>
            <a:r>
              <a:rPr>
                <a:latin typeface="Courier"/>
              </a:rPr>
              <a:t> </a:t>
            </a:r>
            <a:r>
              <a:rPr b="1">
                <a:solidFill>
                  <a:srgbClr val="007020"/>
                </a:solidFill>
                <a:latin typeface="Courier"/>
              </a:rPr>
              <a:t>TABLE</a:t>
            </a:r>
            <a:r>
              <a:rPr>
                <a:latin typeface="Courier"/>
              </a:rPr>
              <a:t> patients (</a:t>
            </a:r>
            <a:br/>
            <a:r>
              <a:rPr>
                <a:latin typeface="Courier"/>
              </a:rPr>
              <a:t>    </a:t>
            </a:r>
            <a:r>
              <a:rPr b="1">
                <a:solidFill>
                  <a:srgbClr val="007020"/>
                </a:solidFill>
                <a:latin typeface="Courier"/>
              </a:rPr>
              <a:t>id</a:t>
            </a:r>
            <a:r>
              <a:rPr>
                <a:latin typeface="Courier"/>
              </a:rPr>
              <a:t> SERIAL </a:t>
            </a:r>
            <a:r>
              <a:rPr b="1">
                <a:solidFill>
                  <a:srgbClr val="007020"/>
                </a:solidFill>
                <a:latin typeface="Courier"/>
              </a:rPr>
              <a:t>PRIMARY</a:t>
            </a:r>
            <a:r>
              <a:rPr>
                <a:latin typeface="Courier"/>
              </a:rPr>
              <a:t> </a:t>
            </a:r>
            <a:r>
              <a:rPr b="1">
                <a:solidFill>
                  <a:srgbClr val="007020"/>
                </a:solidFill>
                <a:latin typeface="Courier"/>
              </a:rPr>
              <a:t>KEY</a:t>
            </a:r>
            <a:r>
              <a:rPr>
                <a:latin typeface="Courier"/>
              </a:rPr>
              <a:t>,</a:t>
            </a:r>
            <a:br/>
            <a:r>
              <a:rPr>
                <a:latin typeface="Courier"/>
              </a:rPr>
              <a:t>    patient_id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b="1">
                <a:solidFill>
                  <a:srgbClr val="007020"/>
                </a:solidFill>
                <a:latin typeface="Courier"/>
              </a:rPr>
              <a:t>UNIQUE</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 </a:t>
            </a:r>
            <a:r>
              <a:rPr i="1">
                <a:solidFill>
                  <a:srgbClr val="60A0B0"/>
                </a:solidFill>
                <a:latin typeface="Courier"/>
              </a:rPr>
              <a:t>-- PAT-YYYY-XXXX</a:t>
            </a:r>
            <a:br/>
            <a:r>
              <a:rPr>
                <a:latin typeface="Courier"/>
              </a:rPr>
              <a:t>    first_name </a:t>
            </a:r>
            <a:r>
              <a:rPr>
                <a:solidFill>
                  <a:srgbClr val="902000"/>
                </a:solidFill>
                <a:latin typeface="Courier"/>
              </a:rPr>
              <a:t>VARCHAR</a:t>
            </a:r>
            <a:r>
              <a:rPr>
                <a:latin typeface="Courier"/>
              </a:rPr>
              <a:t>(</a:t>
            </a:r>
            <a:r>
              <a:rPr>
                <a:solidFill>
                  <a:srgbClr val="40A070"/>
                </a:solidFill>
                <a:latin typeface="Courier"/>
              </a:rPr>
              <a:t>100</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last_name </a:t>
            </a:r>
            <a:r>
              <a:rPr>
                <a:solidFill>
                  <a:srgbClr val="902000"/>
                </a:solidFill>
                <a:latin typeface="Courier"/>
              </a:rPr>
              <a:t>VARCHAR</a:t>
            </a:r>
            <a:r>
              <a:rPr>
                <a:latin typeface="Courier"/>
              </a:rPr>
              <a:t>(</a:t>
            </a:r>
            <a:r>
              <a:rPr>
                <a:solidFill>
                  <a:srgbClr val="40A070"/>
                </a:solidFill>
                <a:latin typeface="Courier"/>
              </a:rPr>
              <a:t>100</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date_of_birth </a:t>
            </a:r>
            <a:r>
              <a:rPr>
                <a:solidFill>
                  <a:srgbClr val="902000"/>
                </a:solidFill>
                <a:latin typeface="Courier"/>
              </a:rPr>
              <a:t>DATE</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gender </a:t>
            </a:r>
            <a:r>
              <a:rPr>
                <a:solidFill>
                  <a:srgbClr val="902000"/>
                </a:solidFill>
                <a:latin typeface="Courier"/>
              </a:rPr>
              <a:t>VARCHAR</a:t>
            </a:r>
            <a:r>
              <a:rPr>
                <a:latin typeface="Courier"/>
              </a:rPr>
              <a:t>(</a:t>
            </a:r>
            <a:r>
              <a:rPr>
                <a:solidFill>
                  <a:srgbClr val="40A070"/>
                </a:solidFill>
                <a:latin typeface="Courier"/>
              </a:rPr>
              <a:t>20</a:t>
            </a:r>
            <a:r>
              <a:rPr>
                <a:latin typeface="Courier"/>
              </a:rPr>
              <a:t>),</a:t>
            </a:r>
            <a:br/>
            <a:r>
              <a:rPr>
                <a:latin typeface="Courier"/>
              </a:rPr>
              <a:t>    phone </a:t>
            </a:r>
            <a:r>
              <a:rPr>
                <a:solidFill>
                  <a:srgbClr val="902000"/>
                </a:solidFill>
                <a:latin typeface="Courier"/>
              </a:rPr>
              <a:t>VARCHAR</a:t>
            </a:r>
            <a:r>
              <a:rPr>
                <a:latin typeface="Courier"/>
              </a:rPr>
              <a:t>(</a:t>
            </a:r>
            <a:r>
              <a:rPr>
                <a:solidFill>
                  <a:srgbClr val="40A070"/>
                </a:solidFill>
                <a:latin typeface="Courier"/>
              </a:rPr>
              <a:t>20</a:t>
            </a:r>
            <a:r>
              <a:rPr>
                <a:latin typeface="Courier"/>
              </a:rPr>
              <a:t>),</a:t>
            </a:r>
            <a:br/>
            <a:r>
              <a:rPr>
                <a:latin typeface="Courier"/>
              </a:rPr>
              <a:t>    email </a:t>
            </a:r>
            <a:r>
              <a:rPr>
                <a:solidFill>
                  <a:srgbClr val="902000"/>
                </a:solidFill>
                <a:latin typeface="Courier"/>
              </a:rPr>
              <a:t>VARCHAR</a:t>
            </a:r>
            <a:r>
              <a:rPr>
                <a:latin typeface="Courier"/>
              </a:rPr>
              <a:t>(</a:t>
            </a:r>
            <a:r>
              <a:rPr>
                <a:solidFill>
                  <a:srgbClr val="40A070"/>
                </a:solidFill>
                <a:latin typeface="Courier"/>
              </a:rPr>
              <a:t>255</a:t>
            </a:r>
            <a:r>
              <a:rPr>
                <a:latin typeface="Courier"/>
              </a:rPr>
              <a:t>),</a:t>
            </a:r>
            <a:br/>
            <a:r>
              <a:rPr>
                <a:latin typeface="Courier"/>
              </a:rPr>
              <a:t>    address TEXT,</a:t>
            </a:r>
            <a:br/>
            <a:r>
              <a:rPr>
                <a:latin typeface="Courier"/>
              </a:rPr>
              <a:t>    blood_group </a:t>
            </a:r>
            <a:r>
              <a:rPr>
                <a:solidFill>
                  <a:srgbClr val="902000"/>
                </a:solidFill>
                <a:latin typeface="Courier"/>
              </a:rPr>
              <a:t>VARCHAR</a:t>
            </a:r>
            <a:r>
              <a:rPr>
                <a:latin typeface="Courier"/>
              </a:rPr>
              <a:t>(</a:t>
            </a:r>
            <a:r>
              <a:rPr>
                <a:solidFill>
                  <a:srgbClr val="40A070"/>
                </a:solidFill>
                <a:latin typeface="Courier"/>
              </a:rPr>
              <a:t>5</a:t>
            </a:r>
            <a:r>
              <a:rPr>
                <a:latin typeface="Courier"/>
              </a:rPr>
              <a:t>),</a:t>
            </a:r>
            <a:br/>
            <a:r>
              <a:rPr>
                <a:latin typeface="Courier"/>
              </a:rPr>
              <a:t>    allergies TEXT,</a:t>
            </a:r>
            <a:br/>
            <a:r>
              <a:rPr>
                <a:latin typeface="Courier"/>
              </a:rPr>
              <a:t>    emergency_contact_name </a:t>
            </a:r>
            <a:r>
              <a:rPr>
                <a:solidFill>
                  <a:srgbClr val="902000"/>
                </a:solidFill>
                <a:latin typeface="Courier"/>
              </a:rPr>
              <a:t>VARCHAR</a:t>
            </a:r>
            <a:r>
              <a:rPr>
                <a:latin typeface="Courier"/>
              </a:rPr>
              <a:t>(</a:t>
            </a:r>
            <a:r>
              <a:rPr>
                <a:solidFill>
                  <a:srgbClr val="40A070"/>
                </a:solidFill>
                <a:latin typeface="Courier"/>
              </a:rPr>
              <a:t>100</a:t>
            </a:r>
            <a:r>
              <a:rPr>
                <a:latin typeface="Courier"/>
              </a:rPr>
              <a:t>),</a:t>
            </a:r>
            <a:br/>
            <a:r>
              <a:rPr>
                <a:latin typeface="Courier"/>
              </a:rPr>
              <a:t>    emergency_contact_phone </a:t>
            </a:r>
            <a:r>
              <a:rPr>
                <a:solidFill>
                  <a:srgbClr val="902000"/>
                </a:solidFill>
                <a:latin typeface="Courier"/>
              </a:rPr>
              <a:t>VARCHAR</a:t>
            </a:r>
            <a:r>
              <a:rPr>
                <a:latin typeface="Courier"/>
              </a:rPr>
              <a:t>(</a:t>
            </a:r>
            <a:r>
              <a:rPr>
                <a:solidFill>
                  <a:srgbClr val="40A070"/>
                </a:solidFill>
                <a:latin typeface="Courier"/>
              </a:rPr>
              <a:t>20</a:t>
            </a:r>
            <a:r>
              <a:rPr>
                <a:latin typeface="Courier"/>
              </a:rPr>
              <a:t>),</a:t>
            </a:r>
            <a:br/>
            <a:r>
              <a:rPr>
                <a:latin typeface="Courier"/>
              </a:rPr>
              <a:t>    insurance_provider </a:t>
            </a:r>
            <a:r>
              <a:rPr>
                <a:solidFill>
                  <a:srgbClr val="902000"/>
                </a:solidFill>
                <a:latin typeface="Courier"/>
              </a:rPr>
              <a:t>VARCHAR</a:t>
            </a:r>
            <a:r>
              <a:rPr>
                <a:latin typeface="Courier"/>
              </a:rPr>
              <a:t>(</a:t>
            </a:r>
            <a:r>
              <a:rPr>
                <a:solidFill>
                  <a:srgbClr val="40A070"/>
                </a:solidFill>
                <a:latin typeface="Courier"/>
              </a:rPr>
              <a:t>100</a:t>
            </a:r>
            <a:r>
              <a:rPr>
                <a:latin typeface="Courier"/>
              </a:rPr>
              <a:t>),</a:t>
            </a:r>
            <a:br/>
            <a:r>
              <a:rPr>
                <a:latin typeface="Courier"/>
              </a:rPr>
              <a:t>    insurance_number </a:t>
            </a:r>
            <a:r>
              <a:rPr>
                <a:solidFill>
                  <a:srgbClr val="902000"/>
                </a:solidFill>
                <a:latin typeface="Courier"/>
              </a:rPr>
              <a:t>VARCHAR</a:t>
            </a:r>
            <a:r>
              <a:rPr>
                <a:latin typeface="Courier"/>
              </a:rPr>
              <a:t>(</a:t>
            </a:r>
            <a:r>
              <a:rPr>
                <a:solidFill>
                  <a:srgbClr val="40A070"/>
                </a:solidFill>
                <a:latin typeface="Courier"/>
              </a:rPr>
              <a:t>100</a:t>
            </a:r>
            <a:r>
              <a:rPr>
                <a:latin typeface="Courier"/>
              </a:rPr>
              <a:t>),</a:t>
            </a:r>
            <a:br/>
            <a:r>
              <a:rPr>
                <a:latin typeface="Courier"/>
              </a:rPr>
              <a:t>    created_at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r>
              <a:rPr>
                <a:latin typeface="Courier"/>
              </a:rPr>
              <a:t>,</a:t>
            </a:r>
            <a:br/>
            <a:r>
              <a:rPr>
                <a:latin typeface="Courier"/>
              </a:rPr>
              <a:t>    updated_at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br/>
            <a:r>
              <a:rPr>
                <a:latin typeface="Courier"/>
              </a:rPr>
              <a:t>);</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idx_patients_patient_id </a:t>
            </a:r>
            <a:r>
              <a:rPr b="1">
                <a:solidFill>
                  <a:srgbClr val="007020"/>
                </a:solidFill>
                <a:latin typeface="Courier"/>
              </a:rPr>
              <a:t>ON</a:t>
            </a:r>
            <a:r>
              <a:rPr>
                <a:latin typeface="Courier"/>
              </a:rPr>
              <a:t> patients(patient_id);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idx_patients_phone </a:t>
            </a:r>
            <a:r>
              <a:rPr b="1">
                <a:solidFill>
                  <a:srgbClr val="007020"/>
                </a:solidFill>
                <a:latin typeface="Courier"/>
              </a:rPr>
              <a:t>ON</a:t>
            </a:r>
            <a:r>
              <a:rPr>
                <a:latin typeface="Courier"/>
              </a:rPr>
              <a:t> patients(phone);</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idx_patients_dob </a:t>
            </a:r>
            <a:r>
              <a:rPr b="1">
                <a:solidFill>
                  <a:srgbClr val="007020"/>
                </a:solidFill>
                <a:latin typeface="Courier"/>
              </a:rPr>
              <a:t>ON</a:t>
            </a:r>
            <a:r>
              <a:rPr>
                <a:latin typeface="Courier"/>
              </a:rPr>
              <a:t> patients(date_of_birth);</a:t>
            </a:r>
            <a:br/>
            <a:br/>
            <a:r>
              <a:rPr i="1">
                <a:solidFill>
                  <a:srgbClr val="60A0B0"/>
                </a:solidFill>
                <a:latin typeface="Courier"/>
              </a:rPr>
              <a:t>-- Visits (patient encounters)</a:t>
            </a:r>
            <a:br/>
            <a:r>
              <a:rPr b="1">
                <a:solidFill>
                  <a:srgbClr val="007020"/>
                </a:solidFill>
                <a:latin typeface="Courier"/>
              </a:rPr>
              <a:t>CREATE</a:t>
            </a:r>
            <a:r>
              <a:rPr>
                <a:latin typeface="Courier"/>
              </a:rPr>
              <a:t> </a:t>
            </a:r>
            <a:r>
              <a:rPr b="1">
                <a:solidFill>
                  <a:srgbClr val="007020"/>
                </a:solidFill>
                <a:latin typeface="Courier"/>
              </a:rPr>
              <a:t>TABLE</a:t>
            </a:r>
            <a:r>
              <a:rPr>
                <a:latin typeface="Courier"/>
              </a:rPr>
              <a:t> visits (</a:t>
            </a:r>
            <a:br/>
            <a:r>
              <a:rPr>
                <a:latin typeface="Courier"/>
              </a:rPr>
              <a:t>    </a:t>
            </a:r>
            <a:r>
              <a:rPr b="1">
                <a:solidFill>
                  <a:srgbClr val="007020"/>
                </a:solidFill>
                <a:latin typeface="Courier"/>
              </a:rPr>
              <a:t>id</a:t>
            </a:r>
            <a:r>
              <a:rPr>
                <a:latin typeface="Courier"/>
              </a:rPr>
              <a:t> SERIAL </a:t>
            </a:r>
            <a:r>
              <a:rPr b="1">
                <a:solidFill>
                  <a:srgbClr val="007020"/>
                </a:solidFill>
                <a:latin typeface="Courier"/>
              </a:rPr>
              <a:t>PRIMARY</a:t>
            </a:r>
            <a:r>
              <a:rPr>
                <a:latin typeface="Courier"/>
              </a:rPr>
              <a:t> </a:t>
            </a:r>
            <a:r>
              <a:rPr b="1">
                <a:solidFill>
                  <a:srgbClr val="007020"/>
                </a:solidFill>
                <a:latin typeface="Courier"/>
              </a:rPr>
              <a:t>KEY</a:t>
            </a:r>
            <a:r>
              <a:rPr>
                <a:latin typeface="Courier"/>
              </a:rPr>
              <a:t>,</a:t>
            </a:r>
            <a:br/>
            <a:r>
              <a:rPr>
                <a:latin typeface="Courier"/>
              </a:rPr>
              <a:t>    visit_id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b="1">
                <a:solidFill>
                  <a:srgbClr val="007020"/>
                </a:solidFill>
                <a:latin typeface="Courier"/>
              </a:rPr>
              <a:t>UNIQUE</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patient_id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patients(</a:t>
            </a:r>
            <a:r>
              <a:rPr b="1">
                <a:solidFill>
                  <a:srgbClr val="007020"/>
                </a:solidFill>
                <a:latin typeface="Courier"/>
              </a:rPr>
              <a:t>id</a:t>
            </a:r>
            <a:r>
              <a:rPr>
                <a:latin typeface="Courier"/>
              </a:rPr>
              <a:t>),</a:t>
            </a:r>
            <a:br/>
            <a:r>
              <a:rPr>
                <a:latin typeface="Courier"/>
              </a:rPr>
              <a:t>    doctor_id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users(</a:t>
            </a:r>
            <a:r>
              <a:rPr b="1">
                <a:solidFill>
                  <a:srgbClr val="007020"/>
                </a:solidFill>
                <a:latin typeface="Courier"/>
              </a:rPr>
              <a:t>id</a:t>
            </a:r>
            <a:r>
              <a:rPr>
                <a:latin typeface="Courier"/>
              </a:rPr>
              <a:t>),</a:t>
            </a:r>
            <a:br/>
            <a:r>
              <a:rPr>
                <a:latin typeface="Courier"/>
              </a:rPr>
              <a:t>    visit_type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i="1">
                <a:solidFill>
                  <a:srgbClr val="60A0B0"/>
                </a:solidFill>
                <a:latin typeface="Courier"/>
              </a:rPr>
              <a:t>-- new, followup, emergency</a:t>
            </a:r>
            <a:br/>
            <a:r>
              <a:rPr>
                <a:latin typeface="Courier"/>
              </a:rPr>
              <a:t>    department </a:t>
            </a:r>
            <a:r>
              <a:rPr>
                <a:solidFill>
                  <a:srgbClr val="902000"/>
                </a:solidFill>
                <a:latin typeface="Courier"/>
              </a:rPr>
              <a:t>VARCHAR</a:t>
            </a:r>
            <a:r>
              <a:rPr>
                <a:latin typeface="Courier"/>
              </a:rPr>
              <a:t>(</a:t>
            </a:r>
            <a:r>
              <a:rPr>
                <a:solidFill>
                  <a:srgbClr val="40A070"/>
                </a:solidFill>
                <a:latin typeface="Courier"/>
              </a:rPr>
              <a:t>100</a:t>
            </a:r>
            <a:r>
              <a:rPr>
                <a:latin typeface="Courier"/>
              </a:rPr>
              <a:t>),</a:t>
            </a:r>
            <a:br/>
            <a:r>
              <a:rPr>
                <a:latin typeface="Courier"/>
              </a:rPr>
              <a:t>    chief_complaint TEXT,</a:t>
            </a:r>
            <a:br/>
            <a:r>
              <a:rPr>
                <a:latin typeface="Courier"/>
              </a:rPr>
              <a:t>    status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i="1">
                <a:solidFill>
                  <a:srgbClr val="60A0B0"/>
                </a:solidFill>
                <a:latin typeface="Courier"/>
              </a:rPr>
              <a:t>-- checked_in, in_progress, completed, cancelled</a:t>
            </a:r>
            <a:br/>
            <a:r>
              <a:rPr>
                <a:latin typeface="Courier"/>
              </a:rPr>
              <a:t>    check_in_time </a:t>
            </a:r>
            <a:r>
              <a:rPr>
                <a:solidFill>
                  <a:srgbClr val="902000"/>
                </a:solidFill>
                <a:latin typeface="Courier"/>
              </a:rPr>
              <a:t>TIMESTAMP</a:t>
            </a:r>
            <a:r>
              <a:rPr>
                <a:latin typeface="Courier"/>
              </a:rPr>
              <a:t>,</a:t>
            </a:r>
            <a:br/>
            <a:r>
              <a:rPr>
                <a:latin typeface="Courier"/>
              </a:rPr>
              <a:t>    consultation_start_time </a:t>
            </a:r>
            <a:r>
              <a:rPr>
                <a:solidFill>
                  <a:srgbClr val="902000"/>
                </a:solidFill>
                <a:latin typeface="Courier"/>
              </a:rPr>
              <a:t>TIMESTAMP</a:t>
            </a:r>
            <a:r>
              <a:rPr>
                <a:latin typeface="Courier"/>
              </a:rPr>
              <a:t>,</a:t>
            </a:r>
            <a:br/>
            <a:r>
              <a:rPr>
                <a:latin typeface="Courier"/>
              </a:rPr>
              <a:t>    consultation_end_time </a:t>
            </a:r>
            <a:r>
              <a:rPr>
                <a:solidFill>
                  <a:srgbClr val="902000"/>
                </a:solidFill>
                <a:latin typeface="Courier"/>
              </a:rPr>
              <a:t>TIMESTAMP</a:t>
            </a:r>
            <a:r>
              <a:rPr>
                <a:latin typeface="Courier"/>
              </a:rPr>
              <a:t>,</a:t>
            </a:r>
            <a:br/>
            <a:r>
              <a:rPr>
                <a:latin typeface="Courier"/>
              </a:rPr>
              <a:t>    vitals JSONB, </a:t>
            </a:r>
            <a:r>
              <a:rPr i="1">
                <a:solidFill>
                  <a:srgbClr val="60A0B0"/>
                </a:solidFill>
                <a:latin typeface="Courier"/>
              </a:rPr>
              <a:t>-- {bp: "120/80", temp: "98.6", pulse: 72, ...}</a:t>
            </a:r>
            <a:br/>
            <a:r>
              <a:rPr>
                <a:latin typeface="Courier"/>
              </a:rPr>
              <a:t>    consultation_notes TEXT,</a:t>
            </a:r>
            <a:br/>
            <a:r>
              <a:rPr>
                <a:latin typeface="Courier"/>
              </a:rPr>
              <a:t>    diagnosis TEXT,</a:t>
            </a:r>
            <a:br/>
            <a:r>
              <a:rPr>
                <a:latin typeface="Courier"/>
              </a:rPr>
              <a:t>    created_at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r>
              <a:rPr>
                <a:latin typeface="Courier"/>
              </a:rPr>
              <a:t>,</a:t>
            </a:r>
            <a:br/>
            <a:r>
              <a:rPr>
                <a:latin typeface="Courier"/>
              </a:rPr>
              <a:t>    updated_at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br/>
            <a:r>
              <a:rPr>
                <a:latin typeface="Courier"/>
              </a:rPr>
              <a:t>);</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idx_visits_patient_id </a:t>
            </a:r>
            <a:r>
              <a:rPr b="1">
                <a:solidFill>
                  <a:srgbClr val="007020"/>
                </a:solidFill>
                <a:latin typeface="Courier"/>
              </a:rPr>
              <a:t>ON</a:t>
            </a:r>
            <a:r>
              <a:rPr>
                <a:latin typeface="Courier"/>
              </a:rPr>
              <a:t> visits(patient_id);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idx_visits_doctor_id </a:t>
            </a:r>
            <a:r>
              <a:rPr b="1">
                <a:solidFill>
                  <a:srgbClr val="007020"/>
                </a:solidFill>
                <a:latin typeface="Courier"/>
              </a:rPr>
              <a:t>ON</a:t>
            </a:r>
            <a:r>
              <a:rPr>
                <a:latin typeface="Courier"/>
              </a:rPr>
              <a:t> visits(doctor_id);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idx_visits_status </a:t>
            </a:r>
            <a:r>
              <a:rPr b="1">
                <a:solidFill>
                  <a:srgbClr val="007020"/>
                </a:solidFill>
                <a:latin typeface="Courier"/>
              </a:rPr>
              <a:t>ON</a:t>
            </a:r>
            <a:r>
              <a:rPr>
                <a:latin typeface="Courier"/>
              </a:rPr>
              <a:t> visits(status);</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idx_visits_check_in_time </a:t>
            </a:r>
            <a:r>
              <a:rPr b="1">
                <a:solidFill>
                  <a:srgbClr val="007020"/>
                </a:solidFill>
                <a:latin typeface="Courier"/>
              </a:rPr>
              <a:t>ON</a:t>
            </a:r>
            <a:r>
              <a:rPr>
                <a:latin typeface="Courier"/>
              </a:rPr>
              <a:t> visits(check_in_time);</a:t>
            </a:r>
            <a:br/>
            <a:br/>
            <a:r>
              <a:rPr i="1">
                <a:solidFill>
                  <a:srgbClr val="60A0B0"/>
                </a:solidFill>
                <a:latin typeface="Courier"/>
              </a:rPr>
              <a:t>-- Queue</a:t>
            </a:r>
            <a:br/>
            <a:r>
              <a:rPr b="1">
                <a:solidFill>
                  <a:srgbClr val="007020"/>
                </a:solidFill>
                <a:latin typeface="Courier"/>
              </a:rPr>
              <a:t>CREATE</a:t>
            </a:r>
            <a:r>
              <a:rPr>
                <a:latin typeface="Courier"/>
              </a:rPr>
              <a:t> </a:t>
            </a:r>
            <a:r>
              <a:rPr b="1">
                <a:solidFill>
                  <a:srgbClr val="007020"/>
                </a:solidFill>
                <a:latin typeface="Courier"/>
              </a:rPr>
              <a:t>TABLE</a:t>
            </a:r>
            <a:r>
              <a:rPr>
                <a:latin typeface="Courier"/>
              </a:rPr>
              <a:t> </a:t>
            </a:r>
            <a:r>
              <a:rPr b="1">
                <a:solidFill>
                  <a:srgbClr val="007020"/>
                </a:solidFill>
                <a:latin typeface="Courier"/>
              </a:rPr>
              <a:t>queue</a:t>
            </a:r>
            <a:r>
              <a:rPr>
                <a:latin typeface="Courier"/>
              </a:rPr>
              <a:t> (</a:t>
            </a:r>
            <a:br/>
            <a:r>
              <a:rPr>
                <a:latin typeface="Courier"/>
              </a:rPr>
              <a:t>    </a:t>
            </a:r>
            <a:r>
              <a:rPr b="1">
                <a:solidFill>
                  <a:srgbClr val="007020"/>
                </a:solidFill>
                <a:latin typeface="Courier"/>
              </a:rPr>
              <a:t>id</a:t>
            </a:r>
            <a:r>
              <a:rPr>
                <a:latin typeface="Courier"/>
              </a:rPr>
              <a:t> SERIAL </a:t>
            </a:r>
            <a:r>
              <a:rPr b="1">
                <a:solidFill>
                  <a:srgbClr val="007020"/>
                </a:solidFill>
                <a:latin typeface="Courier"/>
              </a:rPr>
              <a:t>PRIMARY</a:t>
            </a:r>
            <a:r>
              <a:rPr>
                <a:latin typeface="Courier"/>
              </a:rPr>
              <a:t> </a:t>
            </a:r>
            <a:r>
              <a:rPr b="1">
                <a:solidFill>
                  <a:srgbClr val="007020"/>
                </a:solidFill>
                <a:latin typeface="Courier"/>
              </a:rPr>
              <a:t>KEY</a:t>
            </a:r>
            <a:r>
              <a:rPr>
                <a:latin typeface="Courier"/>
              </a:rPr>
              <a:t>,</a:t>
            </a:r>
            <a:br/>
            <a:r>
              <a:rPr>
                <a:latin typeface="Courier"/>
              </a:rPr>
              <a:t>    visit_id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visits(</a:t>
            </a:r>
            <a:r>
              <a:rPr b="1">
                <a:solidFill>
                  <a:srgbClr val="007020"/>
                </a:solidFill>
                <a:latin typeface="Courier"/>
              </a:rPr>
              <a:t>id</a:t>
            </a:r>
            <a:r>
              <a:rPr>
                <a:latin typeface="Courier"/>
              </a:rPr>
              <a:t>) </a:t>
            </a:r>
            <a:r>
              <a:rPr b="1">
                <a:solidFill>
                  <a:srgbClr val="007020"/>
                </a:solidFill>
                <a:latin typeface="Courier"/>
              </a:rPr>
              <a:t>UNIQUE</a:t>
            </a:r>
            <a:r>
              <a:rPr>
                <a:latin typeface="Courier"/>
              </a:rPr>
              <a:t>,</a:t>
            </a:r>
            <a:br/>
            <a:r>
              <a:rPr>
                <a:latin typeface="Courier"/>
              </a:rPr>
              <a:t>    patient_id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patients(</a:t>
            </a:r>
            <a:r>
              <a:rPr b="1">
                <a:solidFill>
                  <a:srgbClr val="007020"/>
                </a:solidFill>
                <a:latin typeface="Courier"/>
              </a:rPr>
              <a:t>id</a:t>
            </a:r>
            <a:r>
              <a:rPr>
                <a:latin typeface="Courier"/>
              </a:rPr>
              <a:t>),</a:t>
            </a:r>
            <a:br/>
            <a:r>
              <a:rPr>
                <a:latin typeface="Courier"/>
              </a:rPr>
              <a:t>    doctor_id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users(</a:t>
            </a:r>
            <a:r>
              <a:rPr b="1">
                <a:solidFill>
                  <a:srgbClr val="007020"/>
                </a:solidFill>
                <a:latin typeface="Courier"/>
              </a:rPr>
              <a:t>id</a:t>
            </a:r>
            <a:r>
              <a:rPr>
                <a:latin typeface="Courier"/>
              </a:rPr>
              <a:t>),</a:t>
            </a:r>
            <a:br/>
            <a:r>
              <a:rPr>
                <a:latin typeface="Courier"/>
              </a:rPr>
              <a:t>    department </a:t>
            </a:r>
            <a:r>
              <a:rPr>
                <a:solidFill>
                  <a:srgbClr val="902000"/>
                </a:solidFill>
                <a:latin typeface="Courier"/>
              </a:rPr>
              <a:t>VARCHAR</a:t>
            </a:r>
            <a:r>
              <a:rPr>
                <a:latin typeface="Courier"/>
              </a:rPr>
              <a:t>(</a:t>
            </a:r>
            <a:r>
              <a:rPr>
                <a:solidFill>
                  <a:srgbClr val="40A070"/>
                </a:solidFill>
                <a:latin typeface="Courier"/>
              </a:rPr>
              <a:t>100</a:t>
            </a:r>
            <a:r>
              <a:rPr>
                <a:latin typeface="Courier"/>
              </a:rPr>
              <a:t>),</a:t>
            </a:r>
            <a:br/>
            <a:r>
              <a:rPr>
                <a:latin typeface="Courier"/>
              </a:rPr>
              <a:t>    priority </a:t>
            </a:r>
            <a:r>
              <a:rPr>
                <a:solidFill>
                  <a:srgbClr val="902000"/>
                </a:solidFill>
                <a:latin typeface="Courier"/>
              </a:rPr>
              <a:t>VARCHAR</a:t>
            </a:r>
            <a:r>
              <a:rPr>
                <a:latin typeface="Courier"/>
              </a:rPr>
              <a:t>(</a:t>
            </a:r>
            <a:r>
              <a:rPr>
                <a:solidFill>
                  <a:srgbClr val="40A070"/>
                </a:solidFill>
                <a:latin typeface="Courier"/>
              </a:rPr>
              <a:t>20</a:t>
            </a:r>
            <a:r>
              <a:rPr>
                <a:latin typeface="Courier"/>
              </a:rPr>
              <a:t>), </a:t>
            </a:r>
            <a:r>
              <a:rPr i="1">
                <a:solidFill>
                  <a:srgbClr val="60A0B0"/>
                </a:solidFill>
                <a:latin typeface="Courier"/>
              </a:rPr>
              <a:t>-- normal, urgent, emergency</a:t>
            </a:r>
            <a:br/>
            <a:r>
              <a:rPr>
                <a:latin typeface="Courier"/>
              </a:rPr>
              <a:t>    status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i="1">
                <a:solidFill>
                  <a:srgbClr val="60A0B0"/>
                </a:solidFill>
                <a:latin typeface="Courier"/>
              </a:rPr>
              <a:t>-- waiting, in_progress, completed</a:t>
            </a:r>
            <a:br/>
            <a:r>
              <a:rPr>
                <a:latin typeface="Courier"/>
              </a:rPr>
              <a:t>    position </a:t>
            </a:r>
            <a:r>
              <a:rPr>
                <a:solidFill>
                  <a:srgbClr val="902000"/>
                </a:solidFill>
                <a:latin typeface="Courier"/>
              </a:rPr>
              <a:t>INTEGER</a:t>
            </a:r>
            <a:r>
              <a:rPr>
                <a:latin typeface="Courier"/>
              </a:rPr>
              <a:t>,</a:t>
            </a:r>
            <a:br/>
            <a:r>
              <a:rPr>
                <a:latin typeface="Courier"/>
              </a:rPr>
              <a:t>    estimated_wait_time </a:t>
            </a:r>
            <a:r>
              <a:rPr>
                <a:solidFill>
                  <a:srgbClr val="902000"/>
                </a:solidFill>
                <a:latin typeface="Courier"/>
              </a:rPr>
              <a:t>INTEGER</a:t>
            </a:r>
            <a:r>
              <a:rPr>
                <a:latin typeface="Courier"/>
              </a:rPr>
              <a:t>, </a:t>
            </a:r>
            <a:r>
              <a:rPr i="1">
                <a:solidFill>
                  <a:srgbClr val="60A0B0"/>
                </a:solidFill>
                <a:latin typeface="Courier"/>
              </a:rPr>
              <a:t>-- minutes</a:t>
            </a:r>
            <a:br/>
            <a:r>
              <a:rPr>
                <a:latin typeface="Courier"/>
              </a:rPr>
              <a:t>    created_at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r>
              <a:rPr>
                <a:latin typeface="Courier"/>
              </a:rPr>
              <a:t>,</a:t>
            </a:r>
            <a:br/>
            <a:r>
              <a:rPr>
                <a:latin typeface="Courier"/>
              </a:rPr>
              <a:t>    updated_at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br/>
            <a:r>
              <a:rPr>
                <a:latin typeface="Courier"/>
              </a:rPr>
              <a:t>);</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idx_queue_doctor_id </a:t>
            </a:r>
            <a:r>
              <a:rPr b="1">
                <a:solidFill>
                  <a:srgbClr val="007020"/>
                </a:solidFill>
                <a:latin typeface="Courier"/>
              </a:rPr>
              <a:t>ON</a:t>
            </a:r>
            <a:r>
              <a:rPr>
                <a:latin typeface="Courier"/>
              </a:rPr>
              <a:t> </a:t>
            </a:r>
            <a:r>
              <a:rPr b="1">
                <a:solidFill>
                  <a:srgbClr val="007020"/>
                </a:solidFill>
                <a:latin typeface="Courier"/>
              </a:rPr>
              <a:t>queue</a:t>
            </a:r>
            <a:r>
              <a:rPr>
                <a:latin typeface="Courier"/>
              </a:rPr>
              <a:t>(doctor_id);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idx_queue_status </a:t>
            </a:r>
            <a:r>
              <a:rPr b="1">
                <a:solidFill>
                  <a:srgbClr val="007020"/>
                </a:solidFill>
                <a:latin typeface="Courier"/>
              </a:rPr>
              <a:t>ON</a:t>
            </a:r>
            <a:r>
              <a:rPr>
                <a:latin typeface="Courier"/>
              </a:rPr>
              <a:t> </a:t>
            </a:r>
            <a:r>
              <a:rPr b="1">
                <a:solidFill>
                  <a:srgbClr val="007020"/>
                </a:solidFill>
                <a:latin typeface="Courier"/>
              </a:rPr>
              <a:t>queue</a:t>
            </a:r>
            <a:r>
              <a:rPr>
                <a:latin typeface="Courier"/>
              </a:rPr>
              <a:t>(status);</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idx_queue_priority </a:t>
            </a:r>
            <a:r>
              <a:rPr b="1">
                <a:solidFill>
                  <a:srgbClr val="007020"/>
                </a:solidFill>
                <a:latin typeface="Courier"/>
              </a:rPr>
              <a:t>ON</a:t>
            </a:r>
            <a:r>
              <a:rPr>
                <a:latin typeface="Courier"/>
              </a:rPr>
              <a:t> </a:t>
            </a:r>
            <a:r>
              <a:rPr b="1">
                <a:solidFill>
                  <a:srgbClr val="007020"/>
                </a:solidFill>
                <a:latin typeface="Courier"/>
              </a:rPr>
              <a:t>queue</a:t>
            </a:r>
            <a:r>
              <a:rPr>
                <a:latin typeface="Courier"/>
              </a:rPr>
              <a:t>(priority);</a:t>
            </a:r>
            <a:br/>
            <a:br/>
            <a:r>
              <a:rPr i="1">
                <a:solidFill>
                  <a:srgbClr val="60A0B0"/>
                </a:solidFill>
                <a:latin typeface="Courier"/>
              </a:rPr>
              <a:t>-- Prescriptions</a:t>
            </a:r>
            <a:br/>
            <a:r>
              <a:rPr b="1">
                <a:solidFill>
                  <a:srgbClr val="007020"/>
                </a:solidFill>
                <a:latin typeface="Courier"/>
              </a:rPr>
              <a:t>CREATE</a:t>
            </a:r>
            <a:r>
              <a:rPr>
                <a:latin typeface="Courier"/>
              </a:rPr>
              <a:t> </a:t>
            </a:r>
            <a:r>
              <a:rPr b="1">
                <a:solidFill>
                  <a:srgbClr val="007020"/>
                </a:solidFill>
                <a:latin typeface="Courier"/>
              </a:rPr>
              <a:t>TABLE</a:t>
            </a:r>
            <a:r>
              <a:rPr>
                <a:latin typeface="Courier"/>
              </a:rPr>
              <a:t> prescriptions (</a:t>
            </a:r>
            <a:br/>
            <a:r>
              <a:rPr>
                <a:latin typeface="Courier"/>
              </a:rPr>
              <a:t>    </a:t>
            </a:r>
            <a:r>
              <a:rPr b="1">
                <a:solidFill>
                  <a:srgbClr val="007020"/>
                </a:solidFill>
                <a:latin typeface="Courier"/>
              </a:rPr>
              <a:t>id</a:t>
            </a:r>
            <a:r>
              <a:rPr>
                <a:latin typeface="Courier"/>
              </a:rPr>
              <a:t> SERIAL </a:t>
            </a:r>
            <a:r>
              <a:rPr b="1">
                <a:solidFill>
                  <a:srgbClr val="007020"/>
                </a:solidFill>
                <a:latin typeface="Courier"/>
              </a:rPr>
              <a:t>PRIMARY</a:t>
            </a:r>
            <a:r>
              <a:rPr>
                <a:latin typeface="Courier"/>
              </a:rPr>
              <a:t> </a:t>
            </a:r>
            <a:r>
              <a:rPr b="1">
                <a:solidFill>
                  <a:srgbClr val="007020"/>
                </a:solidFill>
                <a:latin typeface="Courier"/>
              </a:rPr>
              <a:t>KEY</a:t>
            </a:r>
            <a:r>
              <a:rPr>
                <a:latin typeface="Courier"/>
              </a:rPr>
              <a:t>,</a:t>
            </a:r>
            <a:br/>
            <a:r>
              <a:rPr>
                <a:latin typeface="Courier"/>
              </a:rPr>
              <a:t>    prescription_id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b="1">
                <a:solidFill>
                  <a:srgbClr val="007020"/>
                </a:solidFill>
                <a:latin typeface="Courier"/>
              </a:rPr>
              <a:t>UNIQUE</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visit_id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visits(</a:t>
            </a:r>
            <a:r>
              <a:rPr b="1">
                <a:solidFill>
                  <a:srgbClr val="007020"/>
                </a:solidFill>
                <a:latin typeface="Courier"/>
              </a:rPr>
              <a:t>id</a:t>
            </a:r>
            <a:r>
              <a:rPr>
                <a:latin typeface="Courier"/>
              </a:rPr>
              <a:t>),</a:t>
            </a:r>
            <a:br/>
            <a:r>
              <a:rPr>
                <a:latin typeface="Courier"/>
              </a:rPr>
              <a:t>    patient_id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patients(</a:t>
            </a:r>
            <a:r>
              <a:rPr b="1">
                <a:solidFill>
                  <a:srgbClr val="007020"/>
                </a:solidFill>
                <a:latin typeface="Courier"/>
              </a:rPr>
              <a:t>id</a:t>
            </a:r>
            <a:r>
              <a:rPr>
                <a:latin typeface="Courier"/>
              </a:rPr>
              <a:t>),</a:t>
            </a:r>
            <a:br/>
            <a:r>
              <a:rPr>
                <a:latin typeface="Courier"/>
              </a:rPr>
              <a:t>    doctor_id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users(</a:t>
            </a:r>
            <a:r>
              <a:rPr b="1">
                <a:solidFill>
                  <a:srgbClr val="007020"/>
                </a:solidFill>
                <a:latin typeface="Courier"/>
              </a:rPr>
              <a:t>id</a:t>
            </a:r>
            <a:r>
              <a:rPr>
                <a:latin typeface="Courier"/>
              </a:rPr>
              <a:t>),</a:t>
            </a:r>
            <a:br/>
            <a:r>
              <a:rPr>
                <a:latin typeface="Courier"/>
              </a:rPr>
              <a:t>    medications JSONB, </a:t>
            </a:r>
            <a:r>
              <a:rPr i="1">
                <a:solidFill>
                  <a:srgbClr val="60A0B0"/>
                </a:solidFill>
                <a:latin typeface="Courier"/>
              </a:rPr>
              <a:t>-- [{drug: "...", dosage: "...", frequency: "...", duration: "..."}]</a:t>
            </a:r>
            <a:br/>
            <a:r>
              <a:rPr>
                <a:latin typeface="Courier"/>
              </a:rPr>
              <a:t>    status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i="1">
                <a:solidFill>
                  <a:srgbClr val="60A0B0"/>
                </a:solidFill>
                <a:latin typeface="Courier"/>
              </a:rPr>
              <a:t>-- pending, dispensed, cancelled</a:t>
            </a:r>
            <a:br/>
            <a:r>
              <a:rPr>
                <a:latin typeface="Courier"/>
              </a:rPr>
              <a:t>    prescribed_at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r>
              <a:rPr>
                <a:latin typeface="Courier"/>
              </a:rPr>
              <a:t>,</a:t>
            </a:r>
            <a:br/>
            <a:r>
              <a:rPr>
                <a:latin typeface="Courier"/>
              </a:rPr>
              <a:t>    dispensed_at </a:t>
            </a:r>
            <a:r>
              <a:rPr>
                <a:solidFill>
                  <a:srgbClr val="902000"/>
                </a:solidFill>
                <a:latin typeface="Courier"/>
              </a:rPr>
              <a:t>TIMESTAMP</a:t>
            </a:r>
            <a:r>
              <a:rPr>
                <a:latin typeface="Courier"/>
              </a:rPr>
              <a:t>,</a:t>
            </a:r>
            <a:br/>
            <a:r>
              <a:rPr>
                <a:latin typeface="Courier"/>
              </a:rPr>
              <a:t>    dispensed_by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users(</a:t>
            </a:r>
            <a:r>
              <a:rPr b="1">
                <a:solidFill>
                  <a:srgbClr val="007020"/>
                </a:solidFill>
                <a:latin typeface="Courier"/>
              </a:rPr>
              <a:t>id</a:t>
            </a:r>
            <a:r>
              <a:rPr>
                <a:latin typeface="Courier"/>
              </a:rPr>
              <a:t>),</a:t>
            </a:r>
            <a:br/>
            <a:r>
              <a:rPr>
                <a:latin typeface="Courier"/>
              </a:rPr>
              <a:t>    created_at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br/>
            <a:r>
              <a:rPr>
                <a:latin typeface="Courier"/>
              </a:rPr>
              <a:t>);</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idx_prescriptions_visit_id </a:t>
            </a:r>
            <a:r>
              <a:rPr b="1">
                <a:solidFill>
                  <a:srgbClr val="007020"/>
                </a:solidFill>
                <a:latin typeface="Courier"/>
              </a:rPr>
              <a:t>ON</a:t>
            </a:r>
            <a:r>
              <a:rPr>
                <a:latin typeface="Courier"/>
              </a:rPr>
              <a:t> prescriptions(visit_id);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idx_prescriptions_patient_id </a:t>
            </a:r>
            <a:r>
              <a:rPr b="1">
                <a:solidFill>
                  <a:srgbClr val="007020"/>
                </a:solidFill>
                <a:latin typeface="Courier"/>
              </a:rPr>
              <a:t>ON</a:t>
            </a:r>
            <a:r>
              <a:rPr>
                <a:latin typeface="Courier"/>
              </a:rPr>
              <a:t> prescriptions(patient_id);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idx_prescriptions_status </a:t>
            </a:r>
            <a:r>
              <a:rPr b="1">
                <a:solidFill>
                  <a:srgbClr val="007020"/>
                </a:solidFill>
                <a:latin typeface="Courier"/>
              </a:rPr>
              <a:t>ON</a:t>
            </a:r>
            <a:r>
              <a:rPr>
                <a:latin typeface="Courier"/>
              </a:rPr>
              <a:t> prescriptions(status);</a:t>
            </a:r>
            <a:br/>
            <a:br/>
            <a:r>
              <a:rPr i="1">
                <a:solidFill>
                  <a:srgbClr val="60A0B0"/>
                </a:solidFill>
                <a:latin typeface="Courier"/>
              </a:rPr>
              <a:t>-- Lab Tests</a:t>
            </a:r>
            <a:br/>
            <a:r>
              <a:rPr b="1">
                <a:solidFill>
                  <a:srgbClr val="007020"/>
                </a:solidFill>
                <a:latin typeface="Courier"/>
              </a:rPr>
              <a:t>CREATE</a:t>
            </a:r>
            <a:r>
              <a:rPr>
                <a:latin typeface="Courier"/>
              </a:rPr>
              <a:t> </a:t>
            </a:r>
            <a:r>
              <a:rPr b="1">
                <a:solidFill>
                  <a:srgbClr val="007020"/>
                </a:solidFill>
                <a:latin typeface="Courier"/>
              </a:rPr>
              <a:t>TABLE</a:t>
            </a:r>
            <a:r>
              <a:rPr>
                <a:latin typeface="Courier"/>
              </a:rPr>
              <a:t> lab_tests (</a:t>
            </a:r>
            <a:br/>
            <a:r>
              <a:rPr>
                <a:latin typeface="Courier"/>
              </a:rPr>
              <a:t>    </a:t>
            </a:r>
            <a:r>
              <a:rPr b="1">
                <a:solidFill>
                  <a:srgbClr val="007020"/>
                </a:solidFill>
                <a:latin typeface="Courier"/>
              </a:rPr>
              <a:t>id</a:t>
            </a:r>
            <a:r>
              <a:rPr>
                <a:latin typeface="Courier"/>
              </a:rPr>
              <a:t> SERIAL </a:t>
            </a:r>
            <a:r>
              <a:rPr b="1">
                <a:solidFill>
                  <a:srgbClr val="007020"/>
                </a:solidFill>
                <a:latin typeface="Courier"/>
              </a:rPr>
              <a:t>PRIMARY</a:t>
            </a:r>
            <a:r>
              <a:rPr>
                <a:latin typeface="Courier"/>
              </a:rPr>
              <a:t> </a:t>
            </a:r>
            <a:r>
              <a:rPr b="1">
                <a:solidFill>
                  <a:srgbClr val="007020"/>
                </a:solidFill>
                <a:latin typeface="Courier"/>
              </a:rPr>
              <a:t>KEY</a:t>
            </a:r>
            <a:r>
              <a:rPr>
                <a:latin typeface="Courier"/>
              </a:rPr>
              <a:t>,</a:t>
            </a:r>
            <a:br/>
            <a:r>
              <a:rPr>
                <a:latin typeface="Courier"/>
              </a:rPr>
              <a:t>    test_id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b="1">
                <a:solidFill>
                  <a:srgbClr val="007020"/>
                </a:solidFill>
                <a:latin typeface="Courier"/>
              </a:rPr>
              <a:t>UNIQUE</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visit_id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visits(</a:t>
            </a:r>
            <a:r>
              <a:rPr b="1">
                <a:solidFill>
                  <a:srgbClr val="007020"/>
                </a:solidFill>
                <a:latin typeface="Courier"/>
              </a:rPr>
              <a:t>id</a:t>
            </a:r>
            <a:r>
              <a:rPr>
                <a:latin typeface="Courier"/>
              </a:rPr>
              <a:t>),</a:t>
            </a:r>
            <a:br/>
            <a:r>
              <a:rPr>
                <a:latin typeface="Courier"/>
              </a:rPr>
              <a:t>    patient_id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patients(</a:t>
            </a:r>
            <a:r>
              <a:rPr b="1">
                <a:solidFill>
                  <a:srgbClr val="007020"/>
                </a:solidFill>
                <a:latin typeface="Courier"/>
              </a:rPr>
              <a:t>id</a:t>
            </a:r>
            <a:r>
              <a:rPr>
                <a:latin typeface="Courier"/>
              </a:rPr>
              <a:t>),</a:t>
            </a:r>
            <a:br/>
            <a:r>
              <a:rPr>
                <a:latin typeface="Courier"/>
              </a:rPr>
              <a:t>    ordered_by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users(</a:t>
            </a:r>
            <a:r>
              <a:rPr b="1">
                <a:solidFill>
                  <a:srgbClr val="007020"/>
                </a:solidFill>
                <a:latin typeface="Courier"/>
              </a:rPr>
              <a:t>id</a:t>
            </a:r>
            <a:r>
              <a:rPr>
                <a:latin typeface="Courier"/>
              </a:rPr>
              <a:t>), </a:t>
            </a:r>
            <a:r>
              <a:rPr i="1">
                <a:solidFill>
                  <a:srgbClr val="60A0B0"/>
                </a:solidFill>
                <a:latin typeface="Courier"/>
              </a:rPr>
              <a:t>-- doctor</a:t>
            </a:r>
            <a:br/>
            <a:r>
              <a:rPr>
                <a:latin typeface="Courier"/>
              </a:rPr>
              <a:t>    test_name </a:t>
            </a:r>
            <a:r>
              <a:rPr>
                <a:solidFill>
                  <a:srgbClr val="902000"/>
                </a:solidFill>
                <a:latin typeface="Courier"/>
              </a:rPr>
              <a:t>VARCHAR</a:t>
            </a:r>
            <a:r>
              <a:rPr>
                <a:latin typeface="Courier"/>
              </a:rPr>
              <a:t>(</a:t>
            </a:r>
            <a:r>
              <a:rPr>
                <a:solidFill>
                  <a:srgbClr val="40A070"/>
                </a:solidFill>
                <a:latin typeface="Courier"/>
              </a:rPr>
              <a:t>200</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test_type </a:t>
            </a:r>
            <a:r>
              <a:rPr>
                <a:solidFill>
                  <a:srgbClr val="902000"/>
                </a:solidFill>
                <a:latin typeface="Courier"/>
              </a:rPr>
              <a:t>VARCHAR</a:t>
            </a:r>
            <a:r>
              <a:rPr>
                <a:latin typeface="Courier"/>
              </a:rPr>
              <a:t>(</a:t>
            </a:r>
            <a:r>
              <a:rPr>
                <a:solidFill>
                  <a:srgbClr val="40A070"/>
                </a:solidFill>
                <a:latin typeface="Courier"/>
              </a:rPr>
              <a:t>100</a:t>
            </a:r>
            <a:r>
              <a:rPr>
                <a:latin typeface="Courier"/>
              </a:rPr>
              <a:t>),</a:t>
            </a:r>
            <a:br/>
            <a:r>
              <a:rPr>
                <a:latin typeface="Courier"/>
              </a:rPr>
              <a:t>    priority </a:t>
            </a:r>
            <a:r>
              <a:rPr>
                <a:solidFill>
                  <a:srgbClr val="902000"/>
                </a:solidFill>
                <a:latin typeface="Courier"/>
              </a:rPr>
              <a:t>VARCHAR</a:t>
            </a:r>
            <a:r>
              <a:rPr>
                <a:latin typeface="Courier"/>
              </a:rPr>
              <a:t>(</a:t>
            </a:r>
            <a:r>
              <a:rPr>
                <a:solidFill>
                  <a:srgbClr val="40A070"/>
                </a:solidFill>
                <a:latin typeface="Courier"/>
              </a:rPr>
              <a:t>20</a:t>
            </a:r>
            <a:r>
              <a:rPr>
                <a:latin typeface="Courier"/>
              </a:rPr>
              <a:t>), </a:t>
            </a:r>
            <a:r>
              <a:rPr i="1">
                <a:solidFill>
                  <a:srgbClr val="60A0B0"/>
                </a:solidFill>
                <a:latin typeface="Courier"/>
              </a:rPr>
              <a:t>-- normal, urgent</a:t>
            </a:r>
            <a:br/>
            <a:r>
              <a:rPr>
                <a:latin typeface="Courier"/>
              </a:rPr>
              <a:t>    status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i="1">
                <a:solidFill>
                  <a:srgbClr val="60A0B0"/>
                </a:solidFill>
                <a:latin typeface="Courier"/>
              </a:rPr>
              <a:t>-- pending, sample_collected, in_progress, completed, approved</a:t>
            </a:r>
            <a:br/>
            <a:r>
              <a:rPr>
                <a:latin typeface="Courier"/>
              </a:rPr>
              <a:t>    results JSONB,</a:t>
            </a:r>
            <a:br/>
            <a:r>
              <a:rPr>
                <a:latin typeface="Courier"/>
              </a:rPr>
              <a:t>    is_critical </a:t>
            </a:r>
            <a:r>
              <a:rPr>
                <a:solidFill>
                  <a:srgbClr val="902000"/>
                </a:solidFill>
                <a:latin typeface="Courier"/>
              </a:rPr>
              <a:t>BOOLEAN</a:t>
            </a:r>
            <a:r>
              <a:rPr>
                <a:latin typeface="Courier"/>
              </a:rPr>
              <a:t> </a:t>
            </a:r>
            <a:r>
              <a:rPr b="1">
                <a:solidFill>
                  <a:srgbClr val="007020"/>
                </a:solidFill>
                <a:latin typeface="Courier"/>
              </a:rPr>
              <a:t>DEFAULT</a:t>
            </a:r>
            <a:r>
              <a:rPr>
                <a:latin typeface="Courier"/>
              </a:rPr>
              <a:t> </a:t>
            </a:r>
            <a:r>
              <a:rPr b="1">
                <a:solidFill>
                  <a:srgbClr val="007020"/>
                </a:solidFill>
                <a:latin typeface="Courier"/>
              </a:rPr>
              <a:t>false</a:t>
            </a:r>
            <a:r>
              <a:rPr>
                <a:latin typeface="Courier"/>
              </a:rPr>
              <a:t>,</a:t>
            </a:r>
            <a:br/>
            <a:r>
              <a:rPr>
                <a:latin typeface="Courier"/>
              </a:rPr>
              <a:t>    sample_collected_at </a:t>
            </a:r>
            <a:r>
              <a:rPr>
                <a:solidFill>
                  <a:srgbClr val="902000"/>
                </a:solidFill>
                <a:latin typeface="Courier"/>
              </a:rPr>
              <a:t>TIMESTAMP</a:t>
            </a:r>
            <a:r>
              <a:rPr>
                <a:latin typeface="Courier"/>
              </a:rPr>
              <a:t>,</a:t>
            </a:r>
            <a:br/>
            <a:r>
              <a:rPr>
                <a:latin typeface="Courier"/>
              </a:rPr>
              <a:t>    results_entered_at </a:t>
            </a:r>
            <a:r>
              <a:rPr>
                <a:solidFill>
                  <a:srgbClr val="902000"/>
                </a:solidFill>
                <a:latin typeface="Courier"/>
              </a:rPr>
              <a:t>TIMESTAMP</a:t>
            </a:r>
            <a:r>
              <a:rPr>
                <a:latin typeface="Courier"/>
              </a:rPr>
              <a:t>,</a:t>
            </a:r>
            <a:br/>
            <a:r>
              <a:rPr>
                <a:latin typeface="Courier"/>
              </a:rPr>
              <a:t>    results_approved_at </a:t>
            </a:r>
            <a:r>
              <a:rPr>
                <a:solidFill>
                  <a:srgbClr val="902000"/>
                </a:solidFill>
                <a:latin typeface="Courier"/>
              </a:rPr>
              <a:t>TIMESTAMP</a:t>
            </a:r>
            <a:r>
              <a:rPr>
                <a:latin typeface="Courier"/>
              </a:rPr>
              <a:t>,</a:t>
            </a:r>
            <a:br/>
            <a:r>
              <a:rPr>
                <a:latin typeface="Courier"/>
              </a:rPr>
              <a:t>    approved_by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users(</a:t>
            </a:r>
            <a:r>
              <a:rPr b="1">
                <a:solidFill>
                  <a:srgbClr val="007020"/>
                </a:solidFill>
                <a:latin typeface="Courier"/>
              </a:rPr>
              <a:t>id</a:t>
            </a:r>
            <a:r>
              <a:rPr>
                <a:latin typeface="Courier"/>
              </a:rPr>
              <a:t>),</a:t>
            </a:r>
            <a:br/>
            <a:r>
              <a:rPr>
                <a:latin typeface="Courier"/>
              </a:rPr>
              <a:t>    technician_notes TEXT,</a:t>
            </a:r>
            <a:br/>
            <a:r>
              <a:rPr>
                <a:latin typeface="Courier"/>
              </a:rPr>
              <a:t>    created_at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br/>
            <a:r>
              <a:rPr>
                <a:latin typeface="Courier"/>
              </a:rPr>
              <a:t>);</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idx_lab_tests_visit_id </a:t>
            </a:r>
            <a:r>
              <a:rPr b="1">
                <a:solidFill>
                  <a:srgbClr val="007020"/>
                </a:solidFill>
                <a:latin typeface="Courier"/>
              </a:rPr>
              <a:t>ON</a:t>
            </a:r>
            <a:r>
              <a:rPr>
                <a:latin typeface="Courier"/>
              </a:rPr>
              <a:t> lab_tests(visit_id);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idx_lab_tests_patient_id </a:t>
            </a:r>
            <a:r>
              <a:rPr b="1">
                <a:solidFill>
                  <a:srgbClr val="007020"/>
                </a:solidFill>
                <a:latin typeface="Courier"/>
              </a:rPr>
              <a:t>ON</a:t>
            </a:r>
            <a:r>
              <a:rPr>
                <a:latin typeface="Courier"/>
              </a:rPr>
              <a:t> lab_tests(patient_id);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idx_lab_tests_status </a:t>
            </a:r>
            <a:r>
              <a:rPr b="1">
                <a:solidFill>
                  <a:srgbClr val="007020"/>
                </a:solidFill>
                <a:latin typeface="Courier"/>
              </a:rPr>
              <a:t>ON</a:t>
            </a:r>
            <a:r>
              <a:rPr>
                <a:latin typeface="Courier"/>
              </a:rPr>
              <a:t> lab_tests(status);</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idx_lab_tests_is_critical </a:t>
            </a:r>
            <a:r>
              <a:rPr b="1">
                <a:solidFill>
                  <a:srgbClr val="007020"/>
                </a:solidFill>
                <a:latin typeface="Courier"/>
              </a:rPr>
              <a:t>ON</a:t>
            </a:r>
            <a:r>
              <a:rPr>
                <a:latin typeface="Courier"/>
              </a:rPr>
              <a:t> lab_tests(is_critical);</a:t>
            </a:r>
            <a:br/>
            <a:br/>
            <a:r>
              <a:rPr i="1">
                <a:solidFill>
                  <a:srgbClr val="60A0B0"/>
                </a:solidFill>
                <a:latin typeface="Courier"/>
              </a:rPr>
              <a:t>-- Radiology Tests</a:t>
            </a:r>
            <a:br/>
            <a:r>
              <a:rPr b="1">
                <a:solidFill>
                  <a:srgbClr val="007020"/>
                </a:solidFill>
                <a:latin typeface="Courier"/>
              </a:rPr>
              <a:t>CREATE</a:t>
            </a:r>
            <a:r>
              <a:rPr>
                <a:latin typeface="Courier"/>
              </a:rPr>
              <a:t> </a:t>
            </a:r>
            <a:r>
              <a:rPr b="1">
                <a:solidFill>
                  <a:srgbClr val="007020"/>
                </a:solidFill>
                <a:latin typeface="Courier"/>
              </a:rPr>
              <a:t>TABLE</a:t>
            </a:r>
            <a:r>
              <a:rPr>
                <a:latin typeface="Courier"/>
              </a:rPr>
              <a:t> radiology_tests (</a:t>
            </a:r>
            <a:br/>
            <a:r>
              <a:rPr>
                <a:latin typeface="Courier"/>
              </a:rPr>
              <a:t>    </a:t>
            </a:r>
            <a:r>
              <a:rPr b="1">
                <a:solidFill>
                  <a:srgbClr val="007020"/>
                </a:solidFill>
                <a:latin typeface="Courier"/>
              </a:rPr>
              <a:t>id</a:t>
            </a:r>
            <a:r>
              <a:rPr>
                <a:latin typeface="Courier"/>
              </a:rPr>
              <a:t> SERIAL </a:t>
            </a:r>
            <a:r>
              <a:rPr b="1">
                <a:solidFill>
                  <a:srgbClr val="007020"/>
                </a:solidFill>
                <a:latin typeface="Courier"/>
              </a:rPr>
              <a:t>PRIMARY</a:t>
            </a:r>
            <a:r>
              <a:rPr>
                <a:latin typeface="Courier"/>
              </a:rPr>
              <a:t> </a:t>
            </a:r>
            <a:r>
              <a:rPr b="1">
                <a:solidFill>
                  <a:srgbClr val="007020"/>
                </a:solidFill>
                <a:latin typeface="Courier"/>
              </a:rPr>
              <a:t>KEY</a:t>
            </a:r>
            <a:r>
              <a:rPr>
                <a:latin typeface="Courier"/>
              </a:rPr>
              <a:t>,</a:t>
            </a:r>
            <a:br/>
            <a:r>
              <a:rPr>
                <a:latin typeface="Courier"/>
              </a:rPr>
              <a:t>    test_id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b="1">
                <a:solidFill>
                  <a:srgbClr val="007020"/>
                </a:solidFill>
                <a:latin typeface="Courier"/>
              </a:rPr>
              <a:t>UNIQUE</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visit_id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visits(</a:t>
            </a:r>
            <a:r>
              <a:rPr b="1">
                <a:solidFill>
                  <a:srgbClr val="007020"/>
                </a:solidFill>
                <a:latin typeface="Courier"/>
              </a:rPr>
              <a:t>id</a:t>
            </a:r>
            <a:r>
              <a:rPr>
                <a:latin typeface="Courier"/>
              </a:rPr>
              <a:t>),</a:t>
            </a:r>
            <a:br/>
            <a:r>
              <a:rPr>
                <a:latin typeface="Courier"/>
              </a:rPr>
              <a:t>    patient_id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patients(</a:t>
            </a:r>
            <a:r>
              <a:rPr b="1">
                <a:solidFill>
                  <a:srgbClr val="007020"/>
                </a:solidFill>
                <a:latin typeface="Courier"/>
              </a:rPr>
              <a:t>id</a:t>
            </a:r>
            <a:r>
              <a:rPr>
                <a:latin typeface="Courier"/>
              </a:rPr>
              <a:t>),</a:t>
            </a:r>
            <a:br/>
            <a:r>
              <a:rPr>
                <a:latin typeface="Courier"/>
              </a:rPr>
              <a:t>    ordered_by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users(</a:t>
            </a:r>
            <a:r>
              <a:rPr b="1">
                <a:solidFill>
                  <a:srgbClr val="007020"/>
                </a:solidFill>
                <a:latin typeface="Courier"/>
              </a:rPr>
              <a:t>id</a:t>
            </a:r>
            <a:r>
              <a:rPr>
                <a:latin typeface="Courier"/>
              </a:rPr>
              <a:t>),</a:t>
            </a:r>
            <a:br/>
            <a:r>
              <a:rPr>
                <a:latin typeface="Courier"/>
              </a:rPr>
              <a:t>    test_name </a:t>
            </a:r>
            <a:r>
              <a:rPr>
                <a:solidFill>
                  <a:srgbClr val="902000"/>
                </a:solidFill>
                <a:latin typeface="Courier"/>
              </a:rPr>
              <a:t>VARCHAR</a:t>
            </a:r>
            <a:r>
              <a:rPr>
                <a:latin typeface="Courier"/>
              </a:rPr>
              <a:t>(</a:t>
            </a:r>
            <a:r>
              <a:rPr>
                <a:solidFill>
                  <a:srgbClr val="40A070"/>
                </a:solidFill>
                <a:latin typeface="Courier"/>
              </a:rPr>
              <a:t>200</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body_part </a:t>
            </a:r>
            <a:r>
              <a:rPr>
                <a:solidFill>
                  <a:srgbClr val="902000"/>
                </a:solidFill>
                <a:latin typeface="Courier"/>
              </a:rPr>
              <a:t>VARCHAR</a:t>
            </a:r>
            <a:r>
              <a:rPr>
                <a:latin typeface="Courier"/>
              </a:rPr>
              <a:t>(</a:t>
            </a:r>
            <a:r>
              <a:rPr>
                <a:solidFill>
                  <a:srgbClr val="40A070"/>
                </a:solidFill>
                <a:latin typeface="Courier"/>
              </a:rPr>
              <a:t>100</a:t>
            </a:r>
            <a:r>
              <a:rPr>
                <a:latin typeface="Courier"/>
              </a:rPr>
              <a:t>),</a:t>
            </a:r>
            <a:br/>
            <a:r>
              <a:rPr>
                <a:latin typeface="Courier"/>
              </a:rPr>
              <a:t>    status </a:t>
            </a:r>
            <a:r>
              <a:rPr>
                <a:solidFill>
                  <a:srgbClr val="902000"/>
                </a:solidFill>
                <a:latin typeface="Courier"/>
              </a:rPr>
              <a:t>VARCHAR</a:t>
            </a:r>
            <a:r>
              <a:rPr>
                <a:latin typeface="Courier"/>
              </a:rPr>
              <a:t>(</a:t>
            </a:r>
            <a:r>
              <a:rPr>
                <a:solidFill>
                  <a:srgbClr val="40A070"/>
                </a:solidFill>
                <a:latin typeface="Courier"/>
              </a:rPr>
              <a:t>50</a:t>
            </a:r>
            <a:r>
              <a:rPr>
                <a:latin typeface="Courier"/>
              </a:rPr>
              <a:t>),</a:t>
            </a:r>
            <a:br/>
            <a:r>
              <a:rPr>
                <a:latin typeface="Courier"/>
              </a:rPr>
              <a:t>    results TEXT,</a:t>
            </a:r>
            <a:br/>
            <a:r>
              <a:rPr>
                <a:latin typeface="Courier"/>
              </a:rPr>
              <a:t>    images_url TEXT,</a:t>
            </a:r>
            <a:br/>
            <a:r>
              <a:rPr>
                <a:latin typeface="Courier"/>
              </a:rPr>
              <a:t>    performed_at </a:t>
            </a:r>
            <a:r>
              <a:rPr>
                <a:solidFill>
                  <a:srgbClr val="902000"/>
                </a:solidFill>
                <a:latin typeface="Courier"/>
              </a:rPr>
              <a:t>TIMESTAMP</a:t>
            </a:r>
            <a:r>
              <a:rPr>
                <a:latin typeface="Courier"/>
              </a:rPr>
              <a:t>,</a:t>
            </a:r>
            <a:br/>
            <a:r>
              <a:rPr>
                <a:latin typeface="Courier"/>
              </a:rPr>
              <a:t>    reported_by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users(</a:t>
            </a:r>
            <a:r>
              <a:rPr b="1">
                <a:solidFill>
                  <a:srgbClr val="007020"/>
                </a:solidFill>
                <a:latin typeface="Courier"/>
              </a:rPr>
              <a:t>id</a:t>
            </a:r>
            <a:r>
              <a:rPr>
                <a:latin typeface="Courier"/>
              </a:rPr>
              <a:t>),</a:t>
            </a:r>
            <a:br/>
            <a:r>
              <a:rPr>
                <a:latin typeface="Courier"/>
              </a:rPr>
              <a:t>    created_at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br/>
            <a:r>
              <a:rPr>
                <a:latin typeface="Courier"/>
              </a:rPr>
              <a:t>);</a:t>
            </a:r>
            <a:br/>
            <a:br/>
            <a:r>
              <a:rPr i="1">
                <a:solidFill>
                  <a:srgbClr val="60A0B0"/>
                </a:solidFill>
                <a:latin typeface="Courier"/>
              </a:rPr>
              <a:t>-- Billing</a:t>
            </a:r>
            <a:br/>
            <a:r>
              <a:rPr b="1">
                <a:solidFill>
                  <a:srgbClr val="007020"/>
                </a:solidFill>
                <a:latin typeface="Courier"/>
              </a:rPr>
              <a:t>CREATE</a:t>
            </a:r>
            <a:r>
              <a:rPr>
                <a:latin typeface="Courier"/>
              </a:rPr>
              <a:t> </a:t>
            </a:r>
            <a:r>
              <a:rPr b="1">
                <a:solidFill>
                  <a:srgbClr val="007020"/>
                </a:solidFill>
                <a:latin typeface="Courier"/>
              </a:rPr>
              <a:t>TABLE</a:t>
            </a:r>
            <a:r>
              <a:rPr>
                <a:latin typeface="Courier"/>
              </a:rPr>
              <a:t> billing (</a:t>
            </a:r>
            <a:br/>
            <a:r>
              <a:rPr>
                <a:latin typeface="Courier"/>
              </a:rPr>
              <a:t>    </a:t>
            </a:r>
            <a:r>
              <a:rPr b="1">
                <a:solidFill>
                  <a:srgbClr val="007020"/>
                </a:solidFill>
                <a:latin typeface="Courier"/>
              </a:rPr>
              <a:t>id</a:t>
            </a:r>
            <a:r>
              <a:rPr>
                <a:latin typeface="Courier"/>
              </a:rPr>
              <a:t> SERIAL </a:t>
            </a:r>
            <a:r>
              <a:rPr b="1">
                <a:solidFill>
                  <a:srgbClr val="007020"/>
                </a:solidFill>
                <a:latin typeface="Courier"/>
              </a:rPr>
              <a:t>PRIMARY</a:t>
            </a:r>
            <a:r>
              <a:rPr>
                <a:latin typeface="Courier"/>
              </a:rPr>
              <a:t> </a:t>
            </a:r>
            <a:r>
              <a:rPr b="1">
                <a:solidFill>
                  <a:srgbClr val="007020"/>
                </a:solidFill>
                <a:latin typeface="Courier"/>
              </a:rPr>
              <a:t>KEY</a:t>
            </a:r>
            <a:r>
              <a:rPr>
                <a:latin typeface="Courier"/>
              </a:rPr>
              <a:t>,</a:t>
            </a:r>
            <a:br/>
            <a:r>
              <a:rPr>
                <a:latin typeface="Courier"/>
              </a:rPr>
              <a:t>    bill_id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b="1">
                <a:solidFill>
                  <a:srgbClr val="007020"/>
                </a:solidFill>
                <a:latin typeface="Courier"/>
              </a:rPr>
              <a:t>UNIQUE</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visit_id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visits(</a:t>
            </a:r>
            <a:r>
              <a:rPr b="1">
                <a:solidFill>
                  <a:srgbClr val="007020"/>
                </a:solidFill>
                <a:latin typeface="Courier"/>
              </a:rPr>
              <a:t>id</a:t>
            </a:r>
            <a:r>
              <a:rPr>
                <a:latin typeface="Courier"/>
              </a:rPr>
              <a:t>),</a:t>
            </a:r>
            <a:br/>
            <a:r>
              <a:rPr>
                <a:latin typeface="Courier"/>
              </a:rPr>
              <a:t>    patient_id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patients(</a:t>
            </a:r>
            <a:r>
              <a:rPr b="1">
                <a:solidFill>
                  <a:srgbClr val="007020"/>
                </a:solidFill>
                <a:latin typeface="Courier"/>
              </a:rPr>
              <a:t>id</a:t>
            </a:r>
            <a:r>
              <a:rPr>
                <a:latin typeface="Courier"/>
              </a:rPr>
              <a:t>),</a:t>
            </a:r>
            <a:br/>
            <a:r>
              <a:rPr>
                <a:latin typeface="Courier"/>
              </a:rPr>
              <a:t>    total_amount </a:t>
            </a:r>
            <a:r>
              <a:rPr>
                <a:solidFill>
                  <a:srgbClr val="902000"/>
                </a:solidFill>
                <a:latin typeface="Courier"/>
              </a:rPr>
              <a:t>DECIMAL</a:t>
            </a:r>
            <a:r>
              <a:rPr>
                <a:latin typeface="Courier"/>
              </a:rPr>
              <a:t>(</a:t>
            </a:r>
            <a:r>
              <a:rPr>
                <a:solidFill>
                  <a:srgbClr val="40A070"/>
                </a:solidFill>
                <a:latin typeface="Courier"/>
              </a:rPr>
              <a:t>10</a:t>
            </a:r>
            <a:r>
              <a:rPr>
                <a:latin typeface="Courier"/>
              </a:rPr>
              <a:t>, </a:t>
            </a:r>
            <a:r>
              <a:rPr>
                <a:solidFill>
                  <a:srgbClr val="40A070"/>
                </a:solidFill>
                <a:latin typeface="Courier"/>
              </a:rPr>
              <a:t>2</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paid_amount </a:t>
            </a:r>
            <a:r>
              <a:rPr>
                <a:solidFill>
                  <a:srgbClr val="902000"/>
                </a:solidFill>
                <a:latin typeface="Courier"/>
              </a:rPr>
              <a:t>DECIMAL</a:t>
            </a:r>
            <a:r>
              <a:rPr>
                <a:latin typeface="Courier"/>
              </a:rPr>
              <a:t>(</a:t>
            </a:r>
            <a:r>
              <a:rPr>
                <a:solidFill>
                  <a:srgbClr val="40A070"/>
                </a:solidFill>
                <a:latin typeface="Courier"/>
              </a:rPr>
              <a:t>10</a:t>
            </a:r>
            <a:r>
              <a:rPr>
                <a:latin typeface="Courier"/>
              </a:rPr>
              <a:t>, </a:t>
            </a:r>
            <a:r>
              <a:rPr>
                <a:solidFill>
                  <a:srgbClr val="40A070"/>
                </a:solidFill>
                <a:latin typeface="Courier"/>
              </a:rPr>
              <a:t>2</a:t>
            </a:r>
            <a:r>
              <a:rPr>
                <a:latin typeface="Courier"/>
              </a:rPr>
              <a:t>) </a:t>
            </a:r>
            <a:r>
              <a:rPr b="1">
                <a:solidFill>
                  <a:srgbClr val="007020"/>
                </a:solidFill>
                <a:latin typeface="Courier"/>
              </a:rPr>
              <a:t>DEFAULT</a:t>
            </a:r>
            <a:r>
              <a:rPr>
                <a:latin typeface="Courier"/>
              </a:rPr>
              <a:t> </a:t>
            </a:r>
            <a:r>
              <a:rPr>
                <a:solidFill>
                  <a:srgbClr val="40A070"/>
                </a:solidFill>
                <a:latin typeface="Courier"/>
              </a:rPr>
              <a:t>0</a:t>
            </a:r>
            <a:r>
              <a:rPr>
                <a:latin typeface="Courier"/>
              </a:rPr>
              <a:t>,</a:t>
            </a:r>
            <a:br/>
            <a:r>
              <a:rPr>
                <a:latin typeface="Courier"/>
              </a:rPr>
              <a:t>    balance </a:t>
            </a:r>
            <a:r>
              <a:rPr>
                <a:solidFill>
                  <a:srgbClr val="902000"/>
                </a:solidFill>
                <a:latin typeface="Courier"/>
              </a:rPr>
              <a:t>DECIMAL</a:t>
            </a:r>
            <a:r>
              <a:rPr>
                <a:latin typeface="Courier"/>
              </a:rPr>
              <a:t>(</a:t>
            </a:r>
            <a:r>
              <a:rPr>
                <a:solidFill>
                  <a:srgbClr val="40A070"/>
                </a:solidFill>
                <a:latin typeface="Courier"/>
              </a:rPr>
              <a:t>10</a:t>
            </a:r>
            <a:r>
              <a:rPr>
                <a:latin typeface="Courier"/>
              </a:rPr>
              <a:t>, </a:t>
            </a:r>
            <a:r>
              <a:rPr>
                <a:solidFill>
                  <a:srgbClr val="40A070"/>
                </a:solidFill>
                <a:latin typeface="Courier"/>
              </a:rPr>
              <a:t>2</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status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i="1">
                <a:solidFill>
                  <a:srgbClr val="60A0B0"/>
                </a:solidFill>
                <a:latin typeface="Courier"/>
              </a:rPr>
              <a:t>-- pending, partial, paid</a:t>
            </a:r>
            <a:br/>
            <a:r>
              <a:rPr>
                <a:latin typeface="Courier"/>
              </a:rPr>
              <a:t>    payment_method </a:t>
            </a:r>
            <a:r>
              <a:rPr>
                <a:solidFill>
                  <a:srgbClr val="902000"/>
                </a:solidFill>
                <a:latin typeface="Courier"/>
              </a:rPr>
              <a:t>VARCHAR</a:t>
            </a:r>
            <a:r>
              <a:rPr>
                <a:latin typeface="Courier"/>
              </a:rPr>
              <a:t>(</a:t>
            </a:r>
            <a:r>
              <a:rPr>
                <a:solidFill>
                  <a:srgbClr val="40A070"/>
                </a:solidFill>
                <a:latin typeface="Courier"/>
              </a:rPr>
              <a:t>50</a:t>
            </a:r>
            <a:r>
              <a:rPr>
                <a:latin typeface="Courier"/>
              </a:rPr>
              <a:t>),</a:t>
            </a:r>
            <a:br/>
            <a:r>
              <a:rPr>
                <a:latin typeface="Courier"/>
              </a:rPr>
              <a:t>    insurance_claim_id </a:t>
            </a:r>
            <a:r>
              <a:rPr>
                <a:solidFill>
                  <a:srgbClr val="902000"/>
                </a:solidFill>
                <a:latin typeface="Courier"/>
              </a:rPr>
              <a:t>VARCHAR</a:t>
            </a:r>
            <a:r>
              <a:rPr>
                <a:latin typeface="Courier"/>
              </a:rPr>
              <a:t>(</a:t>
            </a:r>
            <a:r>
              <a:rPr>
                <a:solidFill>
                  <a:srgbClr val="40A070"/>
                </a:solidFill>
                <a:latin typeface="Courier"/>
              </a:rPr>
              <a:t>100</a:t>
            </a:r>
            <a:r>
              <a:rPr>
                <a:latin typeface="Courier"/>
              </a:rPr>
              <a:t>),</a:t>
            </a:r>
            <a:br/>
            <a:r>
              <a:rPr>
                <a:latin typeface="Courier"/>
              </a:rPr>
              <a:t>    items JSONB, </a:t>
            </a:r>
            <a:r>
              <a:rPr i="1">
                <a:solidFill>
                  <a:srgbClr val="60A0B0"/>
                </a:solidFill>
                <a:latin typeface="Courier"/>
              </a:rPr>
              <a:t>-- [{service: "...", quantity: 1, price: 100.00}]</a:t>
            </a:r>
            <a:br/>
            <a:r>
              <a:rPr>
                <a:latin typeface="Courier"/>
              </a:rPr>
              <a:t>    created_at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r>
              <a:rPr>
                <a:latin typeface="Courier"/>
              </a:rPr>
              <a:t>,</a:t>
            </a:r>
            <a:br/>
            <a:r>
              <a:rPr>
                <a:latin typeface="Courier"/>
              </a:rPr>
              <a:t>    paid_at </a:t>
            </a:r>
            <a:r>
              <a:rPr>
                <a:solidFill>
                  <a:srgbClr val="902000"/>
                </a:solidFill>
                <a:latin typeface="Courier"/>
              </a:rPr>
              <a:t>TIMESTAMP</a:t>
            </a:r>
            <a:br/>
            <a:r>
              <a:rPr>
                <a:latin typeface="Courier"/>
              </a:rPr>
              <a:t>);</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idx_billing_visit_id </a:t>
            </a:r>
            <a:r>
              <a:rPr b="1">
                <a:solidFill>
                  <a:srgbClr val="007020"/>
                </a:solidFill>
                <a:latin typeface="Courier"/>
              </a:rPr>
              <a:t>ON</a:t>
            </a:r>
            <a:r>
              <a:rPr>
                <a:latin typeface="Courier"/>
              </a:rPr>
              <a:t> billing(visit_id);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idx_billing_patient_id </a:t>
            </a:r>
            <a:r>
              <a:rPr b="1">
                <a:solidFill>
                  <a:srgbClr val="007020"/>
                </a:solidFill>
                <a:latin typeface="Courier"/>
              </a:rPr>
              <a:t>ON</a:t>
            </a:r>
            <a:r>
              <a:rPr>
                <a:latin typeface="Courier"/>
              </a:rPr>
              <a:t> billing(patient_id);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idx_billing_status </a:t>
            </a:r>
            <a:r>
              <a:rPr b="1">
                <a:solidFill>
                  <a:srgbClr val="007020"/>
                </a:solidFill>
                <a:latin typeface="Courier"/>
              </a:rPr>
              <a:t>ON</a:t>
            </a:r>
            <a:r>
              <a:rPr>
                <a:latin typeface="Courier"/>
              </a:rPr>
              <a:t> billing(status);</a:t>
            </a:r>
            <a:br/>
            <a:br/>
            <a:r>
              <a:rPr i="1">
                <a:solidFill>
                  <a:srgbClr val="60A0B0"/>
                </a:solidFill>
                <a:latin typeface="Courier"/>
              </a:rPr>
              <a:t>-- Notifications</a:t>
            </a:r>
            <a:br/>
            <a:r>
              <a:rPr b="1">
                <a:solidFill>
                  <a:srgbClr val="007020"/>
                </a:solidFill>
                <a:latin typeface="Courier"/>
              </a:rPr>
              <a:t>CREATE</a:t>
            </a:r>
            <a:r>
              <a:rPr>
                <a:latin typeface="Courier"/>
              </a:rPr>
              <a:t> </a:t>
            </a:r>
            <a:r>
              <a:rPr b="1">
                <a:solidFill>
                  <a:srgbClr val="007020"/>
                </a:solidFill>
                <a:latin typeface="Courier"/>
              </a:rPr>
              <a:t>TABLE</a:t>
            </a:r>
            <a:r>
              <a:rPr>
                <a:latin typeface="Courier"/>
              </a:rPr>
              <a:t> notifications (</a:t>
            </a:r>
            <a:br/>
            <a:r>
              <a:rPr>
                <a:latin typeface="Courier"/>
              </a:rPr>
              <a:t>    </a:t>
            </a:r>
            <a:r>
              <a:rPr b="1">
                <a:solidFill>
                  <a:srgbClr val="007020"/>
                </a:solidFill>
                <a:latin typeface="Courier"/>
              </a:rPr>
              <a:t>id</a:t>
            </a:r>
            <a:r>
              <a:rPr>
                <a:latin typeface="Courier"/>
              </a:rPr>
              <a:t> SERIAL </a:t>
            </a:r>
            <a:r>
              <a:rPr b="1">
                <a:solidFill>
                  <a:srgbClr val="007020"/>
                </a:solidFill>
                <a:latin typeface="Courier"/>
              </a:rPr>
              <a:t>PRIMARY</a:t>
            </a:r>
            <a:r>
              <a:rPr>
                <a:latin typeface="Courier"/>
              </a:rPr>
              <a:t> </a:t>
            </a:r>
            <a:r>
              <a:rPr b="1">
                <a:solidFill>
                  <a:srgbClr val="007020"/>
                </a:solidFill>
                <a:latin typeface="Courier"/>
              </a:rPr>
              <a:t>KEY</a:t>
            </a:r>
            <a:r>
              <a:rPr>
                <a:latin typeface="Courier"/>
              </a:rPr>
              <a:t>,</a:t>
            </a:r>
            <a:br/>
            <a:r>
              <a:rPr>
                <a:latin typeface="Courier"/>
              </a:rPr>
              <a:t>    user_id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users(</a:t>
            </a:r>
            <a:r>
              <a:rPr b="1">
                <a:solidFill>
                  <a:srgbClr val="007020"/>
                </a:solidFill>
                <a:latin typeface="Courier"/>
              </a:rPr>
              <a:t>id</a:t>
            </a:r>
            <a:r>
              <a:rPr>
                <a:latin typeface="Courier"/>
              </a:rPr>
              <a:t>),</a:t>
            </a:r>
            <a:br/>
            <a:r>
              <a:rPr>
                <a:latin typeface="Courier"/>
              </a:rPr>
              <a:t>    </a:t>
            </a:r>
            <a:r>
              <a:rPr b="1">
                <a:solidFill>
                  <a:srgbClr val="007020"/>
                </a:solidFill>
                <a:latin typeface="Courier"/>
              </a:rPr>
              <a:t>type</a:t>
            </a:r>
            <a:r>
              <a:rPr>
                <a:latin typeface="Courier"/>
              </a:rPr>
              <a:t>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i="1">
                <a:solidFill>
                  <a:srgbClr val="60A0B0"/>
                </a:solidFill>
                <a:latin typeface="Courier"/>
              </a:rPr>
              <a:t>-- info, warning, critical, success</a:t>
            </a:r>
            <a:br/>
            <a:r>
              <a:rPr>
                <a:latin typeface="Courier"/>
              </a:rPr>
              <a:t>    title </a:t>
            </a:r>
            <a:r>
              <a:rPr>
                <a:solidFill>
                  <a:srgbClr val="902000"/>
                </a:solidFill>
                <a:latin typeface="Courier"/>
              </a:rPr>
              <a:t>VARCHAR</a:t>
            </a:r>
            <a:r>
              <a:rPr>
                <a:latin typeface="Courier"/>
              </a:rPr>
              <a:t>(</a:t>
            </a:r>
            <a:r>
              <a:rPr>
                <a:solidFill>
                  <a:srgbClr val="40A070"/>
                </a:solidFill>
                <a:latin typeface="Courier"/>
              </a:rPr>
              <a:t>200</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message TEXT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a:t>
            </a:r>
            <a:r>
              <a:rPr b="1">
                <a:solidFill>
                  <a:srgbClr val="007020"/>
                </a:solidFill>
                <a:latin typeface="Courier"/>
              </a:rPr>
              <a:t>data</a:t>
            </a:r>
            <a:r>
              <a:rPr>
                <a:latin typeface="Courier"/>
              </a:rPr>
              <a:t> JSONB, </a:t>
            </a:r>
            <a:r>
              <a:rPr i="1">
                <a:solidFill>
                  <a:srgbClr val="60A0B0"/>
                </a:solidFill>
                <a:latin typeface="Courier"/>
              </a:rPr>
              <a:t>-- Additional context</a:t>
            </a:r>
            <a:br/>
            <a:r>
              <a:rPr>
                <a:latin typeface="Courier"/>
              </a:rPr>
              <a:t>    is_read </a:t>
            </a:r>
            <a:r>
              <a:rPr>
                <a:solidFill>
                  <a:srgbClr val="902000"/>
                </a:solidFill>
                <a:latin typeface="Courier"/>
              </a:rPr>
              <a:t>BOOLEAN</a:t>
            </a:r>
            <a:r>
              <a:rPr>
                <a:latin typeface="Courier"/>
              </a:rPr>
              <a:t> </a:t>
            </a:r>
            <a:r>
              <a:rPr b="1">
                <a:solidFill>
                  <a:srgbClr val="007020"/>
                </a:solidFill>
                <a:latin typeface="Courier"/>
              </a:rPr>
              <a:t>DEFAULT</a:t>
            </a:r>
            <a:r>
              <a:rPr>
                <a:latin typeface="Courier"/>
              </a:rPr>
              <a:t> </a:t>
            </a:r>
            <a:r>
              <a:rPr b="1">
                <a:solidFill>
                  <a:srgbClr val="007020"/>
                </a:solidFill>
                <a:latin typeface="Courier"/>
              </a:rPr>
              <a:t>false</a:t>
            </a:r>
            <a:r>
              <a:rPr>
                <a:latin typeface="Courier"/>
              </a:rPr>
              <a:t>,</a:t>
            </a:r>
            <a:br/>
            <a:r>
              <a:rPr>
                <a:latin typeface="Courier"/>
              </a:rPr>
              <a:t>    created_at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br/>
            <a:r>
              <a:rPr>
                <a:latin typeface="Courier"/>
              </a:rPr>
              <a:t>);</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idx_notifications_user_id </a:t>
            </a:r>
            <a:r>
              <a:rPr b="1">
                <a:solidFill>
                  <a:srgbClr val="007020"/>
                </a:solidFill>
                <a:latin typeface="Courier"/>
              </a:rPr>
              <a:t>ON</a:t>
            </a:r>
            <a:r>
              <a:rPr>
                <a:latin typeface="Courier"/>
              </a:rPr>
              <a:t> notifications(user_id);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idx_notifications_is_read </a:t>
            </a:r>
            <a:r>
              <a:rPr b="1">
                <a:solidFill>
                  <a:srgbClr val="007020"/>
                </a:solidFill>
                <a:latin typeface="Courier"/>
              </a:rPr>
              <a:t>ON</a:t>
            </a:r>
            <a:r>
              <a:rPr>
                <a:latin typeface="Courier"/>
              </a:rPr>
              <a:t> notifications(is_read);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idx_notifications_created_at </a:t>
            </a:r>
            <a:r>
              <a:rPr b="1">
                <a:solidFill>
                  <a:srgbClr val="007020"/>
                </a:solidFill>
                <a:latin typeface="Courier"/>
              </a:rPr>
              <a:t>ON</a:t>
            </a:r>
            <a:r>
              <a:rPr>
                <a:latin typeface="Courier"/>
              </a:rPr>
              <a:t> notifications(created_at);</a:t>
            </a:r>
            <a:br/>
            <a:br/>
            <a:r>
              <a:rPr i="1">
                <a:solidFill>
                  <a:srgbClr val="60A0B0"/>
                </a:solidFill>
                <a:latin typeface="Courier"/>
              </a:rPr>
              <a:t>-- Inventory (Pharmacy)</a:t>
            </a:r>
            <a:br/>
            <a:r>
              <a:rPr b="1">
                <a:solidFill>
                  <a:srgbClr val="007020"/>
                </a:solidFill>
                <a:latin typeface="Courier"/>
              </a:rPr>
              <a:t>CREATE</a:t>
            </a:r>
            <a:r>
              <a:rPr>
                <a:latin typeface="Courier"/>
              </a:rPr>
              <a:t> </a:t>
            </a:r>
            <a:r>
              <a:rPr b="1">
                <a:solidFill>
                  <a:srgbClr val="007020"/>
                </a:solidFill>
                <a:latin typeface="Courier"/>
              </a:rPr>
              <a:t>TABLE</a:t>
            </a:r>
            <a:r>
              <a:rPr>
                <a:latin typeface="Courier"/>
              </a:rPr>
              <a:t> inventory (</a:t>
            </a:r>
            <a:br/>
            <a:r>
              <a:rPr>
                <a:latin typeface="Courier"/>
              </a:rPr>
              <a:t>    </a:t>
            </a:r>
            <a:r>
              <a:rPr b="1">
                <a:solidFill>
                  <a:srgbClr val="007020"/>
                </a:solidFill>
                <a:latin typeface="Courier"/>
              </a:rPr>
              <a:t>id</a:t>
            </a:r>
            <a:r>
              <a:rPr>
                <a:latin typeface="Courier"/>
              </a:rPr>
              <a:t> SERIAL </a:t>
            </a:r>
            <a:r>
              <a:rPr b="1">
                <a:solidFill>
                  <a:srgbClr val="007020"/>
                </a:solidFill>
                <a:latin typeface="Courier"/>
              </a:rPr>
              <a:t>PRIMARY</a:t>
            </a:r>
            <a:r>
              <a:rPr>
                <a:latin typeface="Courier"/>
              </a:rPr>
              <a:t> </a:t>
            </a:r>
            <a:r>
              <a:rPr b="1">
                <a:solidFill>
                  <a:srgbClr val="007020"/>
                </a:solidFill>
                <a:latin typeface="Courier"/>
              </a:rPr>
              <a:t>KEY</a:t>
            </a:r>
            <a:r>
              <a:rPr>
                <a:latin typeface="Courier"/>
              </a:rPr>
              <a:t>,</a:t>
            </a:r>
            <a:br/>
            <a:r>
              <a:rPr>
                <a:latin typeface="Courier"/>
              </a:rPr>
              <a:t>    medication_name </a:t>
            </a:r>
            <a:r>
              <a:rPr>
                <a:solidFill>
                  <a:srgbClr val="902000"/>
                </a:solidFill>
                <a:latin typeface="Courier"/>
              </a:rPr>
              <a:t>VARCHAR</a:t>
            </a:r>
            <a:r>
              <a:rPr>
                <a:latin typeface="Courier"/>
              </a:rPr>
              <a:t>(</a:t>
            </a:r>
            <a:r>
              <a:rPr>
                <a:solidFill>
                  <a:srgbClr val="40A070"/>
                </a:solidFill>
                <a:latin typeface="Courier"/>
              </a:rPr>
              <a:t>200</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generic_name </a:t>
            </a:r>
            <a:r>
              <a:rPr>
                <a:solidFill>
                  <a:srgbClr val="902000"/>
                </a:solidFill>
                <a:latin typeface="Courier"/>
              </a:rPr>
              <a:t>VARCHAR</a:t>
            </a:r>
            <a:r>
              <a:rPr>
                <a:latin typeface="Courier"/>
              </a:rPr>
              <a:t>(</a:t>
            </a:r>
            <a:r>
              <a:rPr>
                <a:solidFill>
                  <a:srgbClr val="40A070"/>
                </a:solidFill>
                <a:latin typeface="Courier"/>
              </a:rPr>
              <a:t>200</a:t>
            </a:r>
            <a:r>
              <a:rPr>
                <a:latin typeface="Courier"/>
              </a:rPr>
              <a:t>),</a:t>
            </a:r>
            <a:br/>
            <a:r>
              <a:rPr>
                <a:latin typeface="Courier"/>
              </a:rPr>
              <a:t>    quantity </a:t>
            </a:r>
            <a:r>
              <a:rPr>
                <a:solidFill>
                  <a:srgbClr val="902000"/>
                </a:solidFill>
                <a:latin typeface="Courier"/>
              </a:rPr>
              <a:t>INTEGER</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a:t>
            </a:r>
            <a:br/>
            <a:r>
              <a:rPr>
                <a:latin typeface="Courier"/>
              </a:rPr>
              <a:t>    unit </a:t>
            </a:r>
            <a:r>
              <a:rPr>
                <a:solidFill>
                  <a:srgbClr val="902000"/>
                </a:solidFill>
                <a:latin typeface="Courier"/>
              </a:rPr>
              <a:t>VARCHAR</a:t>
            </a:r>
            <a:r>
              <a:rPr>
                <a:latin typeface="Courier"/>
              </a:rPr>
              <a:t>(</a:t>
            </a:r>
            <a:r>
              <a:rPr>
                <a:solidFill>
                  <a:srgbClr val="40A070"/>
                </a:solidFill>
                <a:latin typeface="Courier"/>
              </a:rPr>
              <a:t>50</a:t>
            </a:r>
            <a:r>
              <a:rPr>
                <a:latin typeface="Courier"/>
              </a:rPr>
              <a:t>), </a:t>
            </a:r>
            <a:r>
              <a:rPr i="1">
                <a:solidFill>
                  <a:srgbClr val="60A0B0"/>
                </a:solidFill>
                <a:latin typeface="Courier"/>
              </a:rPr>
              <a:t>-- tablets, ml, vials</a:t>
            </a:r>
            <a:br/>
            <a:r>
              <a:rPr>
                <a:latin typeface="Courier"/>
              </a:rPr>
              <a:t>    reorder_level </a:t>
            </a:r>
            <a:r>
              <a:rPr>
                <a:solidFill>
                  <a:srgbClr val="902000"/>
                </a:solidFill>
                <a:latin typeface="Courier"/>
              </a:rPr>
              <a:t>INTEGER</a:t>
            </a:r>
            <a:r>
              <a:rPr>
                <a:latin typeface="Courier"/>
              </a:rPr>
              <a:t>,</a:t>
            </a:r>
            <a:br/>
            <a:r>
              <a:rPr>
                <a:latin typeface="Courier"/>
              </a:rPr>
              <a:t>    price_per_unit </a:t>
            </a:r>
            <a:r>
              <a:rPr>
                <a:solidFill>
                  <a:srgbClr val="902000"/>
                </a:solidFill>
                <a:latin typeface="Courier"/>
              </a:rPr>
              <a:t>DECIMAL</a:t>
            </a:r>
            <a:r>
              <a:rPr>
                <a:latin typeface="Courier"/>
              </a:rPr>
              <a:t>(</a:t>
            </a:r>
            <a:r>
              <a:rPr>
                <a:solidFill>
                  <a:srgbClr val="40A070"/>
                </a:solidFill>
                <a:latin typeface="Courier"/>
              </a:rPr>
              <a:t>10</a:t>
            </a:r>
            <a:r>
              <a:rPr>
                <a:latin typeface="Courier"/>
              </a:rPr>
              <a:t>, </a:t>
            </a:r>
            <a:r>
              <a:rPr>
                <a:solidFill>
                  <a:srgbClr val="40A070"/>
                </a:solidFill>
                <a:latin typeface="Courier"/>
              </a:rPr>
              <a:t>2</a:t>
            </a:r>
            <a:r>
              <a:rPr>
                <a:latin typeface="Courier"/>
              </a:rPr>
              <a:t>),</a:t>
            </a:r>
            <a:br/>
            <a:r>
              <a:rPr>
                <a:latin typeface="Courier"/>
              </a:rPr>
              <a:t>    batch_number </a:t>
            </a:r>
            <a:r>
              <a:rPr>
                <a:solidFill>
                  <a:srgbClr val="902000"/>
                </a:solidFill>
                <a:latin typeface="Courier"/>
              </a:rPr>
              <a:t>VARCHAR</a:t>
            </a:r>
            <a:r>
              <a:rPr>
                <a:latin typeface="Courier"/>
              </a:rPr>
              <a:t>(</a:t>
            </a:r>
            <a:r>
              <a:rPr>
                <a:solidFill>
                  <a:srgbClr val="40A070"/>
                </a:solidFill>
                <a:latin typeface="Courier"/>
              </a:rPr>
              <a:t>100</a:t>
            </a:r>
            <a:r>
              <a:rPr>
                <a:latin typeface="Courier"/>
              </a:rPr>
              <a:t>),</a:t>
            </a:r>
            <a:br/>
            <a:r>
              <a:rPr>
                <a:latin typeface="Courier"/>
              </a:rPr>
              <a:t>    expiry_date </a:t>
            </a:r>
            <a:r>
              <a:rPr>
                <a:solidFill>
                  <a:srgbClr val="902000"/>
                </a:solidFill>
                <a:latin typeface="Courier"/>
              </a:rPr>
              <a:t>DATE</a:t>
            </a:r>
            <a:r>
              <a:rPr>
                <a:latin typeface="Courier"/>
              </a:rPr>
              <a:t>,</a:t>
            </a:r>
            <a:br/>
            <a:r>
              <a:rPr>
                <a:latin typeface="Courier"/>
              </a:rPr>
              <a:t>    supplier </a:t>
            </a:r>
            <a:r>
              <a:rPr>
                <a:solidFill>
                  <a:srgbClr val="902000"/>
                </a:solidFill>
                <a:latin typeface="Courier"/>
              </a:rPr>
              <a:t>VARCHAR</a:t>
            </a:r>
            <a:r>
              <a:rPr>
                <a:latin typeface="Courier"/>
              </a:rPr>
              <a:t>(</a:t>
            </a:r>
            <a:r>
              <a:rPr>
                <a:solidFill>
                  <a:srgbClr val="40A070"/>
                </a:solidFill>
                <a:latin typeface="Courier"/>
              </a:rPr>
              <a:t>200</a:t>
            </a:r>
            <a:r>
              <a:rPr>
                <a:latin typeface="Courier"/>
              </a:rPr>
              <a:t>),</a:t>
            </a:r>
            <a:br/>
            <a:r>
              <a:rPr>
                <a:latin typeface="Courier"/>
              </a:rPr>
              <a:t>    last_restocked_at </a:t>
            </a:r>
            <a:r>
              <a:rPr>
                <a:solidFill>
                  <a:srgbClr val="902000"/>
                </a:solidFill>
                <a:latin typeface="Courier"/>
              </a:rPr>
              <a:t>TIMESTAMP</a:t>
            </a:r>
            <a:r>
              <a:rPr>
                <a:latin typeface="Courier"/>
              </a:rPr>
              <a:t>,</a:t>
            </a:r>
            <a:br/>
            <a:r>
              <a:rPr>
                <a:latin typeface="Courier"/>
              </a:rPr>
              <a:t>    created_at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r>
              <a:rPr>
                <a:latin typeface="Courier"/>
              </a:rPr>
              <a:t>,</a:t>
            </a:r>
            <a:br/>
            <a:r>
              <a:rPr>
                <a:latin typeface="Courier"/>
              </a:rPr>
              <a:t>    updated_at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br/>
            <a:r>
              <a:rPr>
                <a:latin typeface="Courier"/>
              </a:rPr>
              <a:t>);</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idx_inventory_medication_name </a:t>
            </a:r>
            <a:r>
              <a:rPr b="1">
                <a:solidFill>
                  <a:srgbClr val="007020"/>
                </a:solidFill>
                <a:latin typeface="Courier"/>
              </a:rPr>
              <a:t>ON</a:t>
            </a:r>
            <a:r>
              <a:rPr>
                <a:latin typeface="Courier"/>
              </a:rPr>
              <a:t> inventory(medication_name);</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idx_inventory_quantity </a:t>
            </a:r>
            <a:r>
              <a:rPr b="1">
                <a:solidFill>
                  <a:srgbClr val="007020"/>
                </a:solidFill>
                <a:latin typeface="Courier"/>
              </a:rPr>
              <a:t>ON</a:t>
            </a:r>
            <a:r>
              <a:rPr>
                <a:latin typeface="Courier"/>
              </a:rPr>
              <a:t> inventory(quantity);</a:t>
            </a:r>
            <a:br/>
            <a:br/>
            <a:r>
              <a:rPr i="1">
                <a:solidFill>
                  <a:srgbClr val="60A0B0"/>
                </a:solidFill>
                <a:latin typeface="Courier"/>
              </a:rPr>
              <a:t>-- Audit Logs</a:t>
            </a:r>
            <a:br/>
            <a:r>
              <a:rPr b="1">
                <a:solidFill>
                  <a:srgbClr val="007020"/>
                </a:solidFill>
                <a:latin typeface="Courier"/>
              </a:rPr>
              <a:t>CREATE</a:t>
            </a:r>
            <a:r>
              <a:rPr>
                <a:latin typeface="Courier"/>
              </a:rPr>
              <a:t> </a:t>
            </a:r>
            <a:r>
              <a:rPr b="1">
                <a:solidFill>
                  <a:srgbClr val="007020"/>
                </a:solidFill>
                <a:latin typeface="Courier"/>
              </a:rPr>
              <a:t>TABLE</a:t>
            </a:r>
            <a:r>
              <a:rPr>
                <a:latin typeface="Courier"/>
              </a:rPr>
              <a:t> audit_logs (</a:t>
            </a:r>
            <a:br/>
            <a:r>
              <a:rPr>
                <a:latin typeface="Courier"/>
              </a:rPr>
              <a:t>    </a:t>
            </a:r>
            <a:r>
              <a:rPr b="1">
                <a:solidFill>
                  <a:srgbClr val="007020"/>
                </a:solidFill>
                <a:latin typeface="Courier"/>
              </a:rPr>
              <a:t>id</a:t>
            </a:r>
            <a:r>
              <a:rPr>
                <a:latin typeface="Courier"/>
              </a:rPr>
              <a:t> SERIAL </a:t>
            </a:r>
            <a:r>
              <a:rPr b="1">
                <a:solidFill>
                  <a:srgbClr val="007020"/>
                </a:solidFill>
                <a:latin typeface="Courier"/>
              </a:rPr>
              <a:t>PRIMARY</a:t>
            </a:r>
            <a:r>
              <a:rPr>
                <a:latin typeface="Courier"/>
              </a:rPr>
              <a:t> </a:t>
            </a:r>
            <a:r>
              <a:rPr b="1">
                <a:solidFill>
                  <a:srgbClr val="007020"/>
                </a:solidFill>
                <a:latin typeface="Courier"/>
              </a:rPr>
              <a:t>KEY</a:t>
            </a:r>
            <a:r>
              <a:rPr>
                <a:latin typeface="Courier"/>
              </a:rPr>
              <a:t>,</a:t>
            </a:r>
            <a:br/>
            <a:r>
              <a:rPr>
                <a:latin typeface="Courier"/>
              </a:rPr>
              <a:t>    user_id </a:t>
            </a:r>
            <a:r>
              <a:rPr>
                <a:solidFill>
                  <a:srgbClr val="902000"/>
                </a:solidFill>
                <a:latin typeface="Courier"/>
              </a:rPr>
              <a:t>INTEGER</a:t>
            </a:r>
            <a:r>
              <a:rPr>
                <a:latin typeface="Courier"/>
              </a:rPr>
              <a:t> </a:t>
            </a:r>
            <a:r>
              <a:rPr b="1">
                <a:solidFill>
                  <a:srgbClr val="007020"/>
                </a:solidFill>
                <a:latin typeface="Courier"/>
              </a:rPr>
              <a:t>REFERENCES</a:t>
            </a:r>
            <a:r>
              <a:rPr>
                <a:latin typeface="Courier"/>
              </a:rPr>
              <a:t> users(</a:t>
            </a:r>
            <a:r>
              <a:rPr b="1">
                <a:solidFill>
                  <a:srgbClr val="007020"/>
                </a:solidFill>
                <a:latin typeface="Courier"/>
              </a:rPr>
              <a:t>id</a:t>
            </a:r>
            <a:r>
              <a:rPr>
                <a:latin typeface="Courier"/>
              </a:rPr>
              <a:t>),</a:t>
            </a:r>
            <a:br/>
            <a:r>
              <a:rPr>
                <a:latin typeface="Courier"/>
              </a:rPr>
              <a:t>    action </a:t>
            </a:r>
            <a:r>
              <a:rPr>
                <a:solidFill>
                  <a:srgbClr val="902000"/>
                </a:solidFill>
                <a:latin typeface="Courier"/>
              </a:rPr>
              <a:t>VARCHAR</a:t>
            </a:r>
            <a:r>
              <a:rPr>
                <a:latin typeface="Courier"/>
              </a:rPr>
              <a:t>(</a:t>
            </a:r>
            <a:r>
              <a:rPr>
                <a:solidFill>
                  <a:srgbClr val="40A070"/>
                </a:solidFill>
                <a:latin typeface="Courier"/>
              </a:rPr>
              <a:t>100</a:t>
            </a:r>
            <a:r>
              <a:rPr>
                <a:latin typeface="Courier"/>
              </a:rPr>
              <a:t>) </a:t>
            </a:r>
            <a:r>
              <a:rPr b="1">
                <a:solidFill>
                  <a:srgbClr val="007020"/>
                </a:solidFill>
                <a:latin typeface="Courier"/>
              </a:rPr>
              <a:t>NOT</a:t>
            </a:r>
            <a:r>
              <a:rPr>
                <a:latin typeface="Courier"/>
              </a:rPr>
              <a:t> </a:t>
            </a:r>
            <a:r>
              <a:rPr b="1">
                <a:solidFill>
                  <a:srgbClr val="007020"/>
                </a:solidFill>
                <a:latin typeface="Courier"/>
              </a:rPr>
              <a:t>NULL</a:t>
            </a:r>
            <a:r>
              <a:rPr>
                <a:latin typeface="Courier"/>
              </a:rPr>
              <a:t>, </a:t>
            </a:r>
            <a:r>
              <a:rPr i="1">
                <a:solidFill>
                  <a:srgbClr val="60A0B0"/>
                </a:solidFill>
                <a:latin typeface="Courier"/>
              </a:rPr>
              <a:t>-- login, create_patient, update_prescription, etc.</a:t>
            </a:r>
            <a:br/>
            <a:r>
              <a:rPr>
                <a:latin typeface="Courier"/>
              </a:rPr>
              <a:t>    table_name </a:t>
            </a:r>
            <a:r>
              <a:rPr>
                <a:solidFill>
                  <a:srgbClr val="902000"/>
                </a:solidFill>
                <a:latin typeface="Courier"/>
              </a:rPr>
              <a:t>VARCHAR</a:t>
            </a:r>
            <a:r>
              <a:rPr>
                <a:latin typeface="Courier"/>
              </a:rPr>
              <a:t>(</a:t>
            </a:r>
            <a:r>
              <a:rPr>
                <a:solidFill>
                  <a:srgbClr val="40A070"/>
                </a:solidFill>
                <a:latin typeface="Courier"/>
              </a:rPr>
              <a:t>100</a:t>
            </a:r>
            <a:r>
              <a:rPr>
                <a:latin typeface="Courier"/>
              </a:rPr>
              <a:t>),</a:t>
            </a:r>
            <a:br/>
            <a:r>
              <a:rPr>
                <a:latin typeface="Courier"/>
              </a:rPr>
              <a:t>    record_id </a:t>
            </a:r>
            <a:r>
              <a:rPr>
                <a:solidFill>
                  <a:srgbClr val="902000"/>
                </a:solidFill>
                <a:latin typeface="Courier"/>
              </a:rPr>
              <a:t>INTEGER</a:t>
            </a:r>
            <a:r>
              <a:rPr>
                <a:latin typeface="Courier"/>
              </a:rPr>
              <a:t>,</a:t>
            </a:r>
            <a:br/>
            <a:r>
              <a:rPr>
                <a:latin typeface="Courier"/>
              </a:rPr>
              <a:t>    old_values JSONB,</a:t>
            </a:r>
            <a:br/>
            <a:r>
              <a:rPr>
                <a:latin typeface="Courier"/>
              </a:rPr>
              <a:t>    new_values JSONB,</a:t>
            </a:r>
            <a:br/>
            <a:r>
              <a:rPr>
                <a:latin typeface="Courier"/>
              </a:rPr>
              <a:t>    ip_address </a:t>
            </a:r>
            <a:r>
              <a:rPr>
                <a:solidFill>
                  <a:srgbClr val="902000"/>
                </a:solidFill>
                <a:latin typeface="Courier"/>
              </a:rPr>
              <a:t>VARCHAR</a:t>
            </a:r>
            <a:r>
              <a:rPr>
                <a:latin typeface="Courier"/>
              </a:rPr>
              <a:t>(</a:t>
            </a:r>
            <a:r>
              <a:rPr>
                <a:solidFill>
                  <a:srgbClr val="40A070"/>
                </a:solidFill>
                <a:latin typeface="Courier"/>
              </a:rPr>
              <a:t>50</a:t>
            </a:r>
            <a:r>
              <a:rPr>
                <a:latin typeface="Courier"/>
              </a:rPr>
              <a:t>),</a:t>
            </a:r>
            <a:br/>
            <a:r>
              <a:rPr>
                <a:latin typeface="Courier"/>
              </a:rPr>
              <a:t>    user_agent TEXT,</a:t>
            </a:r>
            <a:br/>
            <a:r>
              <a:rPr>
                <a:latin typeface="Courier"/>
              </a:rPr>
              <a:t>    created_at </a:t>
            </a:r>
            <a:r>
              <a:rPr>
                <a:solidFill>
                  <a:srgbClr val="902000"/>
                </a:solidFill>
                <a:latin typeface="Courier"/>
              </a:rPr>
              <a:t>TIMESTAMP</a:t>
            </a:r>
            <a:r>
              <a:rPr>
                <a:latin typeface="Courier"/>
              </a:rPr>
              <a:t> </a:t>
            </a:r>
            <a:r>
              <a:rPr b="1">
                <a:solidFill>
                  <a:srgbClr val="007020"/>
                </a:solidFill>
                <a:latin typeface="Courier"/>
              </a:rPr>
              <a:t>DEFAULT</a:t>
            </a:r>
            <a:r>
              <a:rPr>
                <a:latin typeface="Courier"/>
              </a:rPr>
              <a:t> </a:t>
            </a:r>
            <a:r>
              <a:rPr>
                <a:solidFill>
                  <a:srgbClr val="06287E"/>
                </a:solidFill>
                <a:latin typeface="Courier"/>
              </a:rPr>
              <a:t>CURRENT_TIMESTAMP</a:t>
            </a:r>
            <a:br/>
            <a:r>
              <a:rPr>
                <a:latin typeface="Courier"/>
              </a:rPr>
              <a:t>);</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idx_audit_logs_user_id </a:t>
            </a:r>
            <a:r>
              <a:rPr b="1">
                <a:solidFill>
                  <a:srgbClr val="007020"/>
                </a:solidFill>
                <a:latin typeface="Courier"/>
              </a:rPr>
              <a:t>ON</a:t>
            </a:r>
            <a:r>
              <a:rPr>
                <a:latin typeface="Courier"/>
              </a:rPr>
              <a:t> audit_logs(user_id);</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idx_audit_logs_action </a:t>
            </a:r>
            <a:r>
              <a:rPr b="1">
                <a:solidFill>
                  <a:srgbClr val="007020"/>
                </a:solidFill>
                <a:latin typeface="Courier"/>
              </a:rPr>
              <a:t>ON</a:t>
            </a:r>
            <a:r>
              <a:rPr>
                <a:latin typeface="Courier"/>
              </a:rPr>
              <a:t> audit_logs(action);</a:t>
            </a:r>
            <a:br/>
            <a:r>
              <a:rPr b="1">
                <a:solidFill>
                  <a:srgbClr val="007020"/>
                </a:solidFill>
                <a:latin typeface="Courier"/>
              </a:rPr>
              <a:t>CREATE</a:t>
            </a:r>
            <a:r>
              <a:rPr>
                <a:latin typeface="Courier"/>
              </a:rPr>
              <a:t> </a:t>
            </a:r>
            <a:r>
              <a:rPr b="1">
                <a:solidFill>
                  <a:srgbClr val="007020"/>
                </a:solidFill>
                <a:latin typeface="Courier"/>
              </a:rPr>
              <a:t>INDEX</a:t>
            </a:r>
            <a:r>
              <a:rPr>
                <a:latin typeface="Courier"/>
              </a:rPr>
              <a:t> idx_audit_logs_created_at </a:t>
            </a:r>
            <a:r>
              <a:rPr b="1">
                <a:solidFill>
                  <a:srgbClr val="007020"/>
                </a:solidFill>
                <a:latin typeface="Courier"/>
              </a:rPr>
              <a:t>ON</a:t>
            </a:r>
            <a:r>
              <a:rPr>
                <a:latin typeface="Courier"/>
              </a:rPr>
              <a:t> audit_logs(created_at);</a:t>
            </a:r>
          </a:p>
          <a:p>
            <a:pPr lvl="0" indent="0" marL="0">
              <a:spcBef>
                <a:spcPts val="3000"/>
              </a:spcBef>
              <a:buNone/>
            </a:pPr>
            <a:r>
              <a:rPr b="1"/>
              <a:t>Database Optimization</a:t>
            </a:r>
          </a:p>
          <a:p>
            <a:pPr lvl="0" indent="0" marL="0">
              <a:buNone/>
            </a:pPr>
            <a:r>
              <a:rPr b="1"/>
              <a:t>Connection Pooling:</a:t>
            </a:r>
          </a:p>
          <a:p>
            <a:pPr lvl="0" indent="0">
              <a:buNone/>
            </a:pPr>
            <a:r>
              <a:rPr i="1">
                <a:solidFill>
                  <a:srgbClr val="60A0B0"/>
                </a:solidFill>
                <a:latin typeface="Courier"/>
              </a:rPr>
              <a:t>// database.ts</a:t>
            </a:r>
            <a:br/>
            <a:r>
              <a:rPr b="1">
                <a:solidFill>
                  <a:srgbClr val="008000"/>
                </a:solidFill>
                <a:latin typeface="Courier"/>
              </a:rPr>
              <a:t>import</a:t>
            </a:r>
            <a:r>
              <a:rPr>
                <a:latin typeface="Courier"/>
              </a:rPr>
              <a:t> { Pool } </a:t>
            </a:r>
            <a:r>
              <a:rPr b="1">
                <a:solidFill>
                  <a:srgbClr val="008000"/>
                </a:solidFill>
                <a:latin typeface="Courier"/>
              </a:rPr>
              <a:t>from</a:t>
            </a:r>
            <a:r>
              <a:rPr>
                <a:latin typeface="Courier"/>
              </a:rPr>
              <a:t> </a:t>
            </a:r>
            <a:r>
              <a:rPr>
                <a:solidFill>
                  <a:srgbClr val="4070A0"/>
                </a:solidFill>
                <a:latin typeface="Courier"/>
              </a:rPr>
              <a:t>'pg'</a:t>
            </a:r>
            <a:r>
              <a:rPr>
                <a:solidFill>
                  <a:srgbClr val="666666"/>
                </a:solidFill>
                <a:latin typeface="Courier"/>
              </a:rPr>
              <a:t>;</a:t>
            </a:r>
            <a:br/>
            <a:br/>
            <a:r>
              <a:rPr b="1">
                <a:solidFill>
                  <a:srgbClr val="008000"/>
                </a:solidFill>
                <a:latin typeface="Courier"/>
              </a:rPr>
              <a:t>export</a:t>
            </a:r>
            <a:r>
              <a:rPr>
                <a:latin typeface="Courier"/>
              </a:rPr>
              <a:t> </a:t>
            </a:r>
            <a:r>
              <a:rPr b="1">
                <a:solidFill>
                  <a:srgbClr val="007020"/>
                </a:solidFill>
                <a:latin typeface="Courier"/>
              </a:rPr>
              <a:t>const</a:t>
            </a:r>
            <a:r>
              <a:rPr>
                <a:latin typeface="Courier"/>
              </a:rPr>
              <a:t> pool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Pool</a:t>
            </a:r>
            <a:r>
              <a:rPr>
                <a:latin typeface="Courier"/>
              </a:rPr>
              <a:t>({</a:t>
            </a:r>
            <a:br/>
            <a:r>
              <a:rPr>
                <a:latin typeface="Courier"/>
              </a:rPr>
              <a:t>  host</a:t>
            </a:r>
            <a:r>
              <a:rPr>
                <a:solidFill>
                  <a:srgbClr val="666666"/>
                </a:solidFill>
                <a:latin typeface="Courier"/>
              </a:rPr>
              <a:t>:</a:t>
            </a:r>
            <a:r>
              <a:rPr>
                <a:latin typeface="Courier"/>
              </a:rPr>
              <a:t> </a:t>
            </a:r>
            <a:r>
              <a:rPr>
                <a:solidFill>
                  <a:srgbClr val="008000"/>
                </a:solidFill>
                <a:latin typeface="Courier"/>
              </a:rPr>
              <a:t>process</a:t>
            </a:r>
            <a:r>
              <a:rPr>
                <a:solidFill>
                  <a:srgbClr val="666666"/>
                </a:solidFill>
                <a:latin typeface="Courier"/>
              </a:rPr>
              <a:t>.</a:t>
            </a:r>
            <a:r>
              <a:rPr>
                <a:solidFill>
                  <a:srgbClr val="7D9029"/>
                </a:solidFill>
                <a:latin typeface="Courier"/>
              </a:rPr>
              <a:t>env</a:t>
            </a:r>
            <a:r>
              <a:rPr>
                <a:solidFill>
                  <a:srgbClr val="666666"/>
                </a:solidFill>
                <a:latin typeface="Courier"/>
              </a:rPr>
              <a:t>.</a:t>
            </a:r>
            <a:r>
              <a:rPr>
                <a:solidFill>
                  <a:srgbClr val="7D9029"/>
                </a:solidFill>
                <a:latin typeface="Courier"/>
              </a:rPr>
              <a:t>DB_HOST</a:t>
            </a:r>
            <a:r>
              <a:rPr>
                <a:solidFill>
                  <a:srgbClr val="666666"/>
                </a:solidFill>
                <a:latin typeface="Courier"/>
              </a:rPr>
              <a:t>,</a:t>
            </a:r>
            <a:br/>
            <a:r>
              <a:rPr>
                <a:latin typeface="Courier"/>
              </a:rPr>
              <a:t>  port</a:t>
            </a:r>
            <a:r>
              <a:rPr>
                <a:solidFill>
                  <a:srgbClr val="666666"/>
                </a:solidFill>
                <a:latin typeface="Courier"/>
              </a:rPr>
              <a:t>:</a:t>
            </a:r>
            <a:r>
              <a:rPr>
                <a:latin typeface="Courier"/>
              </a:rPr>
              <a:t> </a:t>
            </a:r>
            <a:r>
              <a:rPr>
                <a:solidFill>
                  <a:srgbClr val="BC7A00"/>
                </a:solidFill>
                <a:latin typeface="Courier"/>
              </a:rPr>
              <a:t>parseInt</a:t>
            </a:r>
            <a:r>
              <a:rPr>
                <a:latin typeface="Courier"/>
              </a:rPr>
              <a:t>(</a:t>
            </a:r>
            <a:r>
              <a:rPr>
                <a:solidFill>
                  <a:srgbClr val="008000"/>
                </a:solidFill>
                <a:latin typeface="Courier"/>
              </a:rPr>
              <a:t>process</a:t>
            </a:r>
            <a:r>
              <a:rPr>
                <a:solidFill>
                  <a:srgbClr val="666666"/>
                </a:solidFill>
                <a:latin typeface="Courier"/>
              </a:rPr>
              <a:t>.</a:t>
            </a:r>
            <a:r>
              <a:rPr>
                <a:solidFill>
                  <a:srgbClr val="7D9029"/>
                </a:solidFill>
                <a:latin typeface="Courier"/>
              </a:rPr>
              <a:t>env</a:t>
            </a:r>
            <a:r>
              <a:rPr>
                <a:solidFill>
                  <a:srgbClr val="666666"/>
                </a:solidFill>
                <a:latin typeface="Courier"/>
              </a:rPr>
              <a:t>.</a:t>
            </a:r>
            <a:r>
              <a:rPr>
                <a:solidFill>
                  <a:srgbClr val="7D9029"/>
                </a:solidFill>
                <a:latin typeface="Courier"/>
              </a:rPr>
              <a:t>DB_PORT</a:t>
            </a:r>
            <a:r>
              <a:rPr>
                <a:latin typeface="Courier"/>
              </a:rPr>
              <a:t> </a:t>
            </a:r>
            <a:r>
              <a:rPr>
                <a:solidFill>
                  <a:srgbClr val="666666"/>
                </a:solidFill>
                <a:latin typeface="Courier"/>
              </a:rPr>
              <a:t>||</a:t>
            </a:r>
            <a:r>
              <a:rPr>
                <a:latin typeface="Courier"/>
              </a:rPr>
              <a:t> </a:t>
            </a:r>
            <a:r>
              <a:rPr>
                <a:solidFill>
                  <a:srgbClr val="4070A0"/>
                </a:solidFill>
                <a:latin typeface="Courier"/>
              </a:rPr>
              <a:t>'5432'</a:t>
            </a:r>
            <a:r>
              <a:rPr>
                <a:latin typeface="Courier"/>
              </a:rPr>
              <a:t>)</a:t>
            </a:r>
            <a:r>
              <a:rPr>
                <a:solidFill>
                  <a:srgbClr val="666666"/>
                </a:solidFill>
                <a:latin typeface="Courier"/>
              </a:rPr>
              <a:t>,</a:t>
            </a:r>
            <a:br/>
            <a:r>
              <a:rPr>
                <a:latin typeface="Courier"/>
              </a:rPr>
              <a:t>  database</a:t>
            </a:r>
            <a:r>
              <a:rPr>
                <a:solidFill>
                  <a:srgbClr val="666666"/>
                </a:solidFill>
                <a:latin typeface="Courier"/>
              </a:rPr>
              <a:t>:</a:t>
            </a:r>
            <a:r>
              <a:rPr>
                <a:latin typeface="Courier"/>
              </a:rPr>
              <a:t> </a:t>
            </a:r>
            <a:r>
              <a:rPr>
                <a:solidFill>
                  <a:srgbClr val="008000"/>
                </a:solidFill>
                <a:latin typeface="Courier"/>
              </a:rPr>
              <a:t>process</a:t>
            </a:r>
            <a:r>
              <a:rPr>
                <a:solidFill>
                  <a:srgbClr val="666666"/>
                </a:solidFill>
                <a:latin typeface="Courier"/>
              </a:rPr>
              <a:t>.</a:t>
            </a:r>
            <a:r>
              <a:rPr>
                <a:solidFill>
                  <a:srgbClr val="7D9029"/>
                </a:solidFill>
                <a:latin typeface="Courier"/>
              </a:rPr>
              <a:t>env</a:t>
            </a:r>
            <a:r>
              <a:rPr>
                <a:solidFill>
                  <a:srgbClr val="666666"/>
                </a:solidFill>
                <a:latin typeface="Courier"/>
              </a:rPr>
              <a:t>.</a:t>
            </a:r>
            <a:r>
              <a:rPr>
                <a:solidFill>
                  <a:srgbClr val="7D9029"/>
                </a:solidFill>
                <a:latin typeface="Courier"/>
              </a:rPr>
              <a:t>DB_NAME</a:t>
            </a:r>
            <a:r>
              <a:rPr>
                <a:solidFill>
                  <a:srgbClr val="666666"/>
                </a:solidFill>
                <a:latin typeface="Courier"/>
              </a:rPr>
              <a:t>,</a:t>
            </a:r>
            <a:br/>
            <a:r>
              <a:rPr>
                <a:latin typeface="Courier"/>
              </a:rPr>
              <a:t>  user</a:t>
            </a:r>
            <a:r>
              <a:rPr>
                <a:solidFill>
                  <a:srgbClr val="666666"/>
                </a:solidFill>
                <a:latin typeface="Courier"/>
              </a:rPr>
              <a:t>:</a:t>
            </a:r>
            <a:r>
              <a:rPr>
                <a:latin typeface="Courier"/>
              </a:rPr>
              <a:t> </a:t>
            </a:r>
            <a:r>
              <a:rPr>
                <a:solidFill>
                  <a:srgbClr val="008000"/>
                </a:solidFill>
                <a:latin typeface="Courier"/>
              </a:rPr>
              <a:t>process</a:t>
            </a:r>
            <a:r>
              <a:rPr>
                <a:solidFill>
                  <a:srgbClr val="666666"/>
                </a:solidFill>
                <a:latin typeface="Courier"/>
              </a:rPr>
              <a:t>.</a:t>
            </a:r>
            <a:r>
              <a:rPr>
                <a:solidFill>
                  <a:srgbClr val="7D9029"/>
                </a:solidFill>
                <a:latin typeface="Courier"/>
              </a:rPr>
              <a:t>env</a:t>
            </a:r>
            <a:r>
              <a:rPr>
                <a:solidFill>
                  <a:srgbClr val="666666"/>
                </a:solidFill>
                <a:latin typeface="Courier"/>
              </a:rPr>
              <a:t>.</a:t>
            </a:r>
            <a:r>
              <a:rPr>
                <a:solidFill>
                  <a:srgbClr val="7D9029"/>
                </a:solidFill>
                <a:latin typeface="Courier"/>
              </a:rPr>
              <a:t>DB_USER</a:t>
            </a:r>
            <a:r>
              <a:rPr>
                <a:solidFill>
                  <a:srgbClr val="666666"/>
                </a:solidFill>
                <a:latin typeface="Courier"/>
              </a:rPr>
              <a:t>,</a:t>
            </a:r>
            <a:br/>
            <a:r>
              <a:rPr>
                <a:latin typeface="Courier"/>
              </a:rPr>
              <a:t>  password</a:t>
            </a:r>
            <a:r>
              <a:rPr>
                <a:solidFill>
                  <a:srgbClr val="666666"/>
                </a:solidFill>
                <a:latin typeface="Courier"/>
              </a:rPr>
              <a:t>:</a:t>
            </a:r>
            <a:r>
              <a:rPr>
                <a:latin typeface="Courier"/>
              </a:rPr>
              <a:t> </a:t>
            </a:r>
            <a:r>
              <a:rPr>
                <a:solidFill>
                  <a:srgbClr val="008000"/>
                </a:solidFill>
                <a:latin typeface="Courier"/>
              </a:rPr>
              <a:t>process</a:t>
            </a:r>
            <a:r>
              <a:rPr>
                <a:solidFill>
                  <a:srgbClr val="666666"/>
                </a:solidFill>
                <a:latin typeface="Courier"/>
              </a:rPr>
              <a:t>.</a:t>
            </a:r>
            <a:r>
              <a:rPr>
                <a:solidFill>
                  <a:srgbClr val="7D9029"/>
                </a:solidFill>
                <a:latin typeface="Courier"/>
              </a:rPr>
              <a:t>env</a:t>
            </a:r>
            <a:r>
              <a:rPr>
                <a:solidFill>
                  <a:srgbClr val="666666"/>
                </a:solidFill>
                <a:latin typeface="Courier"/>
              </a:rPr>
              <a:t>.</a:t>
            </a:r>
            <a:r>
              <a:rPr>
                <a:solidFill>
                  <a:srgbClr val="7D9029"/>
                </a:solidFill>
                <a:latin typeface="Courier"/>
              </a:rPr>
              <a:t>DB_PASSWORD</a:t>
            </a:r>
            <a:r>
              <a:rPr>
                <a:solidFill>
                  <a:srgbClr val="666666"/>
                </a:solidFill>
                <a:latin typeface="Courier"/>
              </a:rPr>
              <a:t>,</a:t>
            </a:r>
            <a:br/>
            <a:r>
              <a:rPr>
                <a:latin typeface="Courier"/>
              </a:rPr>
              <a:t>  max</a:t>
            </a:r>
            <a:r>
              <a:rPr>
                <a:solidFill>
                  <a:srgbClr val="666666"/>
                </a:solidFill>
                <a:latin typeface="Courier"/>
              </a:rPr>
              <a:t>:</a:t>
            </a:r>
            <a:r>
              <a:rPr>
                <a:latin typeface="Courier"/>
              </a:rPr>
              <a:t> </a:t>
            </a:r>
            <a:r>
              <a:rPr>
                <a:solidFill>
                  <a:srgbClr val="40A070"/>
                </a:solidFill>
                <a:latin typeface="Courier"/>
              </a:rPr>
              <a:t>20</a:t>
            </a:r>
            <a:r>
              <a:rPr>
                <a:solidFill>
                  <a:srgbClr val="666666"/>
                </a:solidFill>
                <a:latin typeface="Courier"/>
              </a:rPr>
              <a:t>,</a:t>
            </a:r>
            <a:r>
              <a:rPr>
                <a:latin typeface="Courier"/>
              </a:rPr>
              <a:t> </a:t>
            </a:r>
            <a:r>
              <a:rPr i="1">
                <a:solidFill>
                  <a:srgbClr val="60A0B0"/>
                </a:solidFill>
                <a:latin typeface="Courier"/>
              </a:rPr>
              <a:t>// Maximum pool connections</a:t>
            </a:r>
            <a:br/>
            <a:r>
              <a:rPr>
                <a:latin typeface="Courier"/>
              </a:rPr>
              <a:t>  idleTimeoutMillis</a:t>
            </a:r>
            <a:r>
              <a:rPr>
                <a:solidFill>
                  <a:srgbClr val="666666"/>
                </a:solidFill>
                <a:latin typeface="Courier"/>
              </a:rPr>
              <a:t>:</a:t>
            </a:r>
            <a:r>
              <a:rPr>
                <a:latin typeface="Courier"/>
              </a:rPr>
              <a:t> </a:t>
            </a:r>
            <a:r>
              <a:rPr>
                <a:solidFill>
                  <a:srgbClr val="40A070"/>
                </a:solidFill>
                <a:latin typeface="Courier"/>
              </a:rPr>
              <a:t>30000</a:t>
            </a:r>
            <a:r>
              <a:rPr>
                <a:solidFill>
                  <a:srgbClr val="666666"/>
                </a:solidFill>
                <a:latin typeface="Courier"/>
              </a:rPr>
              <a:t>,</a:t>
            </a:r>
            <a:br/>
            <a:r>
              <a:rPr>
                <a:latin typeface="Courier"/>
              </a:rPr>
              <a:t>  connectionTimeoutMillis</a:t>
            </a:r>
            <a:r>
              <a:rPr>
                <a:solidFill>
                  <a:srgbClr val="666666"/>
                </a:solidFill>
                <a:latin typeface="Courier"/>
              </a:rPr>
              <a:t>:</a:t>
            </a:r>
            <a:r>
              <a:rPr>
                <a:latin typeface="Courier"/>
              </a:rPr>
              <a:t> </a:t>
            </a:r>
            <a:r>
              <a:rPr>
                <a:solidFill>
                  <a:srgbClr val="40A070"/>
                </a:solidFill>
                <a:latin typeface="Courier"/>
              </a:rPr>
              <a:t>2000</a:t>
            </a:r>
            <a:r>
              <a:rPr>
                <a:solidFill>
                  <a:srgbClr val="666666"/>
                </a:solidFill>
                <a:latin typeface="Courier"/>
              </a:rPr>
              <a:t>,</a:t>
            </a:r>
            <a:br/>
            <a:r>
              <a:rPr>
                <a:latin typeface="Courier"/>
              </a:rPr>
              <a:t>})</a:t>
            </a:r>
            <a:r>
              <a:rPr>
                <a:solidFill>
                  <a:srgbClr val="666666"/>
                </a:solidFill>
                <a:latin typeface="Courier"/>
              </a:rPr>
              <a:t>;</a:t>
            </a:r>
          </a:p>
          <a:p>
            <a:pPr lvl="0" indent="0" marL="0">
              <a:buNone/>
            </a:pPr>
            <a:r>
              <a:rPr b="1"/>
              <a:t>Prepared Statements:</a:t>
            </a:r>
            <a:r>
              <a:rPr/>
              <a:t> - All queries use parameterized statements - Prevents SQL injection - Query plan caching by PostgreSQL</a:t>
            </a:r>
          </a:p>
          <a:p>
            <a:pPr lvl="0" indent="0" marL="0">
              <a:buNone/>
            </a:pPr>
            <a:r>
              <a:rPr b="1"/>
              <a:t>Indexes:</a:t>
            </a:r>
            <a:r>
              <a:rPr/>
              <a:t> - Strategic indexes on foreign keys - Composite indexes for common queries - Partial indexes for filtered queries - Index on frequently searched columns</a:t>
            </a:r>
          </a:p>
          <a:p>
            <a:pPr lvl="0" indent="0" marL="0">
              <a:buNone/>
            </a:pPr>
            <a:r>
              <a:rPr b="1"/>
              <a:t>Partitioning (Future):</a:t>
            </a:r>
            <a:r>
              <a:rPr/>
              <a:t> - Partition </a:t>
            </a:r>
            <a:r>
              <a:rPr>
                <a:latin typeface="Courier"/>
              </a:rPr>
              <a:t>visits</a:t>
            </a:r>
            <a:r>
              <a:rPr/>
              <a:t> by date (monthly/yearly) - Partition </a:t>
            </a:r>
            <a:r>
              <a:rPr>
                <a:latin typeface="Courier"/>
              </a:rPr>
              <a:t>audit_logs</a:t>
            </a:r>
            <a:r>
              <a:rPr/>
              <a:t> by date - Improves query performance on large datasets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5. Security Architecture</a:t>
            </a:r>
          </a:p>
        </p:txBody>
      </p:sp>
      <p:sp>
        <p:nvSpPr>
          <p:cNvPr id="4" name="Text Placeholder 3"/>
          <p:cNvSpPr>
            <a:spLocks noGrp="1"/>
          </p:cNvSpPr>
          <p:nvPr>
            <p:ph idx="2" sz="half" type="body"/>
          </p:nvPr>
        </p:nvSpPr>
        <p:spPr/>
        <p:txBody>
          <a:bodyPr/>
          <a:lstStyle/>
          <a:p>
            <a:pPr lvl="0" indent="0" marL="0">
              <a:spcBef>
                <a:spcPts val="3000"/>
              </a:spcBef>
              <a:buNone/>
            </a:pPr>
            <a:r>
              <a:rPr b="1"/>
              <a:t>Authentication &amp; Authorization</a:t>
            </a:r>
          </a:p>
          <a:p>
            <a:pPr lvl="0" indent="0" marL="0">
              <a:buNone/>
            </a:pPr>
            <a:r>
              <a:rPr b="1"/>
              <a:t>JWT-Based Authentication:</a:t>
            </a:r>
          </a:p>
          <a:p>
            <a:pPr lvl="0" indent="0">
              <a:buNone/>
            </a:pPr>
            <a:r>
              <a:rPr i="1">
                <a:solidFill>
                  <a:srgbClr val="60A0B0"/>
                </a:solidFill>
                <a:latin typeface="Courier"/>
              </a:rPr>
              <a:t>// Token structure</a:t>
            </a:r>
            <a:br/>
            <a:r>
              <a:rPr>
                <a:latin typeface="Courier"/>
              </a:rPr>
              <a:t>{</a:t>
            </a:r>
            <a:br/>
            <a:r>
              <a:rPr>
                <a:latin typeface="Courier"/>
              </a:rPr>
              <a:t>  userId</a:t>
            </a:r>
            <a:r>
              <a:rPr>
                <a:solidFill>
                  <a:srgbClr val="666666"/>
                </a:solidFill>
                <a:latin typeface="Courier"/>
              </a:rPr>
              <a:t>:</a:t>
            </a:r>
            <a:r>
              <a:rPr>
                <a:latin typeface="Courier"/>
              </a:rPr>
              <a:t> </a:t>
            </a:r>
            <a:r>
              <a:rPr>
                <a:solidFill>
                  <a:srgbClr val="40A070"/>
                </a:solidFill>
                <a:latin typeface="Courier"/>
              </a:rPr>
              <a:t>123</a:t>
            </a:r>
            <a:r>
              <a:rPr>
                <a:solidFill>
                  <a:srgbClr val="666666"/>
                </a:solidFill>
                <a:latin typeface="Courier"/>
              </a:rPr>
              <a:t>,</a:t>
            </a:r>
            <a:br/>
            <a:r>
              <a:rPr>
                <a:latin typeface="Courier"/>
              </a:rPr>
              <a:t>  email</a:t>
            </a:r>
            <a:r>
              <a:rPr>
                <a:solidFill>
                  <a:srgbClr val="666666"/>
                </a:solidFill>
                <a:latin typeface="Courier"/>
              </a:rPr>
              <a:t>:</a:t>
            </a:r>
            <a:r>
              <a:rPr>
                <a:latin typeface="Courier"/>
              </a:rPr>
              <a:t> </a:t>
            </a:r>
            <a:r>
              <a:rPr>
                <a:solidFill>
                  <a:srgbClr val="4070A0"/>
                </a:solidFill>
                <a:latin typeface="Courier"/>
              </a:rPr>
              <a:t>"doctor@hospital.com"</a:t>
            </a:r>
            <a:r>
              <a:rPr>
                <a:solidFill>
                  <a:srgbClr val="666666"/>
                </a:solidFill>
                <a:latin typeface="Courier"/>
              </a:rPr>
              <a:t>,</a:t>
            </a:r>
            <a:br/>
            <a:r>
              <a:rPr>
                <a:latin typeface="Courier"/>
              </a:rPr>
              <a:t>  role</a:t>
            </a:r>
            <a:r>
              <a:rPr>
                <a:solidFill>
                  <a:srgbClr val="666666"/>
                </a:solidFill>
                <a:latin typeface="Courier"/>
              </a:rPr>
              <a:t>:</a:t>
            </a:r>
            <a:r>
              <a:rPr>
                <a:latin typeface="Courier"/>
              </a:rPr>
              <a:t> </a:t>
            </a:r>
            <a:r>
              <a:rPr>
                <a:solidFill>
                  <a:srgbClr val="4070A0"/>
                </a:solidFill>
                <a:latin typeface="Courier"/>
              </a:rPr>
              <a:t>"doctor"</a:t>
            </a:r>
            <a:r>
              <a:rPr>
                <a:solidFill>
                  <a:srgbClr val="666666"/>
                </a:solidFill>
                <a:latin typeface="Courier"/>
              </a:rPr>
              <a:t>,</a:t>
            </a:r>
            <a:br/>
            <a:r>
              <a:rPr>
                <a:latin typeface="Courier"/>
              </a:rPr>
              <a:t>  iat</a:t>
            </a:r>
            <a:r>
              <a:rPr>
                <a:solidFill>
                  <a:srgbClr val="666666"/>
                </a:solidFill>
                <a:latin typeface="Courier"/>
              </a:rPr>
              <a:t>:</a:t>
            </a:r>
            <a:r>
              <a:rPr>
                <a:latin typeface="Courier"/>
              </a:rPr>
              <a:t> </a:t>
            </a:r>
            <a:r>
              <a:rPr>
                <a:solidFill>
                  <a:srgbClr val="40A070"/>
                </a:solidFill>
                <a:latin typeface="Courier"/>
              </a:rPr>
              <a:t>1234567890</a:t>
            </a:r>
            <a:r>
              <a:rPr>
                <a:solidFill>
                  <a:srgbClr val="666666"/>
                </a:solidFill>
                <a:latin typeface="Courier"/>
              </a:rPr>
              <a:t>,</a:t>
            </a:r>
            <a:r>
              <a:rPr>
                <a:latin typeface="Courier"/>
              </a:rPr>
              <a:t>  </a:t>
            </a:r>
            <a:r>
              <a:rPr i="1">
                <a:solidFill>
                  <a:srgbClr val="60A0B0"/>
                </a:solidFill>
                <a:latin typeface="Courier"/>
              </a:rPr>
              <a:t>// issued at</a:t>
            </a:r>
            <a:br/>
            <a:r>
              <a:rPr>
                <a:latin typeface="Courier"/>
              </a:rPr>
              <a:t>  exp</a:t>
            </a:r>
            <a:r>
              <a:rPr>
                <a:solidFill>
                  <a:srgbClr val="666666"/>
                </a:solidFill>
                <a:latin typeface="Courier"/>
              </a:rPr>
              <a:t>:</a:t>
            </a:r>
            <a:r>
              <a:rPr>
                <a:latin typeface="Courier"/>
              </a:rPr>
              <a:t> </a:t>
            </a:r>
            <a:r>
              <a:rPr>
                <a:solidFill>
                  <a:srgbClr val="40A070"/>
                </a:solidFill>
                <a:latin typeface="Courier"/>
              </a:rPr>
              <a:t>1234654290</a:t>
            </a:r>
            <a:r>
              <a:rPr>
                <a:latin typeface="Courier"/>
              </a:rPr>
              <a:t>   </a:t>
            </a:r>
            <a:r>
              <a:rPr i="1">
                <a:solidFill>
                  <a:srgbClr val="60A0B0"/>
                </a:solidFill>
                <a:latin typeface="Courier"/>
              </a:rPr>
              <a:t>// expires (24 hours)</a:t>
            </a:r>
            <a:br/>
            <a:r>
              <a:rPr>
                <a:latin typeface="Courier"/>
              </a:rPr>
              <a:t>}</a:t>
            </a:r>
          </a:p>
          <a:p>
            <a:pPr lvl="0" indent="0" marL="0">
              <a:buNone/>
            </a:pPr>
            <a:r>
              <a:rPr b="1"/>
              <a:t>Authentication Flow:</a:t>
            </a:r>
          </a:p>
          <a:p>
            <a:pPr lvl="0" indent="0">
              <a:buNone/>
            </a:pPr>
            <a:r>
              <a:rPr>
                <a:latin typeface="Courier"/>
              </a:rPr>
              <a:t>1. User submits credentials (email, password)
2. Server validates credentials
3. If valid, bcrypt.compare(password, stored_hash)
4. Generate JWT token (24-hour expiry)
5. Return token to client
6. Client stores token (localStorage or httpOnly cookie)
7. Client includes token in Authorization header for all requests
8. Middleware validates token on each request
9. If token expired, user must re-login</a:t>
            </a:r>
          </a:p>
          <a:p>
            <a:pPr lvl="0" indent="0" marL="0">
              <a:buNone/>
            </a:pPr>
            <a:r>
              <a:rPr b="1"/>
              <a:t>Role-Based Access Control (RBAC):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Role</a:t>
                      </a:r>
                    </a:p>
                  </a:txBody>
                  <a:tcPr/>
                </a:tc>
                <a:tc>
                  <a:txBody>
                    <a:bodyPr/>
                    <a:lstStyle/>
                    <a:p>
                      <a:pPr lvl="0" indent="0" marL="0">
                        <a:buNone/>
                      </a:pPr>
                      <a:r>
                        <a:rPr/>
                        <a:t>Permissions</a:t>
                      </a:r>
                    </a:p>
                  </a:txBody>
                  <a:tcPr/>
                </a:tc>
              </a:tr>
              <a:tr h="0">
                <a:tc>
                  <a:txBody>
                    <a:bodyPr/>
                    <a:lstStyle/>
                    <a:p>
                      <a:pPr lvl="0" indent="0" marL="0">
                        <a:buNone/>
                      </a:pPr>
                      <a:r>
                        <a:rPr b="1"/>
                        <a:t>Admin</a:t>
                      </a:r>
                    </a:p>
                  </a:txBody>
                </a:tc>
                <a:tc>
                  <a:txBody>
                    <a:bodyPr/>
                    <a:lstStyle/>
                    <a:p>
                      <a:pPr lvl="0" indent="0" marL="0">
                        <a:buNone/>
                      </a:pPr>
                      <a:r>
                        <a:rPr/>
                        <a:t>Full system access</a:t>
                      </a:r>
                    </a:p>
                  </a:txBody>
                </a:tc>
              </a:tr>
              <a:tr h="0">
                <a:tc>
                  <a:txBody>
                    <a:bodyPr/>
                    <a:lstStyle/>
                    <a:p>
                      <a:pPr lvl="0" indent="0" marL="0">
                        <a:buNone/>
                      </a:pPr>
                      <a:r>
                        <a:rPr b="1"/>
                        <a:t>Doctor</a:t>
                      </a:r>
                    </a:p>
                  </a:txBody>
                </a:tc>
                <a:tc>
                  <a:txBody>
                    <a:bodyPr/>
                    <a:lstStyle/>
                    <a:p>
                      <a:pPr lvl="0" indent="0" marL="0">
                        <a:buNone/>
                      </a:pPr>
                      <a:r>
                        <a:rPr/>
                        <a:t>Patient care, prescriptions, test orders, own consultations</a:t>
                      </a:r>
                    </a:p>
                  </a:txBody>
                </a:tc>
              </a:tr>
              <a:tr h="0">
                <a:tc>
                  <a:txBody>
                    <a:bodyPr/>
                    <a:lstStyle/>
                    <a:p>
                      <a:pPr lvl="0" indent="0" marL="0">
                        <a:buNone/>
                      </a:pPr>
                      <a:r>
                        <a:rPr b="1"/>
                        <a:t>Nurse</a:t>
                      </a:r>
                    </a:p>
                  </a:txBody>
                </a:tc>
                <a:tc>
                  <a:txBody>
                    <a:bodyPr/>
                    <a:lstStyle/>
                    <a:p>
                      <a:pPr lvl="0" indent="0" marL="0">
                        <a:buNone/>
                      </a:pPr>
                      <a:r>
                        <a:rPr/>
                        <a:t>Patient vitals, care coordination, view charts</a:t>
                      </a:r>
                    </a:p>
                  </a:txBody>
                </a:tc>
              </a:tr>
              <a:tr h="0">
                <a:tc>
                  <a:txBody>
                    <a:bodyPr/>
                    <a:lstStyle/>
                    <a:p>
                      <a:pPr lvl="0" indent="0" marL="0">
                        <a:buNone/>
                      </a:pPr>
                      <a:r>
                        <a:rPr b="1"/>
                        <a:t>Receptionist</a:t>
                      </a:r>
                    </a:p>
                  </a:txBody>
                </a:tc>
                <a:tc>
                  <a:txBody>
                    <a:bodyPr/>
                    <a:lstStyle/>
                    <a:p>
                      <a:pPr lvl="0" indent="0" marL="0">
                        <a:buNone/>
                      </a:pPr>
                      <a:r>
                        <a:rPr/>
                        <a:t>Registration, check-in, appointments</a:t>
                      </a:r>
                    </a:p>
                  </a:txBody>
                </a:tc>
              </a:tr>
              <a:tr h="0">
                <a:tc>
                  <a:txBody>
                    <a:bodyPr/>
                    <a:lstStyle/>
                    <a:p>
                      <a:pPr lvl="0" indent="0" marL="0">
                        <a:buNone/>
                      </a:pPr>
                      <a:r>
                        <a:rPr b="1"/>
                        <a:t>Lab Technician</a:t>
                      </a:r>
                    </a:p>
                  </a:txBody>
                </a:tc>
                <a:tc>
                  <a:txBody>
                    <a:bodyPr/>
                    <a:lstStyle/>
                    <a:p>
                      <a:pPr lvl="0" indent="0" marL="0">
                        <a:buNone/>
                      </a:pPr>
                      <a:r>
                        <a:rPr/>
                        <a:t>Test orders, result entry, QC</a:t>
                      </a:r>
                    </a:p>
                  </a:txBody>
                </a:tc>
              </a:tr>
              <a:tr h="0">
                <a:tc>
                  <a:txBody>
                    <a:bodyPr/>
                    <a:lstStyle/>
                    <a:p>
                      <a:pPr lvl="0" indent="0" marL="0">
                        <a:buNone/>
                      </a:pPr>
                      <a:r>
                        <a:rPr b="1"/>
                        <a:t>Pharmacist</a:t>
                      </a:r>
                    </a:p>
                  </a:txBody>
                </a:tc>
                <a:tc>
                  <a:txBody>
                    <a:bodyPr/>
                    <a:lstStyle/>
                    <a:p>
                      <a:pPr lvl="0" indent="0" marL="0">
                        <a:buNone/>
                      </a:pPr>
                      <a:r>
                        <a:rPr/>
                        <a:t>Prescriptions, inventory, dispensing</a:t>
                      </a:r>
                    </a:p>
                  </a:txBody>
                </a:tc>
              </a:tr>
              <a:tr h="0">
                <a:tc>
                  <a:txBody>
                    <a:bodyPr/>
                    <a:lstStyle/>
                    <a:p>
                      <a:pPr lvl="0" indent="0" marL="0">
                        <a:buNone/>
                      </a:pPr>
                      <a:r>
                        <a:rPr b="1"/>
                        <a:t>Radiologist</a:t>
                      </a:r>
                    </a:p>
                  </a:txBody>
                </a:tc>
                <a:tc>
                  <a:txBody>
                    <a:bodyPr/>
                    <a:lstStyle/>
                    <a:p>
                      <a:pPr lvl="0" indent="0" marL="0">
                        <a:buNone/>
                      </a:pPr>
                      <a:r>
                        <a:rPr/>
                        <a:t>Imaging orders, reports</a:t>
                      </a:r>
                    </a:p>
                  </a:txBody>
                </a:tc>
              </a:tr>
              <a:tr h="0">
                <a:tc>
                  <a:txBody>
                    <a:bodyPr/>
                    <a:lstStyle/>
                    <a:p>
                      <a:pPr lvl="0" indent="0" marL="0">
                        <a:buNone/>
                      </a:pPr>
                      <a:r>
                        <a:rPr b="1"/>
                        <a:t>Billing</a:t>
                      </a:r>
                    </a:p>
                  </a:txBody>
                </a:tc>
                <a:tc>
                  <a:txBody>
                    <a:bodyPr/>
                    <a:lstStyle/>
                    <a:p>
                      <a:pPr lvl="0" indent="0" marL="0">
                        <a:buNone/>
                      </a:pPr>
                      <a:r>
                        <a:rPr/>
                        <a:t>Bills, payments, financial reports</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Permission Enforcement:</a:t>
            </a:r>
          </a:p>
          <a:p>
            <a:pPr lvl="0" indent="0">
              <a:buNone/>
            </a:pPr>
            <a:r>
              <a:rPr i="1">
                <a:solidFill>
                  <a:srgbClr val="60A0B0"/>
                </a:solidFill>
                <a:latin typeface="Courier"/>
              </a:rPr>
              <a:t>// Middleware example</a:t>
            </a:r>
            <a:br/>
            <a:r>
              <a:rPr b="1">
                <a:solidFill>
                  <a:srgbClr val="007020"/>
                </a:solidFill>
                <a:latin typeface="Courier"/>
              </a:rPr>
              <a:t>const</a:t>
            </a:r>
            <a:r>
              <a:rPr>
                <a:latin typeface="Courier"/>
              </a:rPr>
              <a:t> requireRole </a:t>
            </a:r>
            <a:r>
              <a:rPr>
                <a:solidFill>
                  <a:srgbClr val="666666"/>
                </a:solidFill>
                <a:latin typeface="Courier"/>
              </a:rPr>
              <a:t>=</a:t>
            </a:r>
            <a:r>
              <a:rPr>
                <a:latin typeface="Courier"/>
              </a:rPr>
              <a:t> (allowedRoles</a:t>
            </a:r>
            <a:r>
              <a:rPr>
                <a:solidFill>
                  <a:srgbClr val="666666"/>
                </a:solidFill>
                <a:latin typeface="Courier"/>
              </a:rPr>
              <a:t>:</a:t>
            </a:r>
            <a:r>
              <a:rPr>
                <a:latin typeface="Courier"/>
              </a:rPr>
              <a:t> </a:t>
            </a:r>
            <a:r>
              <a:rPr>
                <a:solidFill>
                  <a:srgbClr val="902000"/>
                </a:solidFill>
                <a:latin typeface="Courier"/>
              </a:rPr>
              <a:t>string</a:t>
            </a:r>
            <a:r>
              <a:rPr>
                <a:latin typeface="Courier"/>
              </a:rPr>
              <a:t>[]) </a:t>
            </a:r>
            <a:r>
              <a:rPr b="1">
                <a:solidFill>
                  <a:srgbClr val="007020"/>
                </a:solidFill>
                <a:latin typeface="Courier"/>
              </a:rPr>
              <a:t>=&gt;</a:t>
            </a:r>
            <a:r>
              <a:rPr>
                <a:latin typeface="Courier"/>
              </a:rPr>
              <a:t> {</a:t>
            </a:r>
            <a:br/>
            <a:r>
              <a:rPr>
                <a:latin typeface="Courier"/>
              </a:rPr>
              <a:t>  </a:t>
            </a:r>
            <a:r>
              <a:rPr b="1">
                <a:solidFill>
                  <a:srgbClr val="007020"/>
                </a:solidFill>
                <a:latin typeface="Courier"/>
              </a:rPr>
              <a:t>return</a:t>
            </a:r>
            <a:r>
              <a:rPr>
                <a:latin typeface="Courier"/>
              </a:rPr>
              <a:t> (req</a:t>
            </a:r>
            <a:r>
              <a:rPr>
                <a:solidFill>
                  <a:srgbClr val="666666"/>
                </a:solidFill>
                <a:latin typeface="Courier"/>
              </a:rPr>
              <a:t>,</a:t>
            </a:r>
            <a:r>
              <a:rPr>
                <a:latin typeface="Courier"/>
              </a:rPr>
              <a:t> res</a:t>
            </a:r>
            <a:r>
              <a:rPr>
                <a:solidFill>
                  <a:srgbClr val="666666"/>
                </a:solidFill>
                <a:latin typeface="Courier"/>
              </a:rPr>
              <a:t>,</a:t>
            </a:r>
            <a:r>
              <a:rPr>
                <a:latin typeface="Courier"/>
              </a:rPr>
              <a:t> next) </a:t>
            </a:r>
            <a:r>
              <a:rPr b="1">
                <a:solidFill>
                  <a:srgbClr val="007020"/>
                </a:solidFill>
                <a:latin typeface="Courier"/>
              </a:rPr>
              <a:t>=&gt;</a:t>
            </a:r>
            <a:r>
              <a:rPr>
                <a:latin typeface="Courier"/>
              </a:rPr>
              <a:t> {</a:t>
            </a:r>
            <a:br/>
            <a:r>
              <a:rPr>
                <a:latin typeface="Courier"/>
              </a:rPr>
              <a:t>    </a:t>
            </a:r>
            <a:r>
              <a:rPr b="1">
                <a:solidFill>
                  <a:srgbClr val="007020"/>
                </a:solidFill>
                <a:latin typeface="Courier"/>
              </a:rPr>
              <a:t>if</a:t>
            </a:r>
            <a:r>
              <a:rPr>
                <a:latin typeface="Courier"/>
              </a:rPr>
              <a:t> (</a:t>
            </a:r>
            <a:r>
              <a:rPr>
                <a:solidFill>
                  <a:srgbClr val="666666"/>
                </a:solidFill>
                <a:latin typeface="Courier"/>
              </a:rPr>
              <a:t>!</a:t>
            </a:r>
            <a:r>
              <a:rPr>
                <a:latin typeface="Courier"/>
              </a:rPr>
              <a:t>allowedRoles</a:t>
            </a:r>
            <a:r>
              <a:rPr>
                <a:solidFill>
                  <a:srgbClr val="666666"/>
                </a:solidFill>
                <a:latin typeface="Courier"/>
              </a:rPr>
              <a:t>.</a:t>
            </a:r>
            <a:r>
              <a:rPr>
                <a:solidFill>
                  <a:srgbClr val="06287E"/>
                </a:solidFill>
                <a:latin typeface="Courier"/>
              </a:rPr>
              <a:t>includes</a:t>
            </a:r>
            <a:r>
              <a:rPr>
                <a:latin typeface="Courier"/>
              </a:rPr>
              <a:t>(req</a:t>
            </a:r>
            <a:r>
              <a:rPr>
                <a:solidFill>
                  <a:srgbClr val="666666"/>
                </a:solidFill>
                <a:latin typeface="Courier"/>
              </a:rPr>
              <a:t>.</a:t>
            </a:r>
            <a:r>
              <a:rPr>
                <a:solidFill>
                  <a:srgbClr val="7D9029"/>
                </a:solidFill>
                <a:latin typeface="Courier"/>
              </a:rPr>
              <a:t>user</a:t>
            </a:r>
            <a:r>
              <a:rPr>
                <a:solidFill>
                  <a:srgbClr val="666666"/>
                </a:solidFill>
                <a:latin typeface="Courier"/>
              </a:rPr>
              <a:t>.</a:t>
            </a:r>
            <a:r>
              <a:rPr>
                <a:solidFill>
                  <a:srgbClr val="7D9029"/>
                </a:solidFill>
                <a:latin typeface="Courier"/>
              </a:rPr>
              <a:t>role</a:t>
            </a:r>
            <a:r>
              <a:rPr>
                <a:latin typeface="Courier"/>
              </a:rPr>
              <a:t>)) {</a:t>
            </a:r>
            <a:br/>
            <a:r>
              <a:rPr>
                <a:latin typeface="Courier"/>
              </a:rPr>
              <a:t>      </a:t>
            </a:r>
            <a:r>
              <a:rPr b="1">
                <a:solidFill>
                  <a:srgbClr val="007020"/>
                </a:solidFill>
                <a:latin typeface="Courier"/>
              </a:rPr>
              <a:t>return</a:t>
            </a:r>
            <a:r>
              <a:rPr>
                <a:latin typeface="Courier"/>
              </a:rPr>
              <a:t> res</a:t>
            </a:r>
            <a:r>
              <a:rPr>
                <a:solidFill>
                  <a:srgbClr val="666666"/>
                </a:solidFill>
                <a:latin typeface="Courier"/>
              </a:rPr>
              <a:t>.</a:t>
            </a:r>
            <a:r>
              <a:rPr>
                <a:solidFill>
                  <a:srgbClr val="06287E"/>
                </a:solidFill>
                <a:latin typeface="Courier"/>
              </a:rPr>
              <a:t>status</a:t>
            </a:r>
            <a:r>
              <a:rPr>
                <a:latin typeface="Courier"/>
              </a:rPr>
              <a:t>(</a:t>
            </a:r>
            <a:r>
              <a:rPr>
                <a:solidFill>
                  <a:srgbClr val="40A070"/>
                </a:solidFill>
                <a:latin typeface="Courier"/>
              </a:rPr>
              <a:t>403</a:t>
            </a:r>
            <a:r>
              <a:rPr>
                <a:latin typeface="Courier"/>
              </a:rPr>
              <a:t>)</a:t>
            </a:r>
            <a:r>
              <a:rPr>
                <a:solidFill>
                  <a:srgbClr val="666666"/>
                </a:solidFill>
                <a:latin typeface="Courier"/>
              </a:rPr>
              <a:t>.</a:t>
            </a:r>
            <a:r>
              <a:rPr>
                <a:solidFill>
                  <a:srgbClr val="06287E"/>
                </a:solidFill>
                <a:latin typeface="Courier"/>
              </a:rPr>
              <a:t>json</a:t>
            </a:r>
            <a:r>
              <a:rPr>
                <a:latin typeface="Courier"/>
              </a:rPr>
              <a:t>({ error</a:t>
            </a:r>
            <a:r>
              <a:rPr>
                <a:solidFill>
                  <a:srgbClr val="666666"/>
                </a:solidFill>
                <a:latin typeface="Courier"/>
              </a:rPr>
              <a:t>:</a:t>
            </a:r>
            <a:r>
              <a:rPr>
                <a:latin typeface="Courier"/>
              </a:rPr>
              <a:t> </a:t>
            </a:r>
            <a:r>
              <a:rPr>
                <a:solidFill>
                  <a:srgbClr val="4070A0"/>
                </a:solidFill>
                <a:latin typeface="Courier"/>
              </a:rPr>
              <a:t>'Access denied'</a:t>
            </a:r>
            <a:r>
              <a:rPr>
                <a:latin typeface="Courier"/>
              </a:rPr>
              <a:t> })</a:t>
            </a:r>
            <a:r>
              <a:rPr>
                <a:solidFill>
                  <a:srgbClr val="666666"/>
                </a:solidFill>
                <a:latin typeface="Courier"/>
              </a:rPr>
              <a:t>;</a:t>
            </a:r>
            <a:br/>
            <a:r>
              <a:rPr>
                <a:latin typeface="Courier"/>
              </a:rPr>
              <a:t>    }</a:t>
            </a:r>
            <a:br/>
            <a:r>
              <a:rPr>
                <a:latin typeface="Courier"/>
              </a:rPr>
              <a:t>    </a:t>
            </a:r>
            <a:r>
              <a:rPr>
                <a:solidFill>
                  <a:srgbClr val="06287E"/>
                </a:solidFill>
                <a:latin typeface="Courier"/>
              </a:rPr>
              <a:t>next</a:t>
            </a:r>
            <a:r>
              <a:rPr>
                <a:latin typeface="Courier"/>
              </a:rPr>
              <a:t>()</a:t>
            </a:r>
            <a:r>
              <a:rPr>
                <a:solidFill>
                  <a:srgbClr val="666666"/>
                </a:solidFill>
                <a:latin typeface="Courier"/>
              </a:rPr>
              <a:t>;</a:t>
            </a:r>
            <a:br/>
            <a:r>
              <a:rPr>
                <a:latin typeface="Courier"/>
              </a:rPr>
              <a:t>  }</a:t>
            </a:r>
            <a:r>
              <a:rPr>
                <a:solidFill>
                  <a:srgbClr val="666666"/>
                </a:solidFill>
                <a:latin typeface="Courier"/>
              </a:rPr>
              <a:t>;</a:t>
            </a:r>
            <a:br/>
            <a:r>
              <a:rPr>
                <a:latin typeface="Courier"/>
              </a:rPr>
              <a:t>}</a:t>
            </a:r>
            <a:r>
              <a:rPr>
                <a:solidFill>
                  <a:srgbClr val="666666"/>
                </a:solidFill>
                <a:latin typeface="Courier"/>
              </a:rPr>
              <a:t>;</a:t>
            </a:r>
            <a:br/>
            <a:br/>
            <a:r>
              <a:rPr i="1">
                <a:solidFill>
                  <a:srgbClr val="60A0B0"/>
                </a:solidFill>
                <a:latin typeface="Courier"/>
              </a:rPr>
              <a:t>// Route protection</a:t>
            </a:r>
            <a:br/>
            <a:r>
              <a:rPr>
                <a:latin typeface="Courier"/>
              </a:rPr>
              <a:t>router</a:t>
            </a:r>
            <a:r>
              <a:rPr>
                <a:solidFill>
                  <a:srgbClr val="666666"/>
                </a:solidFill>
                <a:latin typeface="Courier"/>
              </a:rPr>
              <a:t>.</a:t>
            </a:r>
            <a:r>
              <a:rPr>
                <a:solidFill>
                  <a:srgbClr val="06287E"/>
                </a:solidFill>
                <a:latin typeface="Courier"/>
              </a:rPr>
              <a:t>post</a:t>
            </a:r>
            <a:r>
              <a:rPr>
                <a:latin typeface="Courier"/>
              </a:rPr>
              <a:t>(</a:t>
            </a:r>
            <a:r>
              <a:rPr>
                <a:solidFill>
                  <a:srgbClr val="4070A0"/>
                </a:solidFill>
                <a:latin typeface="Courier"/>
              </a:rPr>
              <a:t>'/prescriptions'</a:t>
            </a:r>
            <a:r>
              <a:rPr>
                <a:solidFill>
                  <a:srgbClr val="666666"/>
                </a:solidFill>
                <a:latin typeface="Courier"/>
              </a:rPr>
              <a:t>,</a:t>
            </a:r>
            <a:br/>
            <a:r>
              <a:rPr>
                <a:latin typeface="Courier"/>
              </a:rPr>
              <a:t>  authenticateToken</a:t>
            </a:r>
            <a:r>
              <a:rPr>
                <a:solidFill>
                  <a:srgbClr val="666666"/>
                </a:solidFill>
                <a:latin typeface="Courier"/>
              </a:rPr>
              <a:t>,</a:t>
            </a:r>
            <a:br/>
            <a:r>
              <a:rPr>
                <a:latin typeface="Courier"/>
              </a:rPr>
              <a:t>  </a:t>
            </a:r>
            <a:r>
              <a:rPr>
                <a:solidFill>
                  <a:srgbClr val="06287E"/>
                </a:solidFill>
                <a:latin typeface="Courier"/>
              </a:rPr>
              <a:t>requireRole</a:t>
            </a:r>
            <a:r>
              <a:rPr>
                <a:latin typeface="Courier"/>
              </a:rPr>
              <a:t>([</a:t>
            </a:r>
            <a:r>
              <a:rPr>
                <a:solidFill>
                  <a:srgbClr val="4070A0"/>
                </a:solidFill>
                <a:latin typeface="Courier"/>
              </a:rPr>
              <a:t>'doctor'</a:t>
            </a:r>
            <a:r>
              <a:rPr>
                <a:latin typeface="Courier"/>
              </a:rPr>
              <a:t>])</a:t>
            </a:r>
            <a:r>
              <a:rPr>
                <a:solidFill>
                  <a:srgbClr val="666666"/>
                </a:solidFill>
                <a:latin typeface="Courier"/>
              </a:rPr>
              <a:t>,</a:t>
            </a:r>
            <a:br/>
            <a:r>
              <a:rPr>
                <a:latin typeface="Courier"/>
              </a:rPr>
              <a:t>  createPrescription</a:t>
            </a:r>
            <a:br/>
            <a:r>
              <a:rPr>
                <a:latin typeface="Courier"/>
              </a:rPr>
              <a:t>)</a:t>
            </a:r>
            <a:r>
              <a:rPr>
                <a:solidFill>
                  <a:srgbClr val="666666"/>
                </a:solidFill>
                <a:latin typeface="Courier"/>
              </a:rPr>
              <a:t>;</a:t>
            </a:r>
          </a:p>
          <a:p>
            <a:pPr lvl="0" indent="0" marL="0">
              <a:spcBef>
                <a:spcPts val="3000"/>
              </a:spcBef>
              <a:buNone/>
            </a:pPr>
            <a:r>
              <a:rPr b="1"/>
              <a:t>Data Security</a:t>
            </a:r>
          </a:p>
          <a:p>
            <a:pPr lvl="0" indent="0" marL="0">
              <a:buNone/>
            </a:pPr>
            <a:r>
              <a:rPr b="1"/>
              <a:t>Encryption:</a:t>
            </a:r>
          </a:p>
          <a:p>
            <a:pPr lvl="0" indent="0" marL="0">
              <a:buNone/>
            </a:pPr>
            <a:r>
              <a:rPr b="1"/>
              <a:t>At Rest:</a:t>
            </a:r>
            <a:r>
              <a:rPr/>
              <a:t> - PostgreSQL: AES-256 encryption (cloud provider managed) - Backups: Encrypted before storage - Redis: Protected by network isolation</a:t>
            </a:r>
          </a:p>
          <a:p>
            <a:pPr lvl="0" indent="0" marL="0">
              <a:buNone/>
            </a:pPr>
            <a:r>
              <a:rPr b="1"/>
              <a:t>In Transit:</a:t>
            </a:r>
            <a:r>
              <a:rPr/>
              <a:t> - TLS 1.3 for all HTTP connections - WSS (WebSocket Secure) for Socket.IO - Certificate management via Let’s Encrypt or cloud provider</a:t>
            </a:r>
          </a:p>
          <a:p>
            <a:pPr lvl="0" indent="0" marL="0">
              <a:buNone/>
            </a:pPr>
            <a:r>
              <a:rPr b="1"/>
              <a:t>Sensitive Data:</a:t>
            </a:r>
            <a:r>
              <a:rPr/>
              <a:t> - Passwords: bcrypt hashing (10 rounds, salted) - Payment information: PCI-DSS compliant tokenization - No credit card storage (use payment gateway tokens)</a:t>
            </a:r>
          </a:p>
          <a:p>
            <a:pPr lvl="0" indent="0" marL="0">
              <a:buNone/>
            </a:pPr>
            <a:r>
              <a:rPr b="1"/>
              <a:t>Password Requirements:</a:t>
            </a:r>
          </a:p>
          <a:p>
            <a:pPr lvl="0" indent="0">
              <a:buNone/>
            </a:pPr>
            <a:r>
              <a:rPr i="1">
                <a:solidFill>
                  <a:srgbClr val="60A0B0"/>
                </a:solidFill>
                <a:latin typeface="Courier"/>
              </a:rPr>
              <a:t>// Enforced by express-validator</a:t>
            </a:r>
            <a:br/>
            <a:r>
              <a:rPr>
                <a:solidFill>
                  <a:srgbClr val="666666"/>
                </a:solidFill>
                <a:latin typeface="Courier"/>
              </a:rPr>
              <a:t>-</a:t>
            </a:r>
            <a:r>
              <a:rPr>
                <a:latin typeface="Courier"/>
              </a:rPr>
              <a:t> Minimum </a:t>
            </a:r>
            <a:r>
              <a:rPr>
                <a:solidFill>
                  <a:srgbClr val="40A070"/>
                </a:solidFill>
                <a:latin typeface="Courier"/>
              </a:rPr>
              <a:t>12</a:t>
            </a:r>
            <a:r>
              <a:rPr>
                <a:latin typeface="Courier"/>
              </a:rPr>
              <a:t> characters</a:t>
            </a:r>
            <a:br/>
            <a:r>
              <a:rPr>
                <a:solidFill>
                  <a:srgbClr val="666666"/>
                </a:solidFill>
                <a:latin typeface="Courier"/>
              </a:rPr>
              <a:t>-</a:t>
            </a:r>
            <a:r>
              <a:rPr>
                <a:latin typeface="Courier"/>
              </a:rPr>
              <a:t> At least one uppercase letter</a:t>
            </a:r>
            <a:br/>
            <a:r>
              <a:rPr>
                <a:solidFill>
                  <a:srgbClr val="666666"/>
                </a:solidFill>
                <a:latin typeface="Courier"/>
              </a:rPr>
              <a:t>-</a:t>
            </a:r>
            <a:r>
              <a:rPr>
                <a:latin typeface="Courier"/>
              </a:rPr>
              <a:t> At least one lowercase letter</a:t>
            </a:r>
            <a:br/>
            <a:r>
              <a:rPr>
                <a:solidFill>
                  <a:srgbClr val="666666"/>
                </a:solidFill>
                <a:latin typeface="Courier"/>
              </a:rPr>
              <a:t>-</a:t>
            </a:r>
            <a:r>
              <a:rPr>
                <a:latin typeface="Courier"/>
              </a:rPr>
              <a:t> At least one number</a:t>
            </a:r>
            <a:br/>
            <a:r>
              <a:rPr>
                <a:solidFill>
                  <a:srgbClr val="666666"/>
                </a:solidFill>
                <a:latin typeface="Courier"/>
              </a:rPr>
              <a:t>-</a:t>
            </a:r>
            <a:r>
              <a:rPr>
                <a:latin typeface="Courier"/>
              </a:rPr>
              <a:t> At least one special character</a:t>
            </a:r>
            <a:br/>
            <a:r>
              <a:rPr>
                <a:solidFill>
                  <a:srgbClr val="666666"/>
                </a:solidFill>
                <a:latin typeface="Courier"/>
              </a:rPr>
              <a:t>-</a:t>
            </a:r>
            <a:r>
              <a:rPr>
                <a:latin typeface="Courier"/>
              </a:rPr>
              <a:t> Not </a:t>
            </a:r>
            <a:r>
              <a:rPr b="1">
                <a:solidFill>
                  <a:srgbClr val="007020"/>
                </a:solidFill>
                <a:latin typeface="Courier"/>
              </a:rPr>
              <a:t>in</a:t>
            </a:r>
            <a:r>
              <a:rPr>
                <a:latin typeface="Courier"/>
              </a:rPr>
              <a:t> common password dictionary</a:t>
            </a:r>
          </a:p>
          <a:p>
            <a:pPr lvl="0" indent="0" marL="0">
              <a:spcBef>
                <a:spcPts val="3000"/>
              </a:spcBef>
              <a:buNone/>
            </a:pPr>
            <a:r>
              <a:rPr b="1"/>
              <a:t>Input Validation</a:t>
            </a:r>
          </a:p>
          <a:p>
            <a:pPr lvl="0" indent="0" marL="0">
              <a:buNone/>
            </a:pPr>
            <a:r>
              <a:rPr b="1"/>
              <a:t>express-validator on all inputs:</a:t>
            </a:r>
          </a:p>
          <a:p>
            <a:pPr lvl="0" indent="0">
              <a:buNone/>
            </a:pPr>
            <a:r>
              <a:rPr i="1">
                <a:solidFill>
                  <a:srgbClr val="60A0B0"/>
                </a:solidFill>
                <a:latin typeface="Courier"/>
              </a:rPr>
              <a:t>// Example validation</a:t>
            </a:r>
            <a:br/>
            <a:r>
              <a:rPr>
                <a:latin typeface="Courier"/>
              </a:rPr>
              <a:t>router</a:t>
            </a:r>
            <a:r>
              <a:rPr>
                <a:solidFill>
                  <a:srgbClr val="666666"/>
                </a:solidFill>
                <a:latin typeface="Courier"/>
              </a:rPr>
              <a:t>.</a:t>
            </a:r>
            <a:r>
              <a:rPr>
                <a:solidFill>
                  <a:srgbClr val="06287E"/>
                </a:solidFill>
                <a:latin typeface="Courier"/>
              </a:rPr>
              <a:t>post</a:t>
            </a:r>
            <a:r>
              <a:rPr>
                <a:latin typeface="Courier"/>
              </a:rPr>
              <a:t>(</a:t>
            </a:r>
            <a:r>
              <a:rPr>
                <a:solidFill>
                  <a:srgbClr val="4070A0"/>
                </a:solidFill>
                <a:latin typeface="Courier"/>
              </a:rPr>
              <a:t>'/patients'</a:t>
            </a:r>
            <a:r>
              <a:rPr>
                <a:solidFill>
                  <a:srgbClr val="666666"/>
                </a:solidFill>
                <a:latin typeface="Courier"/>
              </a:rPr>
              <a:t>,</a:t>
            </a:r>
            <a:r>
              <a:rPr>
                <a:latin typeface="Courier"/>
              </a:rPr>
              <a:t> [</a:t>
            </a:r>
            <a:br/>
            <a:r>
              <a:rPr>
                <a:latin typeface="Courier"/>
              </a:rPr>
              <a:t>  </a:t>
            </a:r>
            <a:r>
              <a:rPr>
                <a:solidFill>
                  <a:srgbClr val="06287E"/>
                </a:solidFill>
                <a:latin typeface="Courier"/>
              </a:rPr>
              <a:t>body</a:t>
            </a:r>
            <a:r>
              <a:rPr>
                <a:latin typeface="Courier"/>
              </a:rPr>
              <a:t>(</a:t>
            </a:r>
            <a:r>
              <a:rPr>
                <a:solidFill>
                  <a:srgbClr val="4070A0"/>
                </a:solidFill>
                <a:latin typeface="Courier"/>
              </a:rPr>
              <a:t>'firstName'</a:t>
            </a:r>
            <a:r>
              <a:rPr>
                <a:latin typeface="Courier"/>
              </a:rPr>
              <a:t>)</a:t>
            </a:r>
            <a:r>
              <a:rPr>
                <a:solidFill>
                  <a:srgbClr val="666666"/>
                </a:solidFill>
                <a:latin typeface="Courier"/>
              </a:rPr>
              <a:t>.</a:t>
            </a:r>
            <a:r>
              <a:rPr>
                <a:solidFill>
                  <a:srgbClr val="06287E"/>
                </a:solidFill>
                <a:latin typeface="Courier"/>
              </a:rPr>
              <a:t>trim</a:t>
            </a:r>
            <a:r>
              <a:rPr>
                <a:latin typeface="Courier"/>
              </a:rPr>
              <a:t>()</a:t>
            </a:r>
            <a:r>
              <a:rPr>
                <a:solidFill>
                  <a:srgbClr val="666666"/>
                </a:solidFill>
                <a:latin typeface="Courier"/>
              </a:rPr>
              <a:t>.</a:t>
            </a:r>
            <a:r>
              <a:rPr>
                <a:solidFill>
                  <a:srgbClr val="06287E"/>
                </a:solidFill>
                <a:latin typeface="Courier"/>
              </a:rPr>
              <a:t>isLength</a:t>
            </a:r>
            <a:r>
              <a:rPr>
                <a:latin typeface="Courier"/>
              </a:rPr>
              <a:t>({ min</a:t>
            </a:r>
            <a:r>
              <a:rPr>
                <a:solidFill>
                  <a:srgbClr val="666666"/>
                </a:solidFill>
                <a:latin typeface="Courier"/>
              </a:rPr>
              <a:t>:</a:t>
            </a:r>
            <a:r>
              <a:rPr>
                <a:latin typeface="Courier"/>
              </a:rPr>
              <a:t> </a:t>
            </a:r>
            <a:r>
              <a:rPr>
                <a:solidFill>
                  <a:srgbClr val="40A070"/>
                </a:solidFill>
                <a:latin typeface="Courier"/>
              </a:rPr>
              <a:t>1</a:t>
            </a:r>
            <a:r>
              <a:rPr>
                <a:solidFill>
                  <a:srgbClr val="666666"/>
                </a:solidFill>
                <a:latin typeface="Courier"/>
              </a:rPr>
              <a:t>,</a:t>
            </a:r>
            <a:r>
              <a:rPr>
                <a:latin typeface="Courier"/>
              </a:rPr>
              <a:t> max</a:t>
            </a:r>
            <a:r>
              <a:rPr>
                <a:solidFill>
                  <a:srgbClr val="666666"/>
                </a:solidFill>
                <a:latin typeface="Courier"/>
              </a:rPr>
              <a:t>:</a:t>
            </a:r>
            <a:r>
              <a:rPr>
                <a:latin typeface="Courier"/>
              </a:rPr>
              <a:t> </a:t>
            </a:r>
            <a:r>
              <a:rPr>
                <a:solidFill>
                  <a:srgbClr val="40A070"/>
                </a:solidFill>
                <a:latin typeface="Courier"/>
              </a:rPr>
              <a:t>100</a:t>
            </a:r>
            <a:r>
              <a:rPr>
                <a:latin typeface="Courier"/>
              </a:rPr>
              <a:t> })</a:t>
            </a:r>
            <a:r>
              <a:rPr>
                <a:solidFill>
                  <a:srgbClr val="666666"/>
                </a:solidFill>
                <a:latin typeface="Courier"/>
              </a:rPr>
              <a:t>,</a:t>
            </a:r>
            <a:br/>
            <a:r>
              <a:rPr>
                <a:latin typeface="Courier"/>
              </a:rPr>
              <a:t>  </a:t>
            </a:r>
            <a:r>
              <a:rPr>
                <a:solidFill>
                  <a:srgbClr val="06287E"/>
                </a:solidFill>
                <a:latin typeface="Courier"/>
              </a:rPr>
              <a:t>body</a:t>
            </a:r>
            <a:r>
              <a:rPr>
                <a:latin typeface="Courier"/>
              </a:rPr>
              <a:t>(</a:t>
            </a:r>
            <a:r>
              <a:rPr>
                <a:solidFill>
                  <a:srgbClr val="4070A0"/>
                </a:solidFill>
                <a:latin typeface="Courier"/>
              </a:rPr>
              <a:t>'email'</a:t>
            </a:r>
            <a:r>
              <a:rPr>
                <a:latin typeface="Courier"/>
              </a:rPr>
              <a:t>)</a:t>
            </a:r>
            <a:r>
              <a:rPr>
                <a:solidFill>
                  <a:srgbClr val="666666"/>
                </a:solidFill>
                <a:latin typeface="Courier"/>
              </a:rPr>
              <a:t>.</a:t>
            </a:r>
            <a:r>
              <a:rPr>
                <a:solidFill>
                  <a:srgbClr val="06287E"/>
                </a:solidFill>
                <a:latin typeface="Courier"/>
              </a:rPr>
              <a:t>isEmail</a:t>
            </a:r>
            <a:r>
              <a:rPr>
                <a:latin typeface="Courier"/>
              </a:rPr>
              <a:t>()</a:t>
            </a:r>
            <a:r>
              <a:rPr>
                <a:solidFill>
                  <a:srgbClr val="666666"/>
                </a:solidFill>
                <a:latin typeface="Courier"/>
              </a:rPr>
              <a:t>.</a:t>
            </a:r>
            <a:r>
              <a:rPr>
                <a:solidFill>
                  <a:srgbClr val="06287E"/>
                </a:solidFill>
                <a:latin typeface="Courier"/>
              </a:rPr>
              <a:t>normalizeEmail</a:t>
            </a:r>
            <a:r>
              <a:rPr>
                <a:latin typeface="Courier"/>
              </a:rPr>
              <a:t>()</a:t>
            </a:r>
            <a:r>
              <a:rPr>
                <a:solidFill>
                  <a:srgbClr val="666666"/>
                </a:solidFill>
                <a:latin typeface="Courier"/>
              </a:rPr>
              <a:t>,</a:t>
            </a:r>
            <a:br/>
            <a:r>
              <a:rPr>
                <a:latin typeface="Courier"/>
              </a:rPr>
              <a:t>  </a:t>
            </a:r>
            <a:r>
              <a:rPr>
                <a:solidFill>
                  <a:srgbClr val="06287E"/>
                </a:solidFill>
                <a:latin typeface="Courier"/>
              </a:rPr>
              <a:t>body</a:t>
            </a:r>
            <a:r>
              <a:rPr>
                <a:latin typeface="Courier"/>
              </a:rPr>
              <a:t>(</a:t>
            </a:r>
            <a:r>
              <a:rPr>
                <a:solidFill>
                  <a:srgbClr val="4070A0"/>
                </a:solidFill>
                <a:latin typeface="Courier"/>
              </a:rPr>
              <a:t>'phone'</a:t>
            </a:r>
            <a:r>
              <a:rPr>
                <a:latin typeface="Courier"/>
              </a:rPr>
              <a:t>)</a:t>
            </a:r>
            <a:r>
              <a:rPr>
                <a:solidFill>
                  <a:srgbClr val="666666"/>
                </a:solidFill>
                <a:latin typeface="Courier"/>
              </a:rPr>
              <a:t>.</a:t>
            </a:r>
            <a:r>
              <a:rPr>
                <a:solidFill>
                  <a:srgbClr val="06287E"/>
                </a:solidFill>
                <a:latin typeface="Courier"/>
              </a:rPr>
              <a:t>matches</a:t>
            </a:r>
            <a:r>
              <a:rPr>
                <a:latin typeface="Courier"/>
              </a:rPr>
              <a:t>(</a:t>
            </a:r>
            <a:r>
              <a:rPr>
                <a:solidFill>
                  <a:srgbClr val="BB6688"/>
                </a:solidFill>
                <a:latin typeface="Courier"/>
              </a:rPr>
              <a:t>/</a:t>
            </a:r>
            <a:r>
              <a:rPr>
                <a:solidFill>
                  <a:srgbClr val="4070A0"/>
                </a:solidFill>
                <a:latin typeface="Courier"/>
              </a:rPr>
              <a:t>^\d{10,15}$</a:t>
            </a:r>
            <a:r>
              <a:rPr>
                <a:solidFill>
                  <a:srgbClr val="BB6688"/>
                </a:solidFill>
                <a:latin typeface="Courier"/>
              </a:rPr>
              <a:t>/</a:t>
            </a:r>
            <a:r>
              <a:rPr>
                <a:latin typeface="Courier"/>
              </a:rPr>
              <a:t>)</a:t>
            </a:r>
            <a:r>
              <a:rPr>
                <a:solidFill>
                  <a:srgbClr val="666666"/>
                </a:solidFill>
                <a:latin typeface="Courier"/>
              </a:rPr>
              <a:t>,</a:t>
            </a:r>
            <a:br/>
            <a:r>
              <a:rPr>
                <a:latin typeface="Courier"/>
              </a:rPr>
              <a:t>  </a:t>
            </a:r>
            <a:r>
              <a:rPr>
                <a:solidFill>
                  <a:srgbClr val="06287E"/>
                </a:solidFill>
                <a:latin typeface="Courier"/>
              </a:rPr>
              <a:t>body</a:t>
            </a:r>
            <a:r>
              <a:rPr>
                <a:latin typeface="Courier"/>
              </a:rPr>
              <a:t>(</a:t>
            </a:r>
            <a:r>
              <a:rPr>
                <a:solidFill>
                  <a:srgbClr val="4070A0"/>
                </a:solidFill>
                <a:latin typeface="Courier"/>
              </a:rPr>
              <a:t>'dateOfBirth'</a:t>
            </a:r>
            <a:r>
              <a:rPr>
                <a:latin typeface="Courier"/>
              </a:rPr>
              <a:t>)</a:t>
            </a:r>
            <a:r>
              <a:rPr>
                <a:solidFill>
                  <a:srgbClr val="666666"/>
                </a:solidFill>
                <a:latin typeface="Courier"/>
              </a:rPr>
              <a:t>.</a:t>
            </a:r>
            <a:r>
              <a:rPr>
                <a:solidFill>
                  <a:srgbClr val="06287E"/>
                </a:solidFill>
                <a:latin typeface="Courier"/>
              </a:rPr>
              <a:t>isISO8601</a:t>
            </a:r>
            <a:r>
              <a:rPr>
                <a:latin typeface="Courier"/>
              </a:rPr>
              <a:t>()</a:t>
            </a:r>
            <a:r>
              <a:rPr>
                <a:solidFill>
                  <a:srgbClr val="666666"/>
                </a:solidFill>
                <a:latin typeface="Courier"/>
              </a:rPr>
              <a:t>,</a:t>
            </a:r>
            <a:br/>
            <a:r>
              <a:rPr>
                <a:latin typeface="Courier"/>
              </a:rPr>
              <a:t>]</a:t>
            </a:r>
            <a:r>
              <a:rPr>
                <a:solidFill>
                  <a:srgbClr val="666666"/>
                </a:solidFill>
                <a:latin typeface="Courier"/>
              </a:rPr>
              <a:t>,</a:t>
            </a:r>
            <a:r>
              <a:rPr>
                <a:latin typeface="Courier"/>
              </a:rPr>
              <a:t> createPatient)</a:t>
            </a:r>
            <a:r>
              <a:rPr>
                <a:solidFill>
                  <a:srgbClr val="666666"/>
                </a:solidFill>
                <a:latin typeface="Courier"/>
              </a:rPr>
              <a:t>;</a:t>
            </a:r>
          </a:p>
          <a:p>
            <a:pPr lvl="0" indent="0" marL="0">
              <a:buNone/>
            </a:pPr>
            <a:r>
              <a:rPr b="1"/>
              <a:t>XSS Prevention:</a:t>
            </a:r>
            <a:r>
              <a:rPr/>
              <a:t> - React automatically escapes output - CSP (Content Security Policy) headers - Sanitize HTML in user inputs</a:t>
            </a:r>
          </a:p>
          <a:p>
            <a:pPr lvl="0" indent="0" marL="0">
              <a:buNone/>
            </a:pPr>
            <a:r>
              <a:rPr b="1"/>
              <a:t>SQL Injection Prevention:</a:t>
            </a:r>
            <a:r>
              <a:rPr/>
              <a:t> - Parameterized queries only - No string concatenation in SQL - ORM/query builder patterns</a:t>
            </a:r>
          </a:p>
          <a:p>
            <a:pPr lvl="0" indent="0" marL="0">
              <a:spcBef>
                <a:spcPts val="3000"/>
              </a:spcBef>
              <a:buNone/>
            </a:pPr>
            <a:r>
              <a:rPr b="1"/>
              <a:t>Security Headers</a:t>
            </a:r>
          </a:p>
          <a:p>
            <a:pPr lvl="0" indent="0" marL="0">
              <a:buNone/>
            </a:pPr>
            <a:r>
              <a:rPr b="1"/>
              <a:t>Helmet.js Configuration:</a:t>
            </a:r>
          </a:p>
          <a:p>
            <a:pPr lvl="0" indent="0">
              <a:buNone/>
            </a:pPr>
            <a:r>
              <a:rPr>
                <a:latin typeface="Courier"/>
              </a:rPr>
              <a:t>app</a:t>
            </a:r>
            <a:r>
              <a:rPr>
                <a:solidFill>
                  <a:srgbClr val="666666"/>
                </a:solidFill>
                <a:latin typeface="Courier"/>
              </a:rPr>
              <a:t>.</a:t>
            </a:r>
            <a:r>
              <a:rPr>
                <a:solidFill>
                  <a:srgbClr val="06287E"/>
                </a:solidFill>
                <a:latin typeface="Courier"/>
              </a:rPr>
              <a:t>use</a:t>
            </a:r>
            <a:r>
              <a:rPr>
                <a:latin typeface="Courier"/>
              </a:rPr>
              <a:t>(</a:t>
            </a:r>
            <a:r>
              <a:rPr>
                <a:solidFill>
                  <a:srgbClr val="06287E"/>
                </a:solidFill>
                <a:latin typeface="Courier"/>
              </a:rPr>
              <a:t>helmet</a:t>
            </a:r>
            <a:r>
              <a:rPr>
                <a:latin typeface="Courier"/>
              </a:rPr>
              <a:t>({</a:t>
            </a:r>
            <a:br/>
            <a:r>
              <a:rPr>
                <a:latin typeface="Courier"/>
              </a:rPr>
              <a:t>  contentSecurityPolicy</a:t>
            </a:r>
            <a:r>
              <a:rPr>
                <a:solidFill>
                  <a:srgbClr val="666666"/>
                </a:solidFill>
                <a:latin typeface="Courier"/>
              </a:rPr>
              <a:t>:</a:t>
            </a:r>
            <a:r>
              <a:rPr>
                <a:latin typeface="Courier"/>
              </a:rPr>
              <a:t> {</a:t>
            </a:r>
            <a:br/>
            <a:r>
              <a:rPr>
                <a:latin typeface="Courier"/>
              </a:rPr>
              <a:t>    directives</a:t>
            </a:r>
            <a:r>
              <a:rPr>
                <a:solidFill>
                  <a:srgbClr val="666666"/>
                </a:solidFill>
                <a:latin typeface="Courier"/>
              </a:rPr>
              <a:t>:</a:t>
            </a:r>
            <a:r>
              <a:rPr>
                <a:latin typeface="Courier"/>
              </a:rPr>
              <a:t> {</a:t>
            </a:r>
            <a:br/>
            <a:r>
              <a:rPr>
                <a:latin typeface="Courier"/>
              </a:rPr>
              <a:t>      defaultSrc</a:t>
            </a:r>
            <a:r>
              <a:rPr>
                <a:solidFill>
                  <a:srgbClr val="666666"/>
                </a:solidFill>
                <a:latin typeface="Courier"/>
              </a:rPr>
              <a:t>:</a:t>
            </a:r>
            <a:r>
              <a:rPr>
                <a:latin typeface="Courier"/>
              </a:rPr>
              <a:t> [</a:t>
            </a:r>
            <a:r>
              <a:rPr>
                <a:solidFill>
                  <a:srgbClr val="4070A0"/>
                </a:solidFill>
                <a:latin typeface="Courier"/>
              </a:rPr>
              <a:t>"'self'"</a:t>
            </a:r>
            <a:r>
              <a:rPr>
                <a:latin typeface="Courier"/>
              </a:rPr>
              <a:t>]</a:t>
            </a:r>
            <a:r>
              <a:rPr>
                <a:solidFill>
                  <a:srgbClr val="666666"/>
                </a:solidFill>
                <a:latin typeface="Courier"/>
              </a:rPr>
              <a:t>,</a:t>
            </a:r>
            <a:br/>
            <a:r>
              <a:rPr>
                <a:latin typeface="Courier"/>
              </a:rPr>
              <a:t>      styleSrc</a:t>
            </a:r>
            <a:r>
              <a:rPr>
                <a:solidFill>
                  <a:srgbClr val="666666"/>
                </a:solidFill>
                <a:latin typeface="Courier"/>
              </a:rPr>
              <a:t>:</a:t>
            </a:r>
            <a:r>
              <a:rPr>
                <a:latin typeface="Courier"/>
              </a:rPr>
              <a:t> [</a:t>
            </a:r>
            <a:r>
              <a:rPr>
                <a:solidFill>
                  <a:srgbClr val="4070A0"/>
                </a:solidFill>
                <a:latin typeface="Courier"/>
              </a:rPr>
              <a:t>"'self'"</a:t>
            </a:r>
            <a:r>
              <a:rPr>
                <a:solidFill>
                  <a:srgbClr val="666666"/>
                </a:solidFill>
                <a:latin typeface="Courier"/>
              </a:rPr>
              <a:t>,</a:t>
            </a:r>
            <a:r>
              <a:rPr>
                <a:latin typeface="Courier"/>
              </a:rPr>
              <a:t> </a:t>
            </a:r>
            <a:r>
              <a:rPr>
                <a:solidFill>
                  <a:srgbClr val="4070A0"/>
                </a:solidFill>
                <a:latin typeface="Courier"/>
              </a:rPr>
              <a:t>"'unsafe-inline'"</a:t>
            </a:r>
            <a:r>
              <a:rPr>
                <a:latin typeface="Courier"/>
              </a:rPr>
              <a:t>]</a:t>
            </a:r>
            <a:r>
              <a:rPr>
                <a:solidFill>
                  <a:srgbClr val="666666"/>
                </a:solidFill>
                <a:latin typeface="Courier"/>
              </a:rPr>
              <a:t>,</a:t>
            </a:r>
            <a:br/>
            <a:r>
              <a:rPr>
                <a:latin typeface="Courier"/>
              </a:rPr>
              <a:t>      scriptSrc</a:t>
            </a:r>
            <a:r>
              <a:rPr>
                <a:solidFill>
                  <a:srgbClr val="666666"/>
                </a:solidFill>
                <a:latin typeface="Courier"/>
              </a:rPr>
              <a:t>:</a:t>
            </a:r>
            <a:r>
              <a:rPr>
                <a:latin typeface="Courier"/>
              </a:rPr>
              <a:t> [</a:t>
            </a:r>
            <a:r>
              <a:rPr>
                <a:solidFill>
                  <a:srgbClr val="4070A0"/>
                </a:solidFill>
                <a:latin typeface="Courier"/>
              </a:rPr>
              <a:t>"'self'"</a:t>
            </a:r>
            <a:r>
              <a:rPr>
                <a:latin typeface="Courier"/>
              </a:rPr>
              <a:t>]</a:t>
            </a:r>
            <a:r>
              <a:rPr>
                <a:solidFill>
                  <a:srgbClr val="666666"/>
                </a:solidFill>
                <a:latin typeface="Courier"/>
              </a:rPr>
              <a:t>,</a:t>
            </a:r>
            <a:br/>
            <a:r>
              <a:rPr>
                <a:latin typeface="Courier"/>
              </a:rPr>
              <a:t>      imgSrc</a:t>
            </a:r>
            <a:r>
              <a:rPr>
                <a:solidFill>
                  <a:srgbClr val="666666"/>
                </a:solidFill>
                <a:latin typeface="Courier"/>
              </a:rPr>
              <a:t>:</a:t>
            </a:r>
            <a:r>
              <a:rPr>
                <a:latin typeface="Courier"/>
              </a:rPr>
              <a:t> [</a:t>
            </a:r>
            <a:r>
              <a:rPr>
                <a:solidFill>
                  <a:srgbClr val="4070A0"/>
                </a:solidFill>
                <a:latin typeface="Courier"/>
              </a:rPr>
              <a:t>"'self'"</a:t>
            </a:r>
            <a:r>
              <a:rPr>
                <a:solidFill>
                  <a:srgbClr val="666666"/>
                </a:solidFill>
                <a:latin typeface="Courier"/>
              </a:rPr>
              <a:t>,</a:t>
            </a:r>
            <a:r>
              <a:rPr>
                <a:latin typeface="Courier"/>
              </a:rPr>
              <a:t> </a:t>
            </a:r>
            <a:r>
              <a:rPr>
                <a:solidFill>
                  <a:srgbClr val="4070A0"/>
                </a:solidFill>
                <a:latin typeface="Courier"/>
              </a:rPr>
              <a:t>"data:"</a:t>
            </a:r>
            <a:r>
              <a:rPr>
                <a:solidFill>
                  <a:srgbClr val="666666"/>
                </a:solidFill>
                <a:latin typeface="Courier"/>
              </a:rPr>
              <a:t>,</a:t>
            </a:r>
            <a:r>
              <a:rPr>
                <a:latin typeface="Courier"/>
              </a:rPr>
              <a:t> </a:t>
            </a:r>
            <a:r>
              <a:rPr>
                <a:solidFill>
                  <a:srgbClr val="4070A0"/>
                </a:solidFill>
                <a:latin typeface="Courier"/>
              </a:rPr>
              <a:t>"https:"</a:t>
            </a:r>
            <a:r>
              <a:rPr>
                <a:latin typeface="Courier"/>
              </a:rPr>
              <a:t>]</a:t>
            </a:r>
            <a:r>
              <a:rPr>
                <a:solidFill>
                  <a:srgbClr val="666666"/>
                </a:solidFill>
                <a:latin typeface="Courier"/>
              </a:rPr>
              <a:t>,</a:t>
            </a:r>
            <a:br/>
            <a:r>
              <a:rPr>
                <a:latin typeface="Courier"/>
              </a:rPr>
              <a:t>    }</a:t>
            </a:r>
            <a:br/>
            <a:r>
              <a:rPr>
                <a:latin typeface="Courier"/>
              </a:rPr>
              <a:t>  }</a:t>
            </a:r>
            <a:r>
              <a:rPr>
                <a:solidFill>
                  <a:srgbClr val="666666"/>
                </a:solidFill>
                <a:latin typeface="Courier"/>
              </a:rPr>
              <a:t>,</a:t>
            </a:r>
            <a:br/>
            <a:r>
              <a:rPr>
                <a:latin typeface="Courier"/>
              </a:rPr>
              <a:t>  hsts</a:t>
            </a:r>
            <a:r>
              <a:rPr>
                <a:solidFill>
                  <a:srgbClr val="666666"/>
                </a:solidFill>
                <a:latin typeface="Courier"/>
              </a:rPr>
              <a:t>:</a:t>
            </a:r>
            <a:r>
              <a:rPr>
                <a:latin typeface="Courier"/>
              </a:rPr>
              <a:t> {</a:t>
            </a:r>
            <a:br/>
            <a:r>
              <a:rPr>
                <a:latin typeface="Courier"/>
              </a:rPr>
              <a:t>    maxAge</a:t>
            </a:r>
            <a:r>
              <a:rPr>
                <a:solidFill>
                  <a:srgbClr val="666666"/>
                </a:solidFill>
                <a:latin typeface="Courier"/>
              </a:rPr>
              <a:t>:</a:t>
            </a:r>
            <a:r>
              <a:rPr>
                <a:latin typeface="Courier"/>
              </a:rPr>
              <a:t> </a:t>
            </a:r>
            <a:r>
              <a:rPr>
                <a:solidFill>
                  <a:srgbClr val="40A070"/>
                </a:solidFill>
                <a:latin typeface="Courier"/>
              </a:rPr>
              <a:t>31536000</a:t>
            </a:r>
            <a:r>
              <a:rPr>
                <a:solidFill>
                  <a:srgbClr val="666666"/>
                </a:solidFill>
                <a:latin typeface="Courier"/>
              </a:rPr>
              <a:t>,</a:t>
            </a:r>
            <a:br/>
            <a:r>
              <a:rPr>
                <a:latin typeface="Courier"/>
              </a:rPr>
              <a:t>    includeSubDomains</a:t>
            </a:r>
            <a:r>
              <a:rPr>
                <a:solidFill>
                  <a:srgbClr val="666666"/>
                </a:solidFill>
                <a:latin typeface="Courier"/>
              </a:rPr>
              <a:t>:</a:t>
            </a:r>
            <a:r>
              <a:rPr>
                <a:latin typeface="Courier"/>
              </a:rPr>
              <a:t> </a:t>
            </a:r>
            <a:r>
              <a:rPr b="1">
                <a:solidFill>
                  <a:srgbClr val="007020"/>
                </a:solidFill>
                <a:latin typeface="Courier"/>
              </a:rPr>
              <a:t>true</a:t>
            </a:r>
            <a:r>
              <a:rPr>
                <a:solidFill>
                  <a:srgbClr val="666666"/>
                </a:solidFill>
                <a:latin typeface="Courier"/>
              </a:rPr>
              <a:t>,</a:t>
            </a:r>
            <a:br/>
            <a:r>
              <a:rPr>
                <a:latin typeface="Courier"/>
              </a:rPr>
              <a:t>    preload</a:t>
            </a:r>
            <a:r>
              <a:rPr>
                <a:solidFill>
                  <a:srgbClr val="666666"/>
                </a:solidFill>
                <a:latin typeface="Courier"/>
              </a:rPr>
              <a:t>:</a:t>
            </a:r>
            <a:r>
              <a:rPr>
                <a:latin typeface="Courier"/>
              </a:rPr>
              <a:t> </a:t>
            </a:r>
            <a:r>
              <a:rPr b="1">
                <a:solidFill>
                  <a:srgbClr val="007020"/>
                </a:solidFill>
                <a:latin typeface="Courier"/>
              </a:rPr>
              <a:t>true</a:t>
            </a:r>
            <a:br/>
            <a:r>
              <a:rPr>
                <a:latin typeface="Courier"/>
              </a:rPr>
              <a:t>  }</a:t>
            </a:r>
            <a:r>
              <a:rPr>
                <a:solidFill>
                  <a:srgbClr val="666666"/>
                </a:solidFill>
                <a:latin typeface="Courier"/>
              </a:rPr>
              <a:t>,</a:t>
            </a:r>
            <a:br/>
            <a:r>
              <a:rPr>
                <a:latin typeface="Courier"/>
              </a:rPr>
              <a:t>}))</a:t>
            </a:r>
            <a:r>
              <a:rPr>
                <a:solidFill>
                  <a:srgbClr val="666666"/>
                </a:solidFill>
                <a:latin typeface="Courier"/>
              </a:rPr>
              <a:t>;</a:t>
            </a:r>
          </a:p>
          <a:p>
            <a:pPr lvl="0" indent="0" marL="0">
              <a:buNone/>
            </a:pPr>
            <a:r>
              <a:rPr b="1"/>
              <a:t>CORS Configuration:</a:t>
            </a:r>
          </a:p>
          <a:p>
            <a:pPr lvl="0" indent="0">
              <a:buNone/>
            </a:pPr>
            <a:r>
              <a:rPr>
                <a:latin typeface="Courier"/>
              </a:rPr>
              <a:t>app</a:t>
            </a:r>
            <a:r>
              <a:rPr>
                <a:solidFill>
                  <a:srgbClr val="666666"/>
                </a:solidFill>
                <a:latin typeface="Courier"/>
              </a:rPr>
              <a:t>.</a:t>
            </a:r>
            <a:r>
              <a:rPr>
                <a:solidFill>
                  <a:srgbClr val="06287E"/>
                </a:solidFill>
                <a:latin typeface="Courier"/>
              </a:rPr>
              <a:t>use</a:t>
            </a:r>
            <a:r>
              <a:rPr>
                <a:latin typeface="Courier"/>
              </a:rPr>
              <a:t>(</a:t>
            </a:r>
            <a:r>
              <a:rPr>
                <a:solidFill>
                  <a:srgbClr val="06287E"/>
                </a:solidFill>
                <a:latin typeface="Courier"/>
              </a:rPr>
              <a:t>cors</a:t>
            </a:r>
            <a:r>
              <a:rPr>
                <a:latin typeface="Courier"/>
              </a:rPr>
              <a:t>({</a:t>
            </a:r>
            <a:br/>
            <a:r>
              <a:rPr>
                <a:latin typeface="Courier"/>
              </a:rPr>
              <a:t>  origin</a:t>
            </a:r>
            <a:r>
              <a:rPr>
                <a:solidFill>
                  <a:srgbClr val="666666"/>
                </a:solidFill>
                <a:latin typeface="Courier"/>
              </a:rPr>
              <a:t>:</a:t>
            </a:r>
            <a:r>
              <a:rPr>
                <a:latin typeface="Courier"/>
              </a:rPr>
              <a:t> </a:t>
            </a:r>
            <a:r>
              <a:rPr>
                <a:solidFill>
                  <a:srgbClr val="008000"/>
                </a:solidFill>
                <a:latin typeface="Courier"/>
              </a:rPr>
              <a:t>process</a:t>
            </a:r>
            <a:r>
              <a:rPr>
                <a:solidFill>
                  <a:srgbClr val="666666"/>
                </a:solidFill>
                <a:latin typeface="Courier"/>
              </a:rPr>
              <a:t>.</a:t>
            </a:r>
            <a:r>
              <a:rPr>
                <a:solidFill>
                  <a:srgbClr val="7D9029"/>
                </a:solidFill>
                <a:latin typeface="Courier"/>
              </a:rPr>
              <a:t>env</a:t>
            </a:r>
            <a:r>
              <a:rPr>
                <a:solidFill>
                  <a:srgbClr val="666666"/>
                </a:solidFill>
                <a:latin typeface="Courier"/>
              </a:rPr>
              <a:t>.</a:t>
            </a:r>
            <a:r>
              <a:rPr>
                <a:solidFill>
                  <a:srgbClr val="7D9029"/>
                </a:solidFill>
                <a:latin typeface="Courier"/>
              </a:rPr>
              <a:t>FRONTEND_URL</a:t>
            </a:r>
            <a:r>
              <a:rPr>
                <a:solidFill>
                  <a:srgbClr val="666666"/>
                </a:solidFill>
                <a:latin typeface="Courier"/>
              </a:rPr>
              <a:t>,</a:t>
            </a:r>
            <a:br/>
            <a:r>
              <a:rPr>
                <a:latin typeface="Courier"/>
              </a:rPr>
              <a:t>  credentials</a:t>
            </a:r>
            <a:r>
              <a:rPr>
                <a:solidFill>
                  <a:srgbClr val="666666"/>
                </a:solidFill>
                <a:latin typeface="Courier"/>
              </a:rPr>
              <a:t>:</a:t>
            </a:r>
            <a:r>
              <a:rPr>
                <a:latin typeface="Courier"/>
              </a:rPr>
              <a:t> </a:t>
            </a:r>
            <a:r>
              <a:rPr b="1">
                <a:solidFill>
                  <a:srgbClr val="007020"/>
                </a:solidFill>
                <a:latin typeface="Courier"/>
              </a:rPr>
              <a:t>true</a:t>
            </a:r>
            <a:r>
              <a:rPr>
                <a:solidFill>
                  <a:srgbClr val="666666"/>
                </a:solidFill>
                <a:latin typeface="Courier"/>
              </a:rPr>
              <a:t>,</a:t>
            </a:r>
            <a:br/>
            <a:r>
              <a:rPr>
                <a:latin typeface="Courier"/>
              </a:rPr>
              <a:t>  optionsSuccessStatus</a:t>
            </a:r>
            <a:r>
              <a:rPr>
                <a:solidFill>
                  <a:srgbClr val="666666"/>
                </a:solidFill>
                <a:latin typeface="Courier"/>
              </a:rPr>
              <a:t>:</a:t>
            </a:r>
            <a:r>
              <a:rPr>
                <a:latin typeface="Courier"/>
              </a:rPr>
              <a:t> </a:t>
            </a:r>
            <a:r>
              <a:rPr>
                <a:solidFill>
                  <a:srgbClr val="40A070"/>
                </a:solidFill>
                <a:latin typeface="Courier"/>
              </a:rPr>
              <a:t>200</a:t>
            </a:r>
            <a:br/>
            <a:r>
              <a:rPr>
                <a:latin typeface="Courier"/>
              </a:rPr>
              <a:t>}))</a:t>
            </a:r>
            <a:r>
              <a:rPr>
                <a:solidFill>
                  <a:srgbClr val="666666"/>
                </a:solidFill>
                <a:latin typeface="Courier"/>
              </a:rPr>
              <a:t>;</a:t>
            </a:r>
          </a:p>
          <a:p>
            <a:pPr lvl="0" indent="0" marL="0">
              <a:spcBef>
                <a:spcPts val="3000"/>
              </a:spcBef>
              <a:buNone/>
            </a:pPr>
            <a:r>
              <a:rPr b="1"/>
              <a:t>Rate Limiting</a:t>
            </a:r>
          </a:p>
          <a:p>
            <a:pPr lvl="0" indent="0" marL="0">
              <a:buNone/>
            </a:pPr>
            <a:r>
              <a:rPr b="1"/>
              <a:t>API Protection:</a:t>
            </a:r>
          </a:p>
          <a:p>
            <a:pPr lvl="0" indent="0">
              <a:buNone/>
            </a:pPr>
            <a:r>
              <a:rPr b="1">
                <a:solidFill>
                  <a:srgbClr val="007020"/>
                </a:solidFill>
                <a:latin typeface="Courier"/>
              </a:rPr>
              <a:t>const</a:t>
            </a:r>
            <a:r>
              <a:rPr>
                <a:latin typeface="Courier"/>
              </a:rPr>
              <a:t> limiter </a:t>
            </a:r>
            <a:r>
              <a:rPr>
                <a:solidFill>
                  <a:srgbClr val="666666"/>
                </a:solidFill>
                <a:latin typeface="Courier"/>
              </a:rPr>
              <a:t>=</a:t>
            </a:r>
            <a:r>
              <a:rPr>
                <a:latin typeface="Courier"/>
              </a:rPr>
              <a:t> </a:t>
            </a:r>
            <a:r>
              <a:rPr>
                <a:solidFill>
                  <a:srgbClr val="06287E"/>
                </a:solidFill>
                <a:latin typeface="Courier"/>
              </a:rPr>
              <a:t>rateLimit</a:t>
            </a:r>
            <a:r>
              <a:rPr>
                <a:latin typeface="Courier"/>
              </a:rPr>
              <a:t>({</a:t>
            </a:r>
            <a:br/>
            <a:r>
              <a:rPr>
                <a:latin typeface="Courier"/>
              </a:rPr>
              <a:t>  windowMs</a:t>
            </a:r>
            <a:r>
              <a:rPr>
                <a:solidFill>
                  <a:srgbClr val="666666"/>
                </a:solidFill>
                <a:latin typeface="Courier"/>
              </a:rPr>
              <a:t>:</a:t>
            </a:r>
            <a:r>
              <a:rPr>
                <a:latin typeface="Courier"/>
              </a:rPr>
              <a:t> </a:t>
            </a:r>
            <a:r>
              <a:rPr>
                <a:solidFill>
                  <a:srgbClr val="40A070"/>
                </a:solidFill>
                <a:latin typeface="Courier"/>
              </a:rPr>
              <a:t>15</a:t>
            </a:r>
            <a:r>
              <a:rPr>
                <a:latin typeface="Courier"/>
              </a:rPr>
              <a:t> </a:t>
            </a:r>
            <a:r>
              <a:rPr>
                <a:solidFill>
                  <a:srgbClr val="666666"/>
                </a:solidFill>
                <a:latin typeface="Courier"/>
              </a:rPr>
              <a:t>*</a:t>
            </a:r>
            <a:r>
              <a:rPr>
                <a:latin typeface="Courier"/>
              </a:rPr>
              <a:t> </a:t>
            </a:r>
            <a:r>
              <a:rPr>
                <a:solidFill>
                  <a:srgbClr val="40A070"/>
                </a:solidFill>
                <a:latin typeface="Courier"/>
              </a:rPr>
              <a:t>60</a:t>
            </a:r>
            <a:r>
              <a:rPr>
                <a:latin typeface="Courier"/>
              </a:rPr>
              <a:t> </a:t>
            </a:r>
            <a:r>
              <a:rPr>
                <a:solidFill>
                  <a:srgbClr val="666666"/>
                </a:solidFill>
                <a:latin typeface="Courier"/>
              </a:rPr>
              <a:t>*</a:t>
            </a:r>
            <a:r>
              <a:rPr>
                <a:latin typeface="Courier"/>
              </a:rPr>
              <a:t> </a:t>
            </a:r>
            <a:r>
              <a:rPr>
                <a:solidFill>
                  <a:srgbClr val="40A070"/>
                </a:solidFill>
                <a:latin typeface="Courier"/>
              </a:rPr>
              <a:t>1000</a:t>
            </a:r>
            <a:r>
              <a:rPr>
                <a:solidFill>
                  <a:srgbClr val="666666"/>
                </a:solidFill>
                <a:latin typeface="Courier"/>
              </a:rPr>
              <a:t>,</a:t>
            </a:r>
            <a:r>
              <a:rPr>
                <a:latin typeface="Courier"/>
              </a:rPr>
              <a:t> </a:t>
            </a:r>
            <a:r>
              <a:rPr i="1">
                <a:solidFill>
                  <a:srgbClr val="60A0B0"/>
                </a:solidFill>
                <a:latin typeface="Courier"/>
              </a:rPr>
              <a:t>// 15 minutes</a:t>
            </a:r>
            <a:br/>
            <a:r>
              <a:rPr>
                <a:latin typeface="Courier"/>
              </a:rPr>
              <a:t>  max</a:t>
            </a:r>
            <a:r>
              <a:rPr>
                <a:solidFill>
                  <a:srgbClr val="666666"/>
                </a:solidFill>
                <a:latin typeface="Courier"/>
              </a:rPr>
              <a:t>:</a:t>
            </a:r>
            <a:r>
              <a:rPr>
                <a:latin typeface="Courier"/>
              </a:rPr>
              <a:t> </a:t>
            </a:r>
            <a:r>
              <a:rPr>
                <a:solidFill>
                  <a:srgbClr val="40A070"/>
                </a:solidFill>
                <a:latin typeface="Courier"/>
              </a:rPr>
              <a:t>100</a:t>
            </a:r>
            <a:r>
              <a:rPr>
                <a:solidFill>
                  <a:srgbClr val="666666"/>
                </a:solidFill>
                <a:latin typeface="Courier"/>
              </a:rPr>
              <a:t>,</a:t>
            </a:r>
            <a:r>
              <a:rPr>
                <a:latin typeface="Courier"/>
              </a:rPr>
              <a:t> </a:t>
            </a:r>
            <a:r>
              <a:rPr i="1">
                <a:solidFill>
                  <a:srgbClr val="60A0B0"/>
                </a:solidFill>
                <a:latin typeface="Courier"/>
              </a:rPr>
              <a:t>// 100 requests per window</a:t>
            </a:r>
            <a:br/>
            <a:r>
              <a:rPr>
                <a:latin typeface="Courier"/>
              </a:rPr>
              <a:t>  message</a:t>
            </a:r>
            <a:r>
              <a:rPr>
                <a:solidFill>
                  <a:srgbClr val="666666"/>
                </a:solidFill>
                <a:latin typeface="Courier"/>
              </a:rPr>
              <a:t>:</a:t>
            </a:r>
            <a:r>
              <a:rPr>
                <a:latin typeface="Courier"/>
              </a:rPr>
              <a:t> </a:t>
            </a:r>
            <a:r>
              <a:rPr>
                <a:solidFill>
                  <a:srgbClr val="4070A0"/>
                </a:solidFill>
                <a:latin typeface="Courier"/>
              </a:rPr>
              <a:t>'Too many requests from this IP'</a:t>
            </a:r>
            <a:br/>
            <a:r>
              <a:rPr>
                <a:latin typeface="Courier"/>
              </a:rPr>
              <a:t>})</a:t>
            </a:r>
            <a:r>
              <a:rPr>
                <a:solidFill>
                  <a:srgbClr val="666666"/>
                </a:solidFill>
                <a:latin typeface="Courier"/>
              </a:rPr>
              <a:t>;</a:t>
            </a:r>
            <a:br/>
            <a:br/>
            <a:r>
              <a:rPr>
                <a:latin typeface="Courier"/>
              </a:rPr>
              <a:t>app</a:t>
            </a:r>
            <a:r>
              <a:rPr>
                <a:solidFill>
                  <a:srgbClr val="666666"/>
                </a:solidFill>
                <a:latin typeface="Courier"/>
              </a:rPr>
              <a:t>.</a:t>
            </a:r>
            <a:r>
              <a:rPr>
                <a:solidFill>
                  <a:srgbClr val="06287E"/>
                </a:solidFill>
                <a:latin typeface="Courier"/>
              </a:rPr>
              <a:t>use</a:t>
            </a:r>
            <a:r>
              <a:rPr>
                <a:latin typeface="Courier"/>
              </a:rPr>
              <a:t>(</a:t>
            </a:r>
            <a:r>
              <a:rPr>
                <a:solidFill>
                  <a:srgbClr val="4070A0"/>
                </a:solidFill>
                <a:latin typeface="Courier"/>
              </a:rPr>
              <a:t>'/api/'</a:t>
            </a:r>
            <a:r>
              <a:rPr>
                <a:solidFill>
                  <a:srgbClr val="666666"/>
                </a:solidFill>
                <a:latin typeface="Courier"/>
              </a:rPr>
              <a:t>,</a:t>
            </a:r>
            <a:r>
              <a:rPr>
                <a:latin typeface="Courier"/>
              </a:rPr>
              <a:t> limiter)</a:t>
            </a:r>
            <a:r>
              <a:rPr>
                <a:solidFill>
                  <a:srgbClr val="666666"/>
                </a:solidFill>
                <a:latin typeface="Courier"/>
              </a:rPr>
              <a:t>;</a:t>
            </a:r>
            <a:br/>
            <a:br/>
            <a:r>
              <a:rPr i="1">
                <a:solidFill>
                  <a:srgbClr val="60A0B0"/>
                </a:solidFill>
                <a:latin typeface="Courier"/>
              </a:rPr>
              <a:t>// Stricter limit for auth endpoints</a:t>
            </a:r>
            <a:br/>
            <a:r>
              <a:rPr b="1">
                <a:solidFill>
                  <a:srgbClr val="007020"/>
                </a:solidFill>
                <a:latin typeface="Courier"/>
              </a:rPr>
              <a:t>const</a:t>
            </a:r>
            <a:r>
              <a:rPr>
                <a:latin typeface="Courier"/>
              </a:rPr>
              <a:t> authLimiter </a:t>
            </a:r>
            <a:r>
              <a:rPr>
                <a:solidFill>
                  <a:srgbClr val="666666"/>
                </a:solidFill>
                <a:latin typeface="Courier"/>
              </a:rPr>
              <a:t>=</a:t>
            </a:r>
            <a:r>
              <a:rPr>
                <a:latin typeface="Courier"/>
              </a:rPr>
              <a:t> </a:t>
            </a:r>
            <a:r>
              <a:rPr>
                <a:solidFill>
                  <a:srgbClr val="06287E"/>
                </a:solidFill>
                <a:latin typeface="Courier"/>
              </a:rPr>
              <a:t>rateLimit</a:t>
            </a:r>
            <a:r>
              <a:rPr>
                <a:latin typeface="Courier"/>
              </a:rPr>
              <a:t>({</a:t>
            </a:r>
            <a:br/>
            <a:r>
              <a:rPr>
                <a:latin typeface="Courier"/>
              </a:rPr>
              <a:t>  windowMs</a:t>
            </a:r>
            <a:r>
              <a:rPr>
                <a:solidFill>
                  <a:srgbClr val="666666"/>
                </a:solidFill>
                <a:latin typeface="Courier"/>
              </a:rPr>
              <a:t>:</a:t>
            </a:r>
            <a:r>
              <a:rPr>
                <a:latin typeface="Courier"/>
              </a:rPr>
              <a:t> </a:t>
            </a:r>
            <a:r>
              <a:rPr>
                <a:solidFill>
                  <a:srgbClr val="40A070"/>
                </a:solidFill>
                <a:latin typeface="Courier"/>
              </a:rPr>
              <a:t>15</a:t>
            </a:r>
            <a:r>
              <a:rPr>
                <a:latin typeface="Courier"/>
              </a:rPr>
              <a:t> </a:t>
            </a:r>
            <a:r>
              <a:rPr>
                <a:solidFill>
                  <a:srgbClr val="666666"/>
                </a:solidFill>
                <a:latin typeface="Courier"/>
              </a:rPr>
              <a:t>*</a:t>
            </a:r>
            <a:r>
              <a:rPr>
                <a:latin typeface="Courier"/>
              </a:rPr>
              <a:t> </a:t>
            </a:r>
            <a:r>
              <a:rPr>
                <a:solidFill>
                  <a:srgbClr val="40A070"/>
                </a:solidFill>
                <a:latin typeface="Courier"/>
              </a:rPr>
              <a:t>60</a:t>
            </a:r>
            <a:r>
              <a:rPr>
                <a:latin typeface="Courier"/>
              </a:rPr>
              <a:t> </a:t>
            </a:r>
            <a:r>
              <a:rPr>
                <a:solidFill>
                  <a:srgbClr val="666666"/>
                </a:solidFill>
                <a:latin typeface="Courier"/>
              </a:rPr>
              <a:t>*</a:t>
            </a:r>
            <a:r>
              <a:rPr>
                <a:latin typeface="Courier"/>
              </a:rPr>
              <a:t> </a:t>
            </a:r>
            <a:r>
              <a:rPr>
                <a:solidFill>
                  <a:srgbClr val="40A070"/>
                </a:solidFill>
                <a:latin typeface="Courier"/>
              </a:rPr>
              <a:t>1000</a:t>
            </a:r>
            <a:r>
              <a:rPr>
                <a:solidFill>
                  <a:srgbClr val="666666"/>
                </a:solidFill>
                <a:latin typeface="Courier"/>
              </a:rPr>
              <a:t>,</a:t>
            </a:r>
            <a:br/>
            <a:r>
              <a:rPr>
                <a:latin typeface="Courier"/>
              </a:rPr>
              <a:t>  max</a:t>
            </a:r>
            <a:r>
              <a:rPr>
                <a:solidFill>
                  <a:srgbClr val="666666"/>
                </a:solidFill>
                <a:latin typeface="Courier"/>
              </a:rPr>
              <a:t>:</a:t>
            </a:r>
            <a:r>
              <a:rPr>
                <a:latin typeface="Courier"/>
              </a:rPr>
              <a:t> </a:t>
            </a:r>
            <a:r>
              <a:rPr>
                <a:solidFill>
                  <a:srgbClr val="40A070"/>
                </a:solidFill>
                <a:latin typeface="Courier"/>
              </a:rPr>
              <a:t>5</a:t>
            </a:r>
            <a:r>
              <a:rPr>
                <a:solidFill>
                  <a:srgbClr val="666666"/>
                </a:solidFill>
                <a:latin typeface="Courier"/>
              </a:rPr>
              <a:t>,</a:t>
            </a:r>
            <a:r>
              <a:rPr>
                <a:latin typeface="Courier"/>
              </a:rPr>
              <a:t> </a:t>
            </a:r>
            <a:r>
              <a:rPr i="1">
                <a:solidFill>
                  <a:srgbClr val="60A0B0"/>
                </a:solidFill>
                <a:latin typeface="Courier"/>
              </a:rPr>
              <a:t>// Only 5 login attempts per 15 minutes</a:t>
            </a:r>
            <a:br/>
            <a:r>
              <a:rPr>
                <a:latin typeface="Courier"/>
              </a:rPr>
              <a:t>})</a:t>
            </a:r>
            <a:r>
              <a:rPr>
                <a:solidFill>
                  <a:srgbClr val="666666"/>
                </a:solidFill>
                <a:latin typeface="Courier"/>
              </a:rPr>
              <a:t>;</a:t>
            </a:r>
            <a:br/>
            <a:br/>
            <a:r>
              <a:rPr>
                <a:latin typeface="Courier"/>
              </a:rPr>
              <a:t>app</a:t>
            </a:r>
            <a:r>
              <a:rPr>
                <a:solidFill>
                  <a:srgbClr val="666666"/>
                </a:solidFill>
                <a:latin typeface="Courier"/>
              </a:rPr>
              <a:t>.</a:t>
            </a:r>
            <a:r>
              <a:rPr>
                <a:solidFill>
                  <a:srgbClr val="06287E"/>
                </a:solidFill>
                <a:latin typeface="Courier"/>
              </a:rPr>
              <a:t>use</a:t>
            </a:r>
            <a:r>
              <a:rPr>
                <a:latin typeface="Courier"/>
              </a:rPr>
              <a:t>(</a:t>
            </a:r>
            <a:r>
              <a:rPr>
                <a:solidFill>
                  <a:srgbClr val="4070A0"/>
                </a:solidFill>
                <a:latin typeface="Courier"/>
              </a:rPr>
              <a:t>'/api/v1/auth/login'</a:t>
            </a:r>
            <a:r>
              <a:rPr>
                <a:solidFill>
                  <a:srgbClr val="666666"/>
                </a:solidFill>
                <a:latin typeface="Courier"/>
              </a:rPr>
              <a:t>,</a:t>
            </a:r>
            <a:r>
              <a:rPr>
                <a:latin typeface="Courier"/>
              </a:rPr>
              <a:t> authLimiter)</a:t>
            </a:r>
            <a:r>
              <a:rPr>
                <a:solidFill>
                  <a:srgbClr val="666666"/>
                </a:solidFill>
                <a:latin typeface="Courier"/>
              </a:rPr>
              <a:t>;</a:t>
            </a:r>
          </a:p>
          <a:p>
            <a:pPr lvl="0" indent="0" marL="0">
              <a:spcBef>
                <a:spcPts val="3000"/>
              </a:spcBef>
              <a:buNone/>
            </a:pPr>
            <a:r>
              <a:rPr b="1"/>
              <a:t>Audit Logging</a:t>
            </a:r>
          </a:p>
          <a:p>
            <a:pPr lvl="0" indent="0" marL="0">
              <a:buNone/>
            </a:pPr>
            <a:r>
              <a:rPr b="1"/>
              <a:t>Comprehensive Activity Tracking:</a:t>
            </a:r>
          </a:p>
          <a:p>
            <a:pPr lvl="0" indent="0">
              <a:buNone/>
            </a:pPr>
            <a:r>
              <a:rPr i="1">
                <a:solidFill>
                  <a:srgbClr val="60A0B0"/>
                </a:solidFill>
                <a:latin typeface="Courier"/>
              </a:rPr>
              <a:t>// Log all user actions</a:t>
            </a:r>
            <a:br/>
            <a:r>
              <a:rPr b="1">
                <a:solidFill>
                  <a:srgbClr val="007020"/>
                </a:solidFill>
                <a:latin typeface="Courier"/>
              </a:rPr>
              <a:t>async</a:t>
            </a:r>
            <a:r>
              <a:rPr>
                <a:latin typeface="Courier"/>
              </a:rPr>
              <a:t> </a:t>
            </a:r>
            <a:r>
              <a:rPr b="1">
                <a:solidFill>
                  <a:srgbClr val="007020"/>
                </a:solidFill>
                <a:latin typeface="Courier"/>
              </a:rPr>
              <a:t>function</a:t>
            </a:r>
            <a:r>
              <a:rPr>
                <a:latin typeface="Courier"/>
              </a:rPr>
              <a:t> </a:t>
            </a:r>
            <a:r>
              <a:rPr>
                <a:solidFill>
                  <a:srgbClr val="06287E"/>
                </a:solidFill>
                <a:latin typeface="Courier"/>
              </a:rPr>
              <a:t>auditLog</a:t>
            </a:r>
            <a:r>
              <a:rPr>
                <a:latin typeface="Courier"/>
              </a:rPr>
              <a:t>(</a:t>
            </a:r>
            <a:br/>
            <a:r>
              <a:rPr>
                <a:latin typeface="Courier"/>
              </a:rPr>
              <a:t>  userId</a:t>
            </a:r>
            <a:r>
              <a:rPr>
                <a:solidFill>
                  <a:srgbClr val="666666"/>
                </a:solidFill>
                <a:latin typeface="Courier"/>
              </a:rPr>
              <a:t>:</a:t>
            </a:r>
            <a:r>
              <a:rPr>
                <a:latin typeface="Courier"/>
              </a:rPr>
              <a:t> </a:t>
            </a:r>
            <a:r>
              <a:rPr>
                <a:solidFill>
                  <a:srgbClr val="902000"/>
                </a:solidFill>
                <a:latin typeface="Courier"/>
              </a:rPr>
              <a:t>number</a:t>
            </a:r>
            <a:r>
              <a:rPr>
                <a:solidFill>
                  <a:srgbClr val="666666"/>
                </a:solidFill>
                <a:latin typeface="Courier"/>
              </a:rPr>
              <a:t>,</a:t>
            </a:r>
            <a:br/>
            <a:r>
              <a:rPr>
                <a:latin typeface="Courier"/>
              </a:rPr>
              <a:t>  action</a:t>
            </a:r>
            <a:r>
              <a:rPr>
                <a:solidFill>
                  <a:srgbClr val="666666"/>
                </a:solidFill>
                <a:latin typeface="Courier"/>
              </a:rPr>
              <a:t>:</a:t>
            </a:r>
            <a:r>
              <a:rPr>
                <a:latin typeface="Courier"/>
              </a:rPr>
              <a:t> </a:t>
            </a:r>
            <a:r>
              <a:rPr>
                <a:solidFill>
                  <a:srgbClr val="902000"/>
                </a:solidFill>
                <a:latin typeface="Courier"/>
              </a:rPr>
              <a:t>string</a:t>
            </a:r>
            <a:r>
              <a:rPr>
                <a:solidFill>
                  <a:srgbClr val="666666"/>
                </a:solidFill>
                <a:latin typeface="Courier"/>
              </a:rPr>
              <a:t>,</a:t>
            </a:r>
            <a:br/>
            <a:r>
              <a:rPr>
                <a:latin typeface="Courier"/>
              </a:rPr>
              <a:t>  tableName</a:t>
            </a:r>
            <a:r>
              <a:rPr>
                <a:solidFill>
                  <a:srgbClr val="666666"/>
                </a:solidFill>
                <a:latin typeface="Courier"/>
              </a:rPr>
              <a:t>:</a:t>
            </a:r>
            <a:r>
              <a:rPr>
                <a:latin typeface="Courier"/>
              </a:rPr>
              <a:t> </a:t>
            </a:r>
            <a:r>
              <a:rPr>
                <a:solidFill>
                  <a:srgbClr val="902000"/>
                </a:solidFill>
                <a:latin typeface="Courier"/>
              </a:rPr>
              <a:t>string</a:t>
            </a:r>
            <a:r>
              <a:rPr>
                <a:solidFill>
                  <a:srgbClr val="666666"/>
                </a:solidFill>
                <a:latin typeface="Courier"/>
              </a:rPr>
              <a:t>,</a:t>
            </a:r>
            <a:br/>
            <a:r>
              <a:rPr>
                <a:latin typeface="Courier"/>
              </a:rPr>
              <a:t>  recordId</a:t>
            </a:r>
            <a:r>
              <a:rPr>
                <a:solidFill>
                  <a:srgbClr val="666666"/>
                </a:solidFill>
                <a:latin typeface="Courier"/>
              </a:rPr>
              <a:t>:</a:t>
            </a:r>
            <a:r>
              <a:rPr>
                <a:latin typeface="Courier"/>
              </a:rPr>
              <a:t> </a:t>
            </a:r>
            <a:r>
              <a:rPr>
                <a:solidFill>
                  <a:srgbClr val="902000"/>
                </a:solidFill>
                <a:latin typeface="Courier"/>
              </a:rPr>
              <a:t>number</a:t>
            </a:r>
            <a:r>
              <a:rPr>
                <a:solidFill>
                  <a:srgbClr val="666666"/>
                </a:solidFill>
                <a:latin typeface="Courier"/>
              </a:rPr>
              <a:t>,</a:t>
            </a:r>
            <a:br/>
            <a:r>
              <a:rPr>
                <a:latin typeface="Courier"/>
              </a:rPr>
              <a:t>  oldValues</a:t>
            </a:r>
            <a:r>
              <a:rPr>
                <a:solidFill>
                  <a:srgbClr val="666666"/>
                </a:solidFill>
                <a:latin typeface="Courier"/>
              </a:rPr>
              <a:t>:</a:t>
            </a:r>
            <a:r>
              <a:rPr>
                <a:latin typeface="Courier"/>
              </a:rPr>
              <a:t> </a:t>
            </a:r>
            <a:r>
              <a:rPr>
                <a:solidFill>
                  <a:srgbClr val="902000"/>
                </a:solidFill>
                <a:latin typeface="Courier"/>
              </a:rPr>
              <a:t>any</a:t>
            </a:r>
            <a:r>
              <a:rPr>
                <a:solidFill>
                  <a:srgbClr val="666666"/>
                </a:solidFill>
                <a:latin typeface="Courier"/>
              </a:rPr>
              <a:t>,</a:t>
            </a:r>
            <a:br/>
            <a:r>
              <a:rPr>
                <a:latin typeface="Courier"/>
              </a:rPr>
              <a:t>  newValues</a:t>
            </a:r>
            <a:r>
              <a:rPr>
                <a:solidFill>
                  <a:srgbClr val="666666"/>
                </a:solidFill>
                <a:latin typeface="Courier"/>
              </a:rPr>
              <a:t>:</a:t>
            </a:r>
            <a:r>
              <a:rPr>
                <a:latin typeface="Courier"/>
              </a:rPr>
              <a:t> </a:t>
            </a:r>
            <a:r>
              <a:rPr>
                <a:solidFill>
                  <a:srgbClr val="902000"/>
                </a:solidFill>
                <a:latin typeface="Courier"/>
              </a:rPr>
              <a:t>any</a:t>
            </a:r>
            <a:r>
              <a:rPr>
                <a:solidFill>
                  <a:srgbClr val="666666"/>
                </a:solidFill>
                <a:latin typeface="Courier"/>
              </a:rPr>
              <a:t>,</a:t>
            </a:r>
            <a:br/>
            <a:r>
              <a:rPr>
                <a:latin typeface="Courier"/>
              </a:rPr>
              <a:t>  req</a:t>
            </a:r>
            <a:r>
              <a:rPr>
                <a:solidFill>
                  <a:srgbClr val="666666"/>
                </a:solidFill>
                <a:latin typeface="Courier"/>
              </a:rPr>
              <a:t>:</a:t>
            </a:r>
            <a:r>
              <a:rPr>
                <a:latin typeface="Courier"/>
              </a:rPr>
              <a:t> Request</a:t>
            </a:r>
            <a:br/>
            <a:r>
              <a:rPr>
                <a:latin typeface="Courier"/>
              </a:rPr>
              <a:t>) {</a:t>
            </a:r>
            <a:br/>
            <a:r>
              <a:rPr>
                <a:latin typeface="Courier"/>
              </a:rPr>
              <a:t>  </a:t>
            </a:r>
            <a:r>
              <a:rPr b="1">
                <a:solidFill>
                  <a:srgbClr val="007020"/>
                </a:solidFill>
                <a:latin typeface="Courier"/>
              </a:rPr>
              <a:t>await</a:t>
            </a:r>
            <a:r>
              <a:rPr>
                <a:latin typeface="Courier"/>
              </a:rPr>
              <a:t> pool</a:t>
            </a:r>
            <a:r>
              <a:rPr>
                <a:solidFill>
                  <a:srgbClr val="666666"/>
                </a:solidFill>
                <a:latin typeface="Courier"/>
              </a:rPr>
              <a:t>.</a:t>
            </a:r>
            <a:r>
              <a:rPr>
                <a:solidFill>
                  <a:srgbClr val="06287E"/>
                </a:solidFill>
                <a:latin typeface="Courier"/>
              </a:rPr>
              <a:t>query</a:t>
            </a:r>
            <a:r>
              <a:rPr>
                <a:latin typeface="Courier"/>
              </a:rPr>
              <a:t>(</a:t>
            </a:r>
            <a:br/>
            <a:r>
              <a:rPr>
                <a:latin typeface="Courier"/>
              </a:rPr>
              <a:t>    </a:t>
            </a:r>
            <a:r>
              <a:rPr>
                <a:solidFill>
                  <a:srgbClr val="4070A0"/>
                </a:solidFill>
                <a:latin typeface="Courier"/>
              </a:rPr>
              <a:t>`INSERT INTO audit_logs</a:t>
            </a:r>
            <a:br/>
            <a:r>
              <a:rPr>
                <a:solidFill>
                  <a:srgbClr val="4070A0"/>
                </a:solidFill>
                <a:latin typeface="Courier"/>
              </a:rPr>
              <a:t>     (user_id, action, table_name, record_id, old_values, new_values, ip_address, user_agent)</a:t>
            </a:r>
            <a:br/>
            <a:r>
              <a:rPr>
                <a:solidFill>
                  <a:srgbClr val="4070A0"/>
                </a:solidFill>
                <a:latin typeface="Courier"/>
              </a:rPr>
              <a:t>     VALUES ($1, $2, $3, $4, $5, $6, $7, $8)`</a:t>
            </a:r>
            <a:r>
              <a:rPr>
                <a:solidFill>
                  <a:srgbClr val="666666"/>
                </a:solidFill>
                <a:latin typeface="Courier"/>
              </a:rPr>
              <a:t>,</a:t>
            </a:r>
            <a:br/>
            <a:r>
              <a:rPr>
                <a:latin typeface="Courier"/>
              </a:rPr>
              <a:t>    [userId</a:t>
            </a:r>
            <a:r>
              <a:rPr>
                <a:solidFill>
                  <a:srgbClr val="666666"/>
                </a:solidFill>
                <a:latin typeface="Courier"/>
              </a:rPr>
              <a:t>,</a:t>
            </a:r>
            <a:r>
              <a:rPr>
                <a:latin typeface="Courier"/>
              </a:rPr>
              <a:t> action</a:t>
            </a:r>
            <a:r>
              <a:rPr>
                <a:solidFill>
                  <a:srgbClr val="666666"/>
                </a:solidFill>
                <a:latin typeface="Courier"/>
              </a:rPr>
              <a:t>,</a:t>
            </a:r>
            <a:r>
              <a:rPr>
                <a:latin typeface="Courier"/>
              </a:rPr>
              <a:t> tableName</a:t>
            </a:r>
            <a:r>
              <a:rPr>
                <a:solidFill>
                  <a:srgbClr val="666666"/>
                </a:solidFill>
                <a:latin typeface="Courier"/>
              </a:rPr>
              <a:t>,</a:t>
            </a:r>
            <a:r>
              <a:rPr>
                <a:latin typeface="Courier"/>
              </a:rPr>
              <a:t> recordId</a:t>
            </a:r>
            <a:r>
              <a:rPr>
                <a:solidFill>
                  <a:srgbClr val="666666"/>
                </a:solidFill>
                <a:latin typeface="Courier"/>
              </a:rPr>
              <a:t>,</a:t>
            </a:r>
            <a:r>
              <a:rPr>
                <a:latin typeface="Courier"/>
              </a:rPr>
              <a:t> oldValues</a:t>
            </a:r>
            <a:r>
              <a:rPr>
                <a:solidFill>
                  <a:srgbClr val="666666"/>
                </a:solidFill>
                <a:latin typeface="Courier"/>
              </a:rPr>
              <a:t>,</a:t>
            </a:r>
            <a:r>
              <a:rPr>
                <a:latin typeface="Courier"/>
              </a:rPr>
              <a:t> newValues</a:t>
            </a:r>
            <a:r>
              <a:rPr>
                <a:solidFill>
                  <a:srgbClr val="666666"/>
                </a:solidFill>
                <a:latin typeface="Courier"/>
              </a:rPr>
              <a:t>,</a:t>
            </a:r>
            <a:r>
              <a:rPr>
                <a:latin typeface="Courier"/>
              </a:rPr>
              <a:t> req</a:t>
            </a:r>
            <a:r>
              <a:rPr>
                <a:solidFill>
                  <a:srgbClr val="666666"/>
                </a:solidFill>
                <a:latin typeface="Courier"/>
              </a:rPr>
              <a:t>.</a:t>
            </a:r>
            <a:r>
              <a:rPr>
                <a:solidFill>
                  <a:srgbClr val="7D9029"/>
                </a:solidFill>
                <a:latin typeface="Courier"/>
              </a:rPr>
              <a:t>ip</a:t>
            </a:r>
            <a:r>
              <a:rPr>
                <a:solidFill>
                  <a:srgbClr val="666666"/>
                </a:solidFill>
                <a:latin typeface="Courier"/>
              </a:rPr>
              <a:t>,</a:t>
            </a:r>
            <a:r>
              <a:rPr>
                <a:latin typeface="Courier"/>
              </a:rPr>
              <a:t> req</a:t>
            </a:r>
            <a:r>
              <a:rPr>
                <a:solidFill>
                  <a:srgbClr val="666666"/>
                </a:solidFill>
                <a:latin typeface="Courier"/>
              </a:rPr>
              <a:t>.</a:t>
            </a:r>
            <a:r>
              <a:rPr>
                <a:solidFill>
                  <a:srgbClr val="06287E"/>
                </a:solidFill>
                <a:latin typeface="Courier"/>
              </a:rPr>
              <a:t>get</a:t>
            </a:r>
            <a:r>
              <a:rPr>
                <a:latin typeface="Courier"/>
              </a:rPr>
              <a:t>(</a:t>
            </a:r>
            <a:r>
              <a:rPr>
                <a:solidFill>
                  <a:srgbClr val="4070A0"/>
                </a:solidFill>
                <a:latin typeface="Courier"/>
              </a:rPr>
              <a:t>'user-agent'</a:t>
            </a:r>
            <a:r>
              <a:rPr>
                <a:latin typeface="Courier"/>
              </a:rPr>
              <a:t>)]</a:t>
            </a:r>
            <a:br/>
            <a:r>
              <a:rPr>
                <a:latin typeface="Courier"/>
              </a:rPr>
              <a:t>  )</a:t>
            </a:r>
            <a:r>
              <a:rPr>
                <a:solidFill>
                  <a:srgbClr val="666666"/>
                </a:solidFill>
                <a:latin typeface="Courier"/>
              </a:rPr>
              <a:t>;</a:t>
            </a:r>
            <a:br/>
            <a:r>
              <a:rPr>
                <a:latin typeface="Courier"/>
              </a:rPr>
              <a:t>}</a:t>
            </a:r>
          </a:p>
          <a:p>
            <a:pPr lvl="0" indent="0" marL="0">
              <a:buNone/>
            </a:pPr>
            <a:r>
              <a:rPr b="1"/>
              <a:t>Logged Events:</a:t>
            </a:r>
            <a:r>
              <a:rPr/>
              <a:t> - User login/logout - Patient record access (HIPAA requirement) - Data modifications (create, update, delete) - Permission changes - Failed authentication attempts - Critical result acknowledgments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Integration Capabilities</a:t>
            </a:r>
          </a:p>
        </p:txBody>
      </p:sp>
      <p:sp>
        <p:nvSpPr>
          <p:cNvPr id="3" name="Content Placeholder 2"/>
          <p:cNvSpPr>
            <a:spLocks noGrp="1"/>
          </p:cNvSpPr>
          <p:nvPr>
            <p:ph idx="1"/>
          </p:nvPr>
        </p:nvSpPr>
        <p:spPr/>
        <p:txBody>
          <a:bodyPr/>
          <a:lstStyle/>
          <a:p>
            <a:pPr lvl="0" indent="0" marL="0">
              <a:spcBef>
                <a:spcPts val="3000"/>
              </a:spcBef>
              <a:buNone/>
            </a:pPr>
            <a:r>
              <a:rPr b="1"/>
              <a:t>REST API</a:t>
            </a:r>
          </a:p>
          <a:p>
            <a:pPr lvl="0" indent="0" marL="0">
              <a:buNone/>
            </a:pPr>
            <a:r>
              <a:rPr b="1"/>
              <a:t>API Design:</a:t>
            </a:r>
            <a:r>
              <a:rPr/>
              <a:t> - RESTful principles - JSON request/response - Versioned endpoints (</a:t>
            </a:r>
            <a:r>
              <a:rPr>
                <a:latin typeface="Courier"/>
              </a:rPr>
              <a:t>/api/v1/*</a:t>
            </a:r>
            <a:r>
              <a:rPr/>
              <a:t>) - Consistent error responses - HATEOAS links for resource navigation</a:t>
            </a:r>
          </a:p>
          <a:p>
            <a:pPr lvl="0" indent="0" marL="0">
              <a:buNone/>
            </a:pPr>
            <a:r>
              <a:rPr b="1"/>
              <a:t>Authentication:</a:t>
            </a:r>
          </a:p>
          <a:p>
            <a:pPr lvl="0" indent="0">
              <a:buNone/>
            </a:pPr>
            <a:r>
              <a:rPr>
                <a:latin typeface="Courier"/>
              </a:rPr>
              <a:t>Authorization: Bearer &lt;JWT_TOKEN&gt;</a:t>
            </a:r>
          </a:p>
          <a:p>
            <a:pPr lvl="0" indent="0" marL="0">
              <a:buNone/>
            </a:pPr>
            <a:r>
              <a:rPr b="1"/>
              <a:t>Example Endpoints:</a:t>
            </a:r>
          </a:p>
          <a:p>
            <a:pPr lvl="0" indent="0">
              <a:buNone/>
            </a:pPr>
            <a:r>
              <a:rPr>
                <a:latin typeface="Courier"/>
              </a:rPr>
              <a:t>GET    /api/v1/patients              # List patients
GET    /api/v1/patients/:id          # Get patient by ID
POST   /api/v1/patients              # Create patient
PUT    /api/v1/patients/:id          # Update patient
DELETE /api/v1/patients/:id          # Delete patient (soft delete)
GET    /api/v1/patients/:id/visits   # Get patient visits
POST   /api/v1/visits                # Create visit (check-in)
PUT    /api/v1/visits/:id            # Update visit
GET    /api/v1/doctors/queue         # Get doctor's patient queue
POST   /api/v1/prescriptions         # Create prescription
GET    /api/v1/lab/tests             # Get lab test queue
PUT    /api/v1/lab/tests/:id/results # Enter lab results
GET    /api/v1/analytics/dashboard   # Dashboard metrics</a:t>
            </a:r>
          </a:p>
          <a:p>
            <a:pPr lvl="0" indent="0" marL="0">
              <a:buNone/>
            </a:pPr>
            <a:r>
              <a:rPr b="1"/>
              <a:t>Response Format:</a:t>
            </a:r>
          </a:p>
          <a:p>
            <a:pPr lvl="0" indent="0">
              <a:buNone/>
            </a:pPr>
            <a:r>
              <a:rPr>
                <a:solidFill>
                  <a:srgbClr val="06287E"/>
                </a:solidFill>
                <a:latin typeface="Courier"/>
              </a:rPr>
              <a:t>{</a:t>
            </a:r>
            <a:br/>
            <a:r>
              <a:rPr>
                <a:latin typeface="Courier"/>
              </a:rPr>
              <a:t>  </a:t>
            </a:r>
            <a:r>
              <a:rPr>
                <a:solidFill>
                  <a:srgbClr val="902000"/>
                </a:solidFill>
                <a:latin typeface="Courier"/>
              </a:rPr>
              <a:t>"success"</a:t>
            </a:r>
            <a:r>
              <a:rPr>
                <a:solidFill>
                  <a:srgbClr val="06287E"/>
                </a:solidFill>
                <a:latin typeface="Courier"/>
              </a:rPr>
              <a:t>:</a:t>
            </a:r>
            <a:r>
              <a:rPr>
                <a:latin typeface="Courier"/>
              </a:rPr>
              <a:t> </a:t>
            </a:r>
            <a:r>
              <a:rPr b="1">
                <a:solidFill>
                  <a:srgbClr val="007020"/>
                </a:solidFill>
                <a:latin typeface="Courier"/>
              </a:rPr>
              <a:t>true</a:t>
            </a:r>
            <a:r>
              <a:rPr>
                <a:solidFill>
                  <a:srgbClr val="06287E"/>
                </a:solidFill>
                <a:latin typeface="Courier"/>
              </a:rPr>
              <a:t>,</a:t>
            </a:r>
            <a:br/>
            <a:r>
              <a:rPr>
                <a:latin typeface="Courier"/>
              </a:rPr>
              <a:t>  </a:t>
            </a:r>
            <a:r>
              <a:rPr>
                <a:solidFill>
                  <a:srgbClr val="902000"/>
                </a:solidFill>
                <a:latin typeface="Courier"/>
              </a:rPr>
              <a:t>"data"</a:t>
            </a:r>
            <a:r>
              <a:rPr>
                <a:solidFill>
                  <a:srgbClr val="06287E"/>
                </a:solidFill>
                <a:latin typeface="Courier"/>
              </a:rPr>
              <a:t>:</a:t>
            </a:r>
            <a:r>
              <a:rPr>
                <a:latin typeface="Courier"/>
              </a:rPr>
              <a:t> </a:t>
            </a:r>
            <a:r>
              <a:rPr>
                <a:solidFill>
                  <a:srgbClr val="06287E"/>
                </a:solidFill>
                <a:latin typeface="Courier"/>
              </a:rPr>
              <a:t>{</a:t>
            </a:r>
            <a:br/>
            <a:r>
              <a:rPr>
                <a:latin typeface="Courier"/>
              </a:rPr>
              <a:t>    </a:t>
            </a:r>
            <a:r>
              <a:rPr>
                <a:solidFill>
                  <a:srgbClr val="902000"/>
                </a:solidFill>
                <a:latin typeface="Courier"/>
              </a:rPr>
              <a:t>"patient"</a:t>
            </a:r>
            <a:r>
              <a:rPr>
                <a:solidFill>
                  <a:srgbClr val="06287E"/>
                </a:solidFill>
                <a:latin typeface="Courier"/>
              </a:rPr>
              <a:t>:</a:t>
            </a:r>
            <a:r>
              <a:rPr>
                <a:latin typeface="Courier"/>
              </a:rPr>
              <a:t> </a:t>
            </a:r>
            <a:r>
              <a:rPr>
                <a:solidFill>
                  <a:srgbClr val="06287E"/>
                </a:solidFill>
                <a:latin typeface="Courier"/>
              </a:rPr>
              <a:t>{</a:t>
            </a:r>
            <a:br/>
            <a:r>
              <a:rPr>
                <a:latin typeface="Courier"/>
              </a:rPr>
              <a:t>      </a:t>
            </a:r>
            <a:r>
              <a:rPr>
                <a:solidFill>
                  <a:srgbClr val="902000"/>
                </a:solidFill>
                <a:latin typeface="Courier"/>
              </a:rPr>
              <a:t>"id"</a:t>
            </a:r>
            <a:r>
              <a:rPr>
                <a:solidFill>
                  <a:srgbClr val="06287E"/>
                </a:solidFill>
                <a:latin typeface="Courier"/>
              </a:rPr>
              <a:t>:</a:t>
            </a:r>
            <a:r>
              <a:rPr>
                <a:latin typeface="Courier"/>
              </a:rPr>
              <a:t> </a:t>
            </a:r>
            <a:r>
              <a:rPr>
                <a:solidFill>
                  <a:srgbClr val="40A070"/>
                </a:solidFill>
                <a:latin typeface="Courier"/>
              </a:rPr>
              <a:t>123</a:t>
            </a:r>
            <a:r>
              <a:rPr>
                <a:solidFill>
                  <a:srgbClr val="06287E"/>
                </a:solidFill>
                <a:latin typeface="Courier"/>
              </a:rPr>
              <a:t>,</a:t>
            </a:r>
            <a:br/>
            <a:r>
              <a:rPr>
                <a:latin typeface="Courier"/>
              </a:rPr>
              <a:t>      </a:t>
            </a:r>
            <a:r>
              <a:rPr>
                <a:solidFill>
                  <a:srgbClr val="902000"/>
                </a:solidFill>
                <a:latin typeface="Courier"/>
              </a:rPr>
              <a:t>"patientId"</a:t>
            </a:r>
            <a:r>
              <a:rPr>
                <a:solidFill>
                  <a:srgbClr val="06287E"/>
                </a:solidFill>
                <a:latin typeface="Courier"/>
              </a:rPr>
              <a:t>:</a:t>
            </a:r>
            <a:r>
              <a:rPr>
                <a:latin typeface="Courier"/>
              </a:rPr>
              <a:t> </a:t>
            </a:r>
            <a:r>
              <a:rPr>
                <a:solidFill>
                  <a:srgbClr val="4070A0"/>
                </a:solidFill>
                <a:latin typeface="Courier"/>
              </a:rPr>
              <a:t>"PAT-2024-0001"</a:t>
            </a:r>
            <a:r>
              <a:rPr>
                <a:solidFill>
                  <a:srgbClr val="06287E"/>
                </a:solidFill>
                <a:latin typeface="Courier"/>
              </a:rPr>
              <a:t>,</a:t>
            </a:r>
            <a:br/>
            <a:r>
              <a:rPr>
                <a:latin typeface="Courier"/>
              </a:rPr>
              <a:t>      </a:t>
            </a:r>
            <a:r>
              <a:rPr>
                <a:solidFill>
                  <a:srgbClr val="902000"/>
                </a:solidFill>
                <a:latin typeface="Courier"/>
              </a:rPr>
              <a:t>"firstName"</a:t>
            </a:r>
            <a:r>
              <a:rPr>
                <a:solidFill>
                  <a:srgbClr val="06287E"/>
                </a:solidFill>
                <a:latin typeface="Courier"/>
              </a:rPr>
              <a:t>:</a:t>
            </a:r>
            <a:r>
              <a:rPr>
                <a:latin typeface="Courier"/>
              </a:rPr>
              <a:t> </a:t>
            </a:r>
            <a:r>
              <a:rPr>
                <a:solidFill>
                  <a:srgbClr val="4070A0"/>
                </a:solidFill>
                <a:latin typeface="Courier"/>
              </a:rPr>
              <a:t>"John"</a:t>
            </a:r>
            <a:r>
              <a:rPr>
                <a:solidFill>
                  <a:srgbClr val="06287E"/>
                </a:solidFill>
                <a:latin typeface="Courier"/>
              </a:rPr>
              <a:t>,</a:t>
            </a:r>
            <a:br/>
            <a:r>
              <a:rPr>
                <a:latin typeface="Courier"/>
              </a:rPr>
              <a:t>      </a:t>
            </a:r>
            <a:r>
              <a:rPr>
                <a:solidFill>
                  <a:srgbClr val="902000"/>
                </a:solidFill>
                <a:latin typeface="Courier"/>
              </a:rPr>
              <a:t>"lastName"</a:t>
            </a:r>
            <a:r>
              <a:rPr>
                <a:solidFill>
                  <a:srgbClr val="06287E"/>
                </a:solidFill>
                <a:latin typeface="Courier"/>
              </a:rPr>
              <a:t>:</a:t>
            </a:r>
            <a:r>
              <a:rPr>
                <a:latin typeface="Courier"/>
              </a:rPr>
              <a:t> </a:t>
            </a:r>
            <a:r>
              <a:rPr>
                <a:solidFill>
                  <a:srgbClr val="4070A0"/>
                </a:solidFill>
                <a:latin typeface="Courier"/>
              </a:rPr>
              <a:t>"Doe"</a:t>
            </a:r>
            <a:r>
              <a:rPr>
                <a:solidFill>
                  <a:srgbClr val="06287E"/>
                </a:solidFill>
                <a:latin typeface="Courier"/>
              </a:rPr>
              <a:t>,</a:t>
            </a:r>
            <a:br/>
            <a:r>
              <a:rPr>
                <a:latin typeface="Courier"/>
              </a:rPr>
              <a:t>      </a:t>
            </a:r>
            <a:r>
              <a:rPr b="1">
                <a:solidFill>
                  <a:srgbClr val="FF0000"/>
                </a:solidFill>
                <a:latin typeface="Courier"/>
              </a:rPr>
              <a:t>...</a:t>
            </a:r>
            <a:br/>
            <a:r>
              <a:rPr>
                <a:latin typeface="Courier"/>
              </a:rPr>
              <a:t>    </a:t>
            </a:r>
            <a:r>
              <a:rPr>
                <a:solidFill>
                  <a:srgbClr val="06287E"/>
                </a:solidFill>
                <a:latin typeface="Courier"/>
              </a:rPr>
              <a:t>}</a:t>
            </a:r>
            <a:br/>
            <a:r>
              <a:rPr>
                <a:latin typeface="Courier"/>
              </a:rPr>
              <a:t>  </a:t>
            </a:r>
            <a:r>
              <a:rPr>
                <a:solidFill>
                  <a:srgbClr val="06287E"/>
                </a:solidFill>
                <a:latin typeface="Courier"/>
              </a:rPr>
              <a:t>},</a:t>
            </a:r>
            <a:br/>
            <a:r>
              <a:rPr>
                <a:latin typeface="Courier"/>
              </a:rPr>
              <a:t>  </a:t>
            </a:r>
            <a:r>
              <a:rPr>
                <a:solidFill>
                  <a:srgbClr val="902000"/>
                </a:solidFill>
                <a:latin typeface="Courier"/>
              </a:rPr>
              <a:t>"timestamp"</a:t>
            </a:r>
            <a:r>
              <a:rPr>
                <a:solidFill>
                  <a:srgbClr val="06287E"/>
                </a:solidFill>
                <a:latin typeface="Courier"/>
              </a:rPr>
              <a:t>:</a:t>
            </a:r>
            <a:r>
              <a:rPr>
                <a:latin typeface="Courier"/>
              </a:rPr>
              <a:t> </a:t>
            </a:r>
            <a:r>
              <a:rPr>
                <a:solidFill>
                  <a:srgbClr val="4070A0"/>
                </a:solidFill>
                <a:latin typeface="Courier"/>
              </a:rPr>
              <a:t>"2024-01-15T10:30:00Z"</a:t>
            </a:r>
            <a:br/>
            <a:r>
              <a:rPr>
                <a:solidFill>
                  <a:srgbClr val="06287E"/>
                </a:solidFill>
                <a:latin typeface="Courier"/>
              </a:rPr>
              <a:t>}</a:t>
            </a:r>
          </a:p>
          <a:p>
            <a:pPr lvl="0" indent="0" marL="0">
              <a:buNone/>
            </a:pPr>
            <a:r>
              <a:rPr b="1"/>
              <a:t>Error Format:</a:t>
            </a:r>
          </a:p>
          <a:p>
            <a:pPr lvl="0" indent="0">
              <a:buNone/>
            </a:pPr>
            <a:r>
              <a:rPr>
                <a:solidFill>
                  <a:srgbClr val="06287E"/>
                </a:solidFill>
                <a:latin typeface="Courier"/>
              </a:rPr>
              <a:t>{</a:t>
            </a:r>
            <a:br/>
            <a:r>
              <a:rPr>
                <a:latin typeface="Courier"/>
              </a:rPr>
              <a:t>  </a:t>
            </a:r>
            <a:r>
              <a:rPr>
                <a:solidFill>
                  <a:srgbClr val="902000"/>
                </a:solidFill>
                <a:latin typeface="Courier"/>
              </a:rPr>
              <a:t>"success"</a:t>
            </a:r>
            <a:r>
              <a:rPr>
                <a:solidFill>
                  <a:srgbClr val="06287E"/>
                </a:solidFill>
                <a:latin typeface="Courier"/>
              </a:rPr>
              <a:t>:</a:t>
            </a:r>
            <a:r>
              <a:rPr>
                <a:latin typeface="Courier"/>
              </a:rPr>
              <a:t> </a:t>
            </a:r>
            <a:r>
              <a:rPr b="1">
                <a:solidFill>
                  <a:srgbClr val="007020"/>
                </a:solidFill>
                <a:latin typeface="Courier"/>
              </a:rPr>
              <a:t>false</a:t>
            </a:r>
            <a:r>
              <a:rPr>
                <a:solidFill>
                  <a:srgbClr val="06287E"/>
                </a:solidFill>
                <a:latin typeface="Courier"/>
              </a:rPr>
              <a:t>,</a:t>
            </a:r>
            <a:br/>
            <a:r>
              <a:rPr>
                <a:latin typeface="Courier"/>
              </a:rPr>
              <a:t>  </a:t>
            </a:r>
            <a:r>
              <a:rPr>
                <a:solidFill>
                  <a:srgbClr val="902000"/>
                </a:solidFill>
                <a:latin typeface="Courier"/>
              </a:rPr>
              <a:t>"error"</a:t>
            </a:r>
            <a:r>
              <a:rPr>
                <a:solidFill>
                  <a:srgbClr val="06287E"/>
                </a:solidFill>
                <a:latin typeface="Courier"/>
              </a:rPr>
              <a:t>:</a:t>
            </a:r>
            <a:r>
              <a:rPr>
                <a:latin typeface="Courier"/>
              </a:rPr>
              <a:t> </a:t>
            </a:r>
            <a:r>
              <a:rPr>
                <a:solidFill>
                  <a:srgbClr val="06287E"/>
                </a:solidFill>
                <a:latin typeface="Courier"/>
              </a:rPr>
              <a:t>{</a:t>
            </a:r>
            <a:br/>
            <a:r>
              <a:rPr>
                <a:latin typeface="Courier"/>
              </a:rPr>
              <a:t>    </a:t>
            </a:r>
            <a:r>
              <a:rPr>
                <a:solidFill>
                  <a:srgbClr val="902000"/>
                </a:solidFill>
                <a:latin typeface="Courier"/>
              </a:rPr>
              <a:t>"code"</a:t>
            </a:r>
            <a:r>
              <a:rPr>
                <a:solidFill>
                  <a:srgbClr val="06287E"/>
                </a:solidFill>
                <a:latin typeface="Courier"/>
              </a:rPr>
              <a:t>:</a:t>
            </a:r>
            <a:r>
              <a:rPr>
                <a:latin typeface="Courier"/>
              </a:rPr>
              <a:t> </a:t>
            </a:r>
            <a:r>
              <a:rPr>
                <a:solidFill>
                  <a:srgbClr val="4070A0"/>
                </a:solidFill>
                <a:latin typeface="Courier"/>
              </a:rPr>
              <a:t>"VALIDATION_ERROR"</a:t>
            </a:r>
            <a:r>
              <a:rPr>
                <a:solidFill>
                  <a:srgbClr val="06287E"/>
                </a:solidFill>
                <a:latin typeface="Courier"/>
              </a:rPr>
              <a:t>,</a:t>
            </a:r>
            <a:br/>
            <a:r>
              <a:rPr>
                <a:latin typeface="Courier"/>
              </a:rPr>
              <a:t>    </a:t>
            </a:r>
            <a:r>
              <a:rPr>
                <a:solidFill>
                  <a:srgbClr val="902000"/>
                </a:solidFill>
                <a:latin typeface="Courier"/>
              </a:rPr>
              <a:t>"message"</a:t>
            </a:r>
            <a:r>
              <a:rPr>
                <a:solidFill>
                  <a:srgbClr val="06287E"/>
                </a:solidFill>
                <a:latin typeface="Courier"/>
              </a:rPr>
              <a:t>:</a:t>
            </a:r>
            <a:r>
              <a:rPr>
                <a:latin typeface="Courier"/>
              </a:rPr>
              <a:t> </a:t>
            </a:r>
            <a:r>
              <a:rPr>
                <a:solidFill>
                  <a:srgbClr val="4070A0"/>
                </a:solidFill>
                <a:latin typeface="Courier"/>
              </a:rPr>
              <a:t>"Invalid input data"</a:t>
            </a:r>
            <a:r>
              <a:rPr>
                <a:solidFill>
                  <a:srgbClr val="06287E"/>
                </a:solidFill>
                <a:latin typeface="Courier"/>
              </a:rPr>
              <a:t>,</a:t>
            </a:r>
            <a:br/>
            <a:r>
              <a:rPr>
                <a:latin typeface="Courier"/>
              </a:rPr>
              <a:t>    </a:t>
            </a:r>
            <a:r>
              <a:rPr>
                <a:solidFill>
                  <a:srgbClr val="902000"/>
                </a:solidFill>
                <a:latin typeface="Courier"/>
              </a:rPr>
              <a:t>"details"</a:t>
            </a:r>
            <a:r>
              <a:rPr>
                <a:solidFill>
                  <a:srgbClr val="06287E"/>
                </a:solidFill>
                <a:latin typeface="Courier"/>
              </a:rPr>
              <a:t>:</a:t>
            </a:r>
            <a:r>
              <a:rPr>
                <a:latin typeface="Courier"/>
              </a:rPr>
              <a:t> </a:t>
            </a:r>
            <a:r>
              <a:rPr>
                <a:solidFill>
                  <a:srgbClr val="007020"/>
                </a:solidFill>
                <a:latin typeface="Courier"/>
              </a:rPr>
              <a:t>[</a:t>
            </a:r>
            <a:br/>
            <a:r>
              <a:rPr>
                <a:latin typeface="Courier"/>
              </a:rPr>
              <a:t>      </a:t>
            </a:r>
            <a:r>
              <a:rPr>
                <a:solidFill>
                  <a:srgbClr val="06287E"/>
                </a:solidFill>
                <a:latin typeface="Courier"/>
              </a:rPr>
              <a:t>{</a:t>
            </a:r>
            <a:br/>
            <a:r>
              <a:rPr>
                <a:latin typeface="Courier"/>
              </a:rPr>
              <a:t>        </a:t>
            </a:r>
            <a:r>
              <a:rPr>
                <a:solidFill>
                  <a:srgbClr val="902000"/>
                </a:solidFill>
                <a:latin typeface="Courier"/>
              </a:rPr>
              <a:t>"field"</a:t>
            </a:r>
            <a:r>
              <a:rPr>
                <a:solidFill>
                  <a:srgbClr val="06287E"/>
                </a:solidFill>
                <a:latin typeface="Courier"/>
              </a:rPr>
              <a:t>:</a:t>
            </a:r>
            <a:r>
              <a:rPr>
                <a:latin typeface="Courier"/>
              </a:rPr>
              <a:t> </a:t>
            </a:r>
            <a:r>
              <a:rPr>
                <a:solidFill>
                  <a:srgbClr val="4070A0"/>
                </a:solidFill>
                <a:latin typeface="Courier"/>
              </a:rPr>
              <a:t>"email"</a:t>
            </a:r>
            <a:r>
              <a:rPr>
                <a:solidFill>
                  <a:srgbClr val="06287E"/>
                </a:solidFill>
                <a:latin typeface="Courier"/>
              </a:rPr>
              <a:t>,</a:t>
            </a:r>
            <a:br/>
            <a:r>
              <a:rPr>
                <a:latin typeface="Courier"/>
              </a:rPr>
              <a:t>        </a:t>
            </a:r>
            <a:r>
              <a:rPr>
                <a:solidFill>
                  <a:srgbClr val="902000"/>
                </a:solidFill>
                <a:latin typeface="Courier"/>
              </a:rPr>
              <a:t>"message"</a:t>
            </a:r>
            <a:r>
              <a:rPr>
                <a:solidFill>
                  <a:srgbClr val="06287E"/>
                </a:solidFill>
                <a:latin typeface="Courier"/>
              </a:rPr>
              <a:t>:</a:t>
            </a:r>
            <a:r>
              <a:rPr>
                <a:latin typeface="Courier"/>
              </a:rPr>
              <a:t> </a:t>
            </a:r>
            <a:r>
              <a:rPr>
                <a:solidFill>
                  <a:srgbClr val="4070A0"/>
                </a:solidFill>
                <a:latin typeface="Courier"/>
              </a:rPr>
              <a:t>"Invalid email format"</a:t>
            </a:r>
            <a:br/>
            <a:r>
              <a:rPr>
                <a:latin typeface="Courier"/>
              </a:rPr>
              <a:t>      </a:t>
            </a:r>
            <a:r>
              <a:rPr>
                <a:solidFill>
                  <a:srgbClr val="06287E"/>
                </a:solidFill>
                <a:latin typeface="Courier"/>
              </a:rPr>
              <a:t>}</a:t>
            </a:r>
            <a:br/>
            <a:r>
              <a:rPr>
                <a:latin typeface="Courier"/>
              </a:rPr>
              <a:t>    </a:t>
            </a:r>
            <a:r>
              <a:rPr>
                <a:solidFill>
                  <a:srgbClr val="007020"/>
                </a:solidFill>
                <a:latin typeface="Courier"/>
              </a:rPr>
              <a:t>]</a:t>
            </a:r>
            <a:br/>
            <a:r>
              <a:rPr>
                <a:latin typeface="Courier"/>
              </a:rPr>
              <a:t>  </a:t>
            </a:r>
            <a:r>
              <a:rPr>
                <a:solidFill>
                  <a:srgbClr val="06287E"/>
                </a:solidFill>
                <a:latin typeface="Courier"/>
              </a:rPr>
              <a:t>},</a:t>
            </a:r>
            <a:br/>
            <a:r>
              <a:rPr>
                <a:latin typeface="Courier"/>
              </a:rPr>
              <a:t>  </a:t>
            </a:r>
            <a:r>
              <a:rPr>
                <a:solidFill>
                  <a:srgbClr val="902000"/>
                </a:solidFill>
                <a:latin typeface="Courier"/>
              </a:rPr>
              <a:t>"timestamp"</a:t>
            </a:r>
            <a:r>
              <a:rPr>
                <a:solidFill>
                  <a:srgbClr val="06287E"/>
                </a:solidFill>
                <a:latin typeface="Courier"/>
              </a:rPr>
              <a:t>:</a:t>
            </a:r>
            <a:r>
              <a:rPr>
                <a:latin typeface="Courier"/>
              </a:rPr>
              <a:t> </a:t>
            </a:r>
            <a:r>
              <a:rPr>
                <a:solidFill>
                  <a:srgbClr val="4070A0"/>
                </a:solidFill>
                <a:latin typeface="Courier"/>
              </a:rPr>
              <a:t>"2024-01-15T10:30:00Z"</a:t>
            </a:r>
            <a:br/>
            <a:r>
              <a:rPr>
                <a:solidFill>
                  <a:srgbClr val="06287E"/>
                </a:solidFill>
                <a:latin typeface="Courier"/>
              </a:rPr>
              <a:t>}</a:t>
            </a:r>
          </a:p>
          <a:p>
            <a:pPr lvl="0" indent="0" marL="0">
              <a:spcBef>
                <a:spcPts val="3000"/>
              </a:spcBef>
              <a:buNone/>
            </a:pPr>
            <a:r>
              <a:rPr b="1"/>
              <a:t>HL7 Integration (Planned)</a:t>
            </a:r>
          </a:p>
          <a:p>
            <a:pPr lvl="0" indent="0" marL="0">
              <a:buNone/>
            </a:pPr>
            <a:r>
              <a:rPr b="1"/>
              <a:t>HL7 v2.x Support:</a:t>
            </a:r>
            <a:r>
              <a:rPr/>
              <a:t> - ADT (Admission, Discharge, Transfer) messages - ORM (Order) messages - ORU (Observation Result) messages - Bidirectional integration with existing HIS/EMR</a:t>
            </a:r>
          </a:p>
          <a:p>
            <a:pPr lvl="0" indent="0" marL="0">
              <a:buNone/>
            </a:pPr>
            <a:r>
              <a:rPr b="1"/>
              <a:t>HL7 FHIR Support (Roadmap):</a:t>
            </a:r>
            <a:r>
              <a:rPr/>
              <a:t> - RESTful FHIR API - Patient, Practitioner, Observation resources - Modern interoperability standard</a:t>
            </a:r>
          </a:p>
          <a:p>
            <a:pPr lvl="0" indent="0" marL="0">
              <a:spcBef>
                <a:spcPts val="3000"/>
              </a:spcBef>
              <a:buNone/>
            </a:pPr>
            <a:r>
              <a:rPr b="1"/>
              <a:t>Third-Party Integrations</a:t>
            </a:r>
          </a:p>
          <a:p>
            <a:pPr lvl="0" indent="0" marL="0">
              <a:buNone/>
            </a:pPr>
            <a:r>
              <a:rPr b="1"/>
              <a:t>Payment Gateways:</a:t>
            </a:r>
            <a:r>
              <a:rPr/>
              <a:t> - Stripe, Square, PayPal integration - PCI-DSS compliant tokenization - Webhook support for payment confirmations</a:t>
            </a:r>
          </a:p>
          <a:p>
            <a:pPr lvl="0" indent="0" marL="0">
              <a:buNone/>
            </a:pPr>
            <a:r>
              <a:rPr b="1"/>
              <a:t>Lab Equipment:</a:t>
            </a:r>
            <a:r>
              <a:rPr/>
              <a:t> - LIS (Laboratory Information System) integration - Instrument interface (HL7, ASTM) - Auto-import of test results</a:t>
            </a:r>
          </a:p>
          <a:p>
            <a:pPr lvl="0" indent="0" marL="0">
              <a:buNone/>
            </a:pPr>
            <a:r>
              <a:rPr b="1"/>
              <a:t>Insurance Eligibility:</a:t>
            </a:r>
            <a:r>
              <a:rPr/>
              <a:t> - Real-time eligibility verification APIs - Claims submission (X12 EDI format) - Clearinghouse integration</a:t>
            </a:r>
          </a:p>
          <a:p>
            <a:pPr lvl="0" indent="0" marL="0">
              <a:buNone/>
            </a:pPr>
            <a:r>
              <a:rPr b="1"/>
              <a:t>SMS/Email:</a:t>
            </a:r>
            <a:r>
              <a:rPr/>
              <a:t> - Twilio for SMS notifications - SendGrid/AWS SES for emails - Appointment reminders - Test result notifications</a:t>
            </a:r>
          </a:p>
          <a:p>
            <a:pPr lvl="0" indent="0" marL="0">
              <a:buNone/>
            </a:pPr>
            <a:r>
              <a:rPr b="1"/>
              <a:t>Single Sign-On (SSO):</a:t>
            </a:r>
            <a:r>
              <a:rPr/>
              <a:t> - SAML 2.0 support - OAuth 2.0 / OpenID Connect - Active Directory / LDAP integration - Enterprise SSO providers (Okta, Azure AD)</a:t>
            </a:r>
          </a:p>
          <a:p>
            <a:pPr lvl="0" indent="0" marL="0">
              <a:spcBef>
                <a:spcPts val="3000"/>
              </a:spcBef>
              <a:buNone/>
            </a:pPr>
            <a:r>
              <a:rPr b="1"/>
              <a:t>Webhooks</a:t>
            </a:r>
          </a:p>
          <a:p>
            <a:pPr lvl="0" indent="0" marL="0">
              <a:buNone/>
            </a:pPr>
            <a:r>
              <a:rPr b="1"/>
              <a:t>Event Notifications:</a:t>
            </a:r>
          </a:p>
          <a:p>
            <a:pPr lvl="0" indent="0">
              <a:buNone/>
            </a:pPr>
            <a:r>
              <a:rPr i="1">
                <a:solidFill>
                  <a:srgbClr val="60A0B0"/>
                </a:solidFill>
                <a:latin typeface="Courier"/>
              </a:rPr>
              <a:t>// External systems can subscribe to events</a:t>
            </a:r>
            <a:br/>
            <a:r>
              <a:rPr>
                <a:latin typeface="Courier"/>
              </a:rPr>
              <a:t>POST </a:t>
            </a:r>
            <a:r>
              <a:rPr>
                <a:solidFill>
                  <a:srgbClr val="666666"/>
                </a:solidFill>
                <a:latin typeface="Courier"/>
              </a:rPr>
              <a:t>/</a:t>
            </a:r>
            <a:r>
              <a:rPr>
                <a:latin typeface="Courier"/>
              </a:rPr>
              <a:t>api</a:t>
            </a:r>
            <a:r>
              <a:rPr>
                <a:solidFill>
                  <a:srgbClr val="666666"/>
                </a:solidFill>
                <a:latin typeface="Courier"/>
              </a:rPr>
              <a:t>/</a:t>
            </a:r>
            <a:r>
              <a:rPr>
                <a:latin typeface="Courier"/>
              </a:rPr>
              <a:t>v1</a:t>
            </a:r>
            <a:r>
              <a:rPr>
                <a:solidFill>
                  <a:srgbClr val="666666"/>
                </a:solidFill>
                <a:latin typeface="Courier"/>
              </a:rPr>
              <a:t>/</a:t>
            </a:r>
            <a:r>
              <a:rPr>
                <a:latin typeface="Courier"/>
              </a:rPr>
              <a:t>webhooks</a:t>
            </a:r>
            <a:r>
              <a:rPr>
                <a:solidFill>
                  <a:srgbClr val="666666"/>
                </a:solidFill>
                <a:latin typeface="Courier"/>
              </a:rPr>
              <a:t>/</a:t>
            </a:r>
            <a:r>
              <a:rPr>
                <a:latin typeface="Courier"/>
              </a:rPr>
              <a:t>subscribe</a:t>
            </a:r>
            <a:br/>
            <a:r>
              <a:rPr>
                <a:latin typeface="Courier"/>
              </a:rPr>
              <a:t>{</a:t>
            </a:r>
            <a:br/>
            <a:r>
              <a:rPr>
                <a:latin typeface="Courier"/>
              </a:rPr>
              <a:t>  </a:t>
            </a:r>
            <a:r>
              <a:rPr>
                <a:solidFill>
                  <a:srgbClr val="4070A0"/>
                </a:solidFill>
                <a:latin typeface="Courier"/>
              </a:rPr>
              <a:t>"url"</a:t>
            </a:r>
            <a:r>
              <a:rPr>
                <a:solidFill>
                  <a:srgbClr val="666666"/>
                </a:solidFill>
                <a:latin typeface="Courier"/>
              </a:rPr>
              <a:t>:</a:t>
            </a:r>
            <a:r>
              <a:rPr>
                <a:latin typeface="Courier"/>
              </a:rPr>
              <a:t> </a:t>
            </a:r>
            <a:r>
              <a:rPr>
                <a:solidFill>
                  <a:srgbClr val="4070A0"/>
                </a:solidFill>
                <a:latin typeface="Courier"/>
              </a:rPr>
              <a:t>"https://external-system.com/webhook"</a:t>
            </a:r>
            <a:r>
              <a:rPr>
                <a:solidFill>
                  <a:srgbClr val="666666"/>
                </a:solidFill>
                <a:latin typeface="Courier"/>
              </a:rPr>
              <a:t>,</a:t>
            </a:r>
            <a:br/>
            <a:r>
              <a:rPr>
                <a:latin typeface="Courier"/>
              </a:rPr>
              <a:t>  </a:t>
            </a:r>
            <a:r>
              <a:rPr>
                <a:solidFill>
                  <a:srgbClr val="4070A0"/>
                </a:solidFill>
                <a:latin typeface="Courier"/>
              </a:rPr>
              <a:t>"events"</a:t>
            </a:r>
            <a:r>
              <a:rPr>
                <a:solidFill>
                  <a:srgbClr val="666666"/>
                </a:solidFill>
                <a:latin typeface="Courier"/>
              </a:rPr>
              <a:t>:</a:t>
            </a:r>
            <a:r>
              <a:rPr>
                <a:latin typeface="Courier"/>
              </a:rPr>
              <a:t> [</a:t>
            </a:r>
            <a:r>
              <a:rPr>
                <a:solidFill>
                  <a:srgbClr val="4070A0"/>
                </a:solidFill>
                <a:latin typeface="Courier"/>
              </a:rPr>
              <a:t>"patient.created"</a:t>
            </a:r>
            <a:r>
              <a:rPr>
                <a:solidFill>
                  <a:srgbClr val="666666"/>
                </a:solidFill>
                <a:latin typeface="Courier"/>
              </a:rPr>
              <a:t>,</a:t>
            </a:r>
            <a:r>
              <a:rPr>
                <a:latin typeface="Courier"/>
              </a:rPr>
              <a:t> </a:t>
            </a:r>
            <a:r>
              <a:rPr>
                <a:solidFill>
                  <a:srgbClr val="4070A0"/>
                </a:solidFill>
                <a:latin typeface="Courier"/>
              </a:rPr>
              <a:t>"test.completed"</a:t>
            </a:r>
            <a:r>
              <a:rPr>
                <a:solidFill>
                  <a:srgbClr val="666666"/>
                </a:solidFill>
                <a:latin typeface="Courier"/>
              </a:rPr>
              <a:t>,</a:t>
            </a:r>
            <a:r>
              <a:rPr>
                <a:latin typeface="Courier"/>
              </a:rPr>
              <a:t> </a:t>
            </a:r>
            <a:r>
              <a:rPr>
                <a:solidFill>
                  <a:srgbClr val="4070A0"/>
                </a:solidFill>
                <a:latin typeface="Courier"/>
              </a:rPr>
              <a:t>"prescription.dispensed"</a:t>
            </a:r>
            <a:r>
              <a:rPr>
                <a:latin typeface="Courier"/>
              </a:rPr>
              <a:t>]</a:t>
            </a:r>
            <a:r>
              <a:rPr>
                <a:solidFill>
                  <a:srgbClr val="666666"/>
                </a:solidFill>
                <a:latin typeface="Courier"/>
              </a:rPr>
              <a:t>,</a:t>
            </a:r>
            <a:br/>
            <a:r>
              <a:rPr>
                <a:latin typeface="Courier"/>
              </a:rPr>
              <a:t>  </a:t>
            </a:r>
            <a:r>
              <a:rPr>
                <a:solidFill>
                  <a:srgbClr val="4070A0"/>
                </a:solidFill>
                <a:latin typeface="Courier"/>
              </a:rPr>
              <a:t>"secret"</a:t>
            </a:r>
            <a:r>
              <a:rPr>
                <a:solidFill>
                  <a:srgbClr val="666666"/>
                </a:solidFill>
                <a:latin typeface="Courier"/>
              </a:rPr>
              <a:t>:</a:t>
            </a:r>
            <a:r>
              <a:rPr>
                <a:latin typeface="Courier"/>
              </a:rPr>
              <a:t> </a:t>
            </a:r>
            <a:r>
              <a:rPr>
                <a:solidFill>
                  <a:srgbClr val="4070A0"/>
                </a:solidFill>
                <a:latin typeface="Courier"/>
              </a:rPr>
              <a:t>"webhook_secret_for_signature"</a:t>
            </a:r>
            <a:br/>
            <a:r>
              <a:rPr>
                <a:latin typeface="Courier"/>
              </a:rPr>
              <a:t>}</a:t>
            </a:r>
            <a:br/>
            <a:br/>
            <a:r>
              <a:rPr i="1">
                <a:solidFill>
                  <a:srgbClr val="60A0B0"/>
                </a:solidFill>
                <a:latin typeface="Courier"/>
              </a:rPr>
              <a:t>// When event occurs, HTTP POST sent:</a:t>
            </a:r>
            <a:br/>
            <a:r>
              <a:rPr>
                <a:latin typeface="Courier"/>
              </a:rPr>
              <a:t>{</a:t>
            </a:r>
            <a:br/>
            <a:r>
              <a:rPr>
                <a:latin typeface="Courier"/>
              </a:rPr>
              <a:t>  </a:t>
            </a:r>
            <a:r>
              <a:rPr>
                <a:solidFill>
                  <a:srgbClr val="4070A0"/>
                </a:solidFill>
                <a:latin typeface="Courier"/>
              </a:rPr>
              <a:t>"event"</a:t>
            </a:r>
            <a:r>
              <a:rPr>
                <a:solidFill>
                  <a:srgbClr val="666666"/>
                </a:solidFill>
                <a:latin typeface="Courier"/>
              </a:rPr>
              <a:t>:</a:t>
            </a:r>
            <a:r>
              <a:rPr>
                <a:latin typeface="Courier"/>
              </a:rPr>
              <a:t> </a:t>
            </a:r>
            <a:r>
              <a:rPr>
                <a:solidFill>
                  <a:srgbClr val="4070A0"/>
                </a:solidFill>
                <a:latin typeface="Courier"/>
              </a:rPr>
              <a:t>"test.completed"</a:t>
            </a:r>
            <a:r>
              <a:rPr>
                <a:solidFill>
                  <a:srgbClr val="666666"/>
                </a:solidFill>
                <a:latin typeface="Courier"/>
              </a:rPr>
              <a:t>,</a:t>
            </a:r>
            <a:br/>
            <a:r>
              <a:rPr>
                <a:latin typeface="Courier"/>
              </a:rPr>
              <a:t>  </a:t>
            </a:r>
            <a:r>
              <a:rPr>
                <a:solidFill>
                  <a:srgbClr val="4070A0"/>
                </a:solidFill>
                <a:latin typeface="Courier"/>
              </a:rPr>
              <a:t>"timestamp"</a:t>
            </a:r>
            <a:r>
              <a:rPr>
                <a:solidFill>
                  <a:srgbClr val="666666"/>
                </a:solidFill>
                <a:latin typeface="Courier"/>
              </a:rPr>
              <a:t>:</a:t>
            </a:r>
            <a:r>
              <a:rPr>
                <a:latin typeface="Courier"/>
              </a:rPr>
              <a:t> </a:t>
            </a:r>
            <a:r>
              <a:rPr>
                <a:solidFill>
                  <a:srgbClr val="4070A0"/>
                </a:solidFill>
                <a:latin typeface="Courier"/>
              </a:rPr>
              <a:t>"2024-01-15T10:30:00Z"</a:t>
            </a:r>
            <a:r>
              <a:rPr>
                <a:solidFill>
                  <a:srgbClr val="666666"/>
                </a:solidFill>
                <a:latin typeface="Courier"/>
              </a:rPr>
              <a:t>,</a:t>
            </a:r>
            <a:br/>
            <a:r>
              <a:rPr>
                <a:latin typeface="Courier"/>
              </a:rPr>
              <a:t>  </a:t>
            </a:r>
            <a:r>
              <a:rPr>
                <a:solidFill>
                  <a:srgbClr val="4070A0"/>
                </a:solidFill>
                <a:latin typeface="Courier"/>
              </a:rPr>
              <a:t>"data"</a:t>
            </a:r>
            <a:r>
              <a:rPr>
                <a:solidFill>
                  <a:srgbClr val="666666"/>
                </a:solidFill>
                <a:latin typeface="Courier"/>
              </a:rPr>
              <a:t>:</a:t>
            </a:r>
            <a:r>
              <a:rPr>
                <a:latin typeface="Courier"/>
              </a:rPr>
              <a:t> {</a:t>
            </a:r>
            <a:br/>
            <a:r>
              <a:rPr>
                <a:latin typeface="Courier"/>
              </a:rPr>
              <a:t>    </a:t>
            </a:r>
            <a:r>
              <a:rPr>
                <a:solidFill>
                  <a:srgbClr val="4070A0"/>
                </a:solidFill>
                <a:latin typeface="Courier"/>
              </a:rPr>
              <a:t>"testId"</a:t>
            </a:r>
            <a:r>
              <a:rPr>
                <a:solidFill>
                  <a:srgbClr val="666666"/>
                </a:solidFill>
                <a:latin typeface="Courier"/>
              </a:rPr>
              <a:t>:</a:t>
            </a:r>
            <a:r>
              <a:rPr>
                <a:latin typeface="Courier"/>
              </a:rPr>
              <a:t> </a:t>
            </a:r>
            <a:r>
              <a:rPr>
                <a:solidFill>
                  <a:srgbClr val="4070A0"/>
                </a:solidFill>
                <a:latin typeface="Courier"/>
              </a:rPr>
              <a:t>"LAB-2024-0001"</a:t>
            </a:r>
            <a:r>
              <a:rPr>
                <a:solidFill>
                  <a:srgbClr val="666666"/>
                </a:solidFill>
                <a:latin typeface="Courier"/>
              </a:rPr>
              <a:t>,</a:t>
            </a:r>
            <a:br/>
            <a:r>
              <a:rPr>
                <a:latin typeface="Courier"/>
              </a:rPr>
              <a:t>    </a:t>
            </a:r>
            <a:r>
              <a:rPr>
                <a:solidFill>
                  <a:srgbClr val="4070A0"/>
                </a:solidFill>
                <a:latin typeface="Courier"/>
              </a:rPr>
              <a:t>"patientId"</a:t>
            </a:r>
            <a:r>
              <a:rPr>
                <a:solidFill>
                  <a:srgbClr val="666666"/>
                </a:solidFill>
                <a:latin typeface="Courier"/>
              </a:rPr>
              <a:t>:</a:t>
            </a:r>
            <a:r>
              <a:rPr>
                <a:latin typeface="Courier"/>
              </a:rPr>
              <a:t> </a:t>
            </a:r>
            <a:r>
              <a:rPr>
                <a:solidFill>
                  <a:srgbClr val="4070A0"/>
                </a:solidFill>
                <a:latin typeface="Courier"/>
              </a:rPr>
              <a:t>"PAT-2024-0123"</a:t>
            </a:r>
            <a:r>
              <a:rPr>
                <a:solidFill>
                  <a:srgbClr val="666666"/>
                </a:solidFill>
                <a:latin typeface="Courier"/>
              </a:rPr>
              <a:t>,</a:t>
            </a:r>
            <a:br/>
            <a:r>
              <a:rPr>
                <a:latin typeface="Courier"/>
              </a:rPr>
              <a:t>    </a:t>
            </a:r>
            <a:r>
              <a:rPr>
                <a:solidFill>
                  <a:srgbClr val="4070A0"/>
                </a:solidFill>
                <a:latin typeface="Courier"/>
              </a:rPr>
              <a:t>"results"</a:t>
            </a:r>
            <a:r>
              <a:rPr>
                <a:solidFill>
                  <a:srgbClr val="666666"/>
                </a:solidFill>
                <a:latin typeface="Courier"/>
              </a:rPr>
              <a:t>:</a:t>
            </a:r>
            <a:r>
              <a:rPr>
                <a:latin typeface="Courier"/>
              </a:rPr>
              <a:t> {</a:t>
            </a:r>
            <a:r>
              <a:rPr>
                <a:solidFill>
                  <a:srgbClr val="666666"/>
                </a:solidFill>
                <a:latin typeface="Courier"/>
              </a:rPr>
              <a:t>...</a:t>
            </a:r>
            <a:r>
              <a:rPr>
                <a:latin typeface="Courier"/>
              </a:rPr>
              <a:t>}</a:t>
            </a:r>
            <a:br/>
            <a:r>
              <a:rPr>
                <a:latin typeface="Courier"/>
              </a:rPr>
              <a:t>  }</a:t>
            </a:r>
            <a:r>
              <a:rPr>
                <a:solidFill>
                  <a:srgbClr val="666666"/>
                </a:solidFill>
                <a:latin typeface="Courier"/>
              </a:rPr>
              <a:t>,</a:t>
            </a:r>
            <a:br/>
            <a:r>
              <a:rPr>
                <a:latin typeface="Courier"/>
              </a:rPr>
              <a:t>  </a:t>
            </a:r>
            <a:r>
              <a:rPr>
                <a:solidFill>
                  <a:srgbClr val="4070A0"/>
                </a:solidFill>
                <a:latin typeface="Courier"/>
              </a:rPr>
              <a:t>"signature"</a:t>
            </a:r>
            <a:r>
              <a:rPr>
                <a:solidFill>
                  <a:srgbClr val="666666"/>
                </a:solidFill>
                <a:latin typeface="Courier"/>
              </a:rPr>
              <a:t>:</a:t>
            </a:r>
            <a:r>
              <a:rPr>
                <a:latin typeface="Courier"/>
              </a:rPr>
              <a:t> </a:t>
            </a:r>
            <a:r>
              <a:rPr>
                <a:solidFill>
                  <a:srgbClr val="4070A0"/>
                </a:solidFill>
                <a:latin typeface="Courier"/>
              </a:rPr>
              <a:t>"sha256_hmac_signature"</a:t>
            </a:r>
            <a:br/>
            <a:r>
              <a:rPr>
                <a:latin typeface="Courie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Infrastructure &amp; Deployment</a:t>
            </a:r>
          </a:p>
        </p:txBody>
      </p:sp>
      <p:sp>
        <p:nvSpPr>
          <p:cNvPr id="3" name="Content Placeholder 2"/>
          <p:cNvSpPr>
            <a:spLocks noGrp="1"/>
          </p:cNvSpPr>
          <p:nvPr>
            <p:ph idx="1"/>
          </p:nvPr>
        </p:nvSpPr>
        <p:spPr/>
        <p:txBody>
          <a:bodyPr/>
          <a:lstStyle/>
          <a:p>
            <a:pPr lvl="0" indent="0" marL="0">
              <a:spcBef>
                <a:spcPts val="3000"/>
              </a:spcBef>
              <a:buNone/>
            </a:pPr>
            <a:r>
              <a:rPr b="1"/>
              <a:t>Deployment Architecture</a:t>
            </a:r>
          </a:p>
          <a:p>
            <a:pPr lvl="0" indent="0" marL="0">
              <a:buNone/>
            </a:pPr>
            <a:r>
              <a:rPr b="1"/>
              <a:t>Production Setup (SaaS):</a:t>
            </a:r>
          </a:p>
          <a:p>
            <a:pPr lvl="0" indent="0">
              <a:buNone/>
            </a:pPr>
            <a:r>
              <a:rPr>
                <a:latin typeface="Courier"/>
              </a:rPr>
              <a:t>┌─────────────────────────────────────┐
│        CDN (Cloudflare)             │
│  - Static asset caching             │
│  - DDoS protection                  │
└────────────┬────────────────────────┘
             │
┌────────────▼────────────────────────┐
│    Load Balancer (AWS ALB/NLB)      │
│  - SSL termination                  │
│  - Health checks                    │
│  - Auto-scaling trigger             │
└────────────┬────────────────────────┘
             │
   ┌─────────┴─────────┐
   │                   │
┌──▼──────────┐  ┌─────▼──────────┐
│  App Server  │  │  App Server    │  (Auto-scaling 2-10 instances)
│  ECS/K8s Pod │  │  ECS/K8s Pod   │
│  - Node.js   │  │  - Node.js     │
│  - Express   │  │  - Express     │
│  - Socket.IO │  │  - Socket.IO   │
└──┬──────────┘  └─────┬──────────┘
   │                   │
   └─────────┬─────────┘
             │
   ┌─────────┴─────────┐
   │                   │
┌──▼────────┐    ┌─────▼──────┐
│ PostgreSQL │    │   Redis    │
│ RDS Multi-AZ│   │ Elasticache│
│ - Primary   │    │ Cluster    │
│ - Standby   │    │            │
└────────────┘    └────────────┘</a:t>
            </a:r>
          </a:p>
          <a:p>
            <a:pPr lvl="0" indent="0" marL="0">
              <a:spcBef>
                <a:spcPts val="3000"/>
              </a:spcBef>
              <a:buNone/>
            </a:pPr>
            <a:r>
              <a:rPr b="1"/>
              <a:t>Docker Deployment</a:t>
            </a:r>
          </a:p>
          <a:p>
            <a:pPr lvl="0" indent="0" marL="0">
              <a:buNone/>
            </a:pPr>
            <a:r>
              <a:rPr b="1"/>
              <a:t>Docker Compose for Development:</a:t>
            </a:r>
          </a:p>
          <a:p>
            <a:pPr lvl="0" indent="0">
              <a:buNone/>
            </a:pPr>
            <a:r>
              <a:rPr>
                <a:solidFill>
                  <a:srgbClr val="06287E"/>
                </a:solidFill>
                <a:latin typeface="Courier"/>
              </a:rPr>
              <a:t>version</a:t>
            </a:r>
            <a:r>
              <a:rPr b="1">
                <a:solidFill>
                  <a:srgbClr val="007020"/>
                </a:solidFill>
                <a:latin typeface="Courier"/>
              </a:rPr>
              <a:t>:</a:t>
            </a:r>
            <a:r>
              <a:rPr>
                <a:solidFill>
                  <a:srgbClr val="7D9029"/>
                </a:solidFill>
                <a:latin typeface="Courier"/>
              </a:rPr>
              <a:t> </a:t>
            </a:r>
            <a:r>
              <a:rPr>
                <a:solidFill>
                  <a:srgbClr val="4070A0"/>
                </a:solidFill>
                <a:latin typeface="Courier"/>
              </a:rPr>
              <a:t>'3.8'</a:t>
            </a:r>
            <a:br/>
            <a:br/>
            <a:r>
              <a:rPr>
                <a:solidFill>
                  <a:srgbClr val="06287E"/>
                </a:solidFill>
                <a:latin typeface="Courier"/>
              </a:rPr>
              <a:t>services</a:t>
            </a:r>
            <a:r>
              <a:rPr b="1">
                <a:solidFill>
                  <a:srgbClr val="007020"/>
                </a:solidFill>
                <a:latin typeface="Courier"/>
              </a:rPr>
              <a:t>:</a:t>
            </a:r>
            <a:br/>
            <a:r>
              <a:rPr>
                <a:solidFill>
                  <a:srgbClr val="7D9029"/>
                </a:solidFill>
                <a:latin typeface="Courier"/>
              </a:rPr>
              <a:t>  </a:t>
            </a:r>
            <a:r>
              <a:rPr>
                <a:solidFill>
                  <a:srgbClr val="06287E"/>
                </a:solidFill>
                <a:latin typeface="Courier"/>
              </a:rPr>
              <a:t>postgres</a:t>
            </a:r>
            <a:r>
              <a:rPr b="1">
                <a:solidFill>
                  <a:srgbClr val="007020"/>
                </a:solidFill>
                <a:latin typeface="Courier"/>
              </a:rPr>
              <a:t>:</a:t>
            </a:r>
            <a:br/>
            <a:r>
              <a:rPr>
                <a:solidFill>
                  <a:srgbClr val="7D9029"/>
                </a:solidFill>
                <a:latin typeface="Courier"/>
              </a:rPr>
              <a:t>    </a:t>
            </a:r>
            <a:r>
              <a:rPr>
                <a:solidFill>
                  <a:srgbClr val="06287E"/>
                </a:solidFill>
                <a:latin typeface="Courier"/>
              </a:rPr>
              <a:t>image</a:t>
            </a:r>
            <a:r>
              <a:rPr b="1">
                <a:solidFill>
                  <a:srgbClr val="007020"/>
                </a:solidFill>
                <a:latin typeface="Courier"/>
              </a:rPr>
              <a:t>:</a:t>
            </a:r>
            <a:r>
              <a:rPr>
                <a:solidFill>
                  <a:srgbClr val="7D9029"/>
                </a:solidFill>
                <a:latin typeface="Courier"/>
              </a:rPr>
              <a:t> postgres:14-alpine</a:t>
            </a:r>
            <a:br/>
            <a:r>
              <a:rPr>
                <a:solidFill>
                  <a:srgbClr val="7D9029"/>
                </a:solidFill>
                <a:latin typeface="Courier"/>
              </a:rPr>
              <a:t>    </a:t>
            </a:r>
            <a:r>
              <a:rPr>
                <a:solidFill>
                  <a:srgbClr val="06287E"/>
                </a:solidFill>
                <a:latin typeface="Courier"/>
              </a:rPr>
              <a:t>environment</a:t>
            </a:r>
            <a:r>
              <a:rPr b="1">
                <a:solidFill>
                  <a:srgbClr val="007020"/>
                </a:solidFill>
                <a:latin typeface="Courier"/>
              </a:rPr>
              <a:t>:</a:t>
            </a:r>
            <a:br/>
            <a:r>
              <a:rPr>
                <a:solidFill>
                  <a:srgbClr val="7D9029"/>
                </a:solidFill>
                <a:latin typeface="Courier"/>
              </a:rPr>
              <a:t>      </a:t>
            </a:r>
            <a:r>
              <a:rPr>
                <a:solidFill>
                  <a:srgbClr val="06287E"/>
                </a:solidFill>
                <a:latin typeface="Courier"/>
              </a:rPr>
              <a:t>POSTGRES_DB</a:t>
            </a:r>
            <a:r>
              <a:rPr b="1">
                <a:solidFill>
                  <a:srgbClr val="007020"/>
                </a:solidFill>
                <a:latin typeface="Courier"/>
              </a:rPr>
              <a:t>:</a:t>
            </a:r>
            <a:r>
              <a:rPr>
                <a:solidFill>
                  <a:srgbClr val="7D9029"/>
                </a:solidFill>
                <a:latin typeface="Courier"/>
              </a:rPr>
              <a:t> hospital_db</a:t>
            </a:r>
            <a:br/>
            <a:r>
              <a:rPr>
                <a:solidFill>
                  <a:srgbClr val="7D9029"/>
                </a:solidFill>
                <a:latin typeface="Courier"/>
              </a:rPr>
              <a:t>      </a:t>
            </a:r>
            <a:r>
              <a:rPr>
                <a:solidFill>
                  <a:srgbClr val="06287E"/>
                </a:solidFill>
                <a:latin typeface="Courier"/>
              </a:rPr>
              <a:t>POSTGRES_USER</a:t>
            </a:r>
            <a:r>
              <a:rPr b="1">
                <a:solidFill>
                  <a:srgbClr val="007020"/>
                </a:solidFill>
                <a:latin typeface="Courier"/>
              </a:rPr>
              <a:t>:</a:t>
            </a:r>
            <a:r>
              <a:rPr>
                <a:solidFill>
                  <a:srgbClr val="7D9029"/>
                </a:solidFill>
                <a:latin typeface="Courier"/>
              </a:rPr>
              <a:t> postgres</a:t>
            </a:r>
            <a:br/>
            <a:r>
              <a:rPr>
                <a:solidFill>
                  <a:srgbClr val="7D9029"/>
                </a:solidFill>
                <a:latin typeface="Courier"/>
              </a:rPr>
              <a:t>      </a:t>
            </a:r>
            <a:r>
              <a:rPr>
                <a:solidFill>
                  <a:srgbClr val="06287E"/>
                </a:solidFill>
                <a:latin typeface="Courier"/>
              </a:rPr>
              <a:t>POSTGRES_PASSWORD</a:t>
            </a:r>
            <a:r>
              <a:rPr b="1">
                <a:solidFill>
                  <a:srgbClr val="007020"/>
                </a:solidFill>
                <a:latin typeface="Courier"/>
              </a:rPr>
              <a:t>:</a:t>
            </a:r>
            <a:r>
              <a:rPr>
                <a:solidFill>
                  <a:srgbClr val="7D9029"/>
                </a:solidFill>
                <a:latin typeface="Courier"/>
              </a:rPr>
              <a:t> ${DB_PASSWORD}</a:t>
            </a:r>
            <a:br/>
            <a:r>
              <a:rPr>
                <a:solidFill>
                  <a:srgbClr val="7D9029"/>
                </a:solidFill>
                <a:latin typeface="Courier"/>
              </a:rPr>
              <a:t>    </a:t>
            </a:r>
            <a:r>
              <a:rPr>
                <a:solidFill>
                  <a:srgbClr val="06287E"/>
                </a:solidFill>
                <a:latin typeface="Courier"/>
              </a:rPr>
              <a:t>volumes</a:t>
            </a:r>
            <a:r>
              <a:rPr b="1">
                <a:solidFill>
                  <a:srgbClr val="007020"/>
                </a:solidFill>
                <a:latin typeface="Courier"/>
              </a:rPr>
              <a:t>:</a:t>
            </a:r>
            <a:br/>
            <a:r>
              <a:rPr>
                <a:solidFill>
                  <a:srgbClr val="7D9029"/>
                </a:solidFill>
                <a:latin typeface="Courier"/>
              </a:rPr>
              <a:t>      </a:t>
            </a:r>
            <a:r>
              <a:rPr b="1">
                <a:solidFill>
                  <a:srgbClr val="007020"/>
                </a:solidFill>
                <a:latin typeface="Courier"/>
              </a:rPr>
              <a:t>-</a:t>
            </a:r>
            <a:r>
              <a:rPr>
                <a:solidFill>
                  <a:srgbClr val="7D9029"/>
                </a:solidFill>
                <a:latin typeface="Courier"/>
              </a:rPr>
              <a:t> postgres_data:/var/lib/postgresql/data</a:t>
            </a:r>
            <a:br/>
            <a:r>
              <a:rPr>
                <a:solidFill>
                  <a:srgbClr val="7D9029"/>
                </a:solidFill>
                <a:latin typeface="Courier"/>
              </a:rPr>
              <a:t>      </a:t>
            </a:r>
            <a:r>
              <a:rPr b="1">
                <a:solidFill>
                  <a:srgbClr val="007020"/>
                </a:solidFill>
                <a:latin typeface="Courier"/>
              </a:rPr>
              <a:t>-</a:t>
            </a:r>
            <a:r>
              <a:rPr>
                <a:solidFill>
                  <a:srgbClr val="7D9029"/>
                </a:solidFill>
                <a:latin typeface="Courier"/>
              </a:rPr>
              <a:t> ./backend/src/database/schema.sql:/docker-entrypoint-initdb.d/schema.sql</a:t>
            </a:r>
            <a:br/>
            <a:r>
              <a:rPr>
                <a:solidFill>
                  <a:srgbClr val="7D9029"/>
                </a:solidFill>
                <a:latin typeface="Courier"/>
              </a:rPr>
              <a:t>    </a:t>
            </a:r>
            <a:r>
              <a:rPr>
                <a:solidFill>
                  <a:srgbClr val="06287E"/>
                </a:solidFill>
                <a:latin typeface="Courier"/>
              </a:rPr>
              <a:t>ports</a:t>
            </a:r>
            <a:r>
              <a:rPr b="1">
                <a:solidFill>
                  <a:srgbClr val="007020"/>
                </a:solidFill>
                <a:latin typeface="Courier"/>
              </a:rPr>
              <a:t>:</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4070A0"/>
                </a:solidFill>
                <a:latin typeface="Courier"/>
              </a:rPr>
              <a:t>"5432:5432"</a:t>
            </a:r>
            <a:br/>
            <a:br/>
            <a:r>
              <a:rPr>
                <a:solidFill>
                  <a:srgbClr val="7D9029"/>
                </a:solidFill>
                <a:latin typeface="Courier"/>
              </a:rPr>
              <a:t>  </a:t>
            </a:r>
            <a:r>
              <a:rPr>
                <a:solidFill>
                  <a:srgbClr val="06287E"/>
                </a:solidFill>
                <a:latin typeface="Courier"/>
              </a:rPr>
              <a:t>redis</a:t>
            </a:r>
            <a:r>
              <a:rPr b="1">
                <a:solidFill>
                  <a:srgbClr val="007020"/>
                </a:solidFill>
                <a:latin typeface="Courier"/>
              </a:rPr>
              <a:t>:</a:t>
            </a:r>
            <a:br/>
            <a:r>
              <a:rPr>
                <a:solidFill>
                  <a:srgbClr val="7D9029"/>
                </a:solidFill>
                <a:latin typeface="Courier"/>
              </a:rPr>
              <a:t>    </a:t>
            </a:r>
            <a:r>
              <a:rPr>
                <a:solidFill>
                  <a:srgbClr val="06287E"/>
                </a:solidFill>
                <a:latin typeface="Courier"/>
              </a:rPr>
              <a:t>image</a:t>
            </a:r>
            <a:r>
              <a:rPr b="1">
                <a:solidFill>
                  <a:srgbClr val="007020"/>
                </a:solidFill>
                <a:latin typeface="Courier"/>
              </a:rPr>
              <a:t>:</a:t>
            </a:r>
            <a:r>
              <a:rPr>
                <a:solidFill>
                  <a:srgbClr val="7D9029"/>
                </a:solidFill>
                <a:latin typeface="Courier"/>
              </a:rPr>
              <a:t> redis:7-alpine</a:t>
            </a:r>
            <a:br/>
            <a:r>
              <a:rPr>
                <a:solidFill>
                  <a:srgbClr val="7D9029"/>
                </a:solidFill>
                <a:latin typeface="Courier"/>
              </a:rPr>
              <a:t>    </a:t>
            </a:r>
            <a:r>
              <a:rPr>
                <a:solidFill>
                  <a:srgbClr val="06287E"/>
                </a:solidFill>
                <a:latin typeface="Courier"/>
              </a:rPr>
              <a:t>ports</a:t>
            </a:r>
            <a:r>
              <a:rPr b="1">
                <a:solidFill>
                  <a:srgbClr val="007020"/>
                </a:solidFill>
                <a:latin typeface="Courier"/>
              </a:rPr>
              <a:t>:</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4070A0"/>
                </a:solidFill>
                <a:latin typeface="Courier"/>
              </a:rPr>
              <a:t>"6379:6379"</a:t>
            </a:r>
            <a:br/>
            <a:r>
              <a:rPr>
                <a:solidFill>
                  <a:srgbClr val="7D9029"/>
                </a:solidFill>
                <a:latin typeface="Courier"/>
              </a:rPr>
              <a:t>    </a:t>
            </a:r>
            <a:r>
              <a:rPr>
                <a:solidFill>
                  <a:srgbClr val="06287E"/>
                </a:solidFill>
                <a:latin typeface="Courier"/>
              </a:rPr>
              <a:t>command</a:t>
            </a:r>
            <a:r>
              <a:rPr b="1">
                <a:solidFill>
                  <a:srgbClr val="007020"/>
                </a:solidFill>
                <a:latin typeface="Courier"/>
              </a:rPr>
              <a:t>:</a:t>
            </a:r>
            <a:r>
              <a:rPr>
                <a:solidFill>
                  <a:srgbClr val="7D9029"/>
                </a:solidFill>
                <a:latin typeface="Courier"/>
              </a:rPr>
              <a:t> redis-server --requirepass ${REDIS_PASSWORD}</a:t>
            </a:r>
            <a:br/>
            <a:br/>
            <a:r>
              <a:rPr>
                <a:solidFill>
                  <a:srgbClr val="7D9029"/>
                </a:solidFill>
                <a:latin typeface="Courier"/>
              </a:rPr>
              <a:t>  </a:t>
            </a:r>
            <a:r>
              <a:rPr>
                <a:solidFill>
                  <a:srgbClr val="06287E"/>
                </a:solidFill>
                <a:latin typeface="Courier"/>
              </a:rPr>
              <a:t>backend</a:t>
            </a:r>
            <a:r>
              <a:rPr b="1">
                <a:solidFill>
                  <a:srgbClr val="007020"/>
                </a:solidFill>
                <a:latin typeface="Courier"/>
              </a:rPr>
              <a:t>:</a:t>
            </a:r>
            <a:br/>
            <a:r>
              <a:rPr>
                <a:solidFill>
                  <a:srgbClr val="7D9029"/>
                </a:solidFill>
                <a:latin typeface="Courier"/>
              </a:rPr>
              <a:t>    </a:t>
            </a:r>
            <a:r>
              <a:rPr>
                <a:solidFill>
                  <a:srgbClr val="06287E"/>
                </a:solidFill>
                <a:latin typeface="Courier"/>
              </a:rPr>
              <a:t>build</a:t>
            </a:r>
            <a:r>
              <a:rPr b="1">
                <a:solidFill>
                  <a:srgbClr val="007020"/>
                </a:solidFill>
                <a:latin typeface="Courier"/>
              </a:rPr>
              <a:t>:</a:t>
            </a:r>
            <a:r>
              <a:rPr>
                <a:solidFill>
                  <a:srgbClr val="7D9029"/>
                </a:solidFill>
                <a:latin typeface="Courier"/>
              </a:rPr>
              <a:t> ./backend</a:t>
            </a:r>
            <a:br/>
            <a:r>
              <a:rPr>
                <a:solidFill>
                  <a:srgbClr val="7D9029"/>
                </a:solidFill>
                <a:latin typeface="Courier"/>
              </a:rPr>
              <a:t>    </a:t>
            </a:r>
            <a:r>
              <a:rPr>
                <a:solidFill>
                  <a:srgbClr val="06287E"/>
                </a:solidFill>
                <a:latin typeface="Courier"/>
              </a:rPr>
              <a:t>environment</a:t>
            </a:r>
            <a:r>
              <a:rPr b="1">
                <a:solidFill>
                  <a:srgbClr val="007020"/>
                </a:solidFill>
                <a:latin typeface="Courier"/>
              </a:rPr>
              <a:t>:</a:t>
            </a:r>
            <a:br/>
            <a:r>
              <a:rPr>
                <a:solidFill>
                  <a:srgbClr val="7D9029"/>
                </a:solidFill>
                <a:latin typeface="Courier"/>
              </a:rPr>
              <a:t>      </a:t>
            </a:r>
            <a:r>
              <a:rPr>
                <a:solidFill>
                  <a:srgbClr val="06287E"/>
                </a:solidFill>
                <a:latin typeface="Courier"/>
              </a:rPr>
              <a:t>NODE_ENV</a:t>
            </a:r>
            <a:r>
              <a:rPr b="1">
                <a:solidFill>
                  <a:srgbClr val="007020"/>
                </a:solidFill>
                <a:latin typeface="Courier"/>
              </a:rPr>
              <a:t>:</a:t>
            </a:r>
            <a:r>
              <a:rPr>
                <a:solidFill>
                  <a:srgbClr val="7D9029"/>
                </a:solidFill>
                <a:latin typeface="Courier"/>
              </a:rPr>
              <a:t> production</a:t>
            </a:r>
            <a:br/>
            <a:r>
              <a:rPr>
                <a:solidFill>
                  <a:srgbClr val="7D9029"/>
                </a:solidFill>
                <a:latin typeface="Courier"/>
              </a:rPr>
              <a:t>      </a:t>
            </a:r>
            <a:r>
              <a:rPr>
                <a:solidFill>
                  <a:srgbClr val="06287E"/>
                </a:solidFill>
                <a:latin typeface="Courier"/>
              </a:rPr>
              <a:t>DB_HOST</a:t>
            </a:r>
            <a:r>
              <a:rPr b="1">
                <a:solidFill>
                  <a:srgbClr val="007020"/>
                </a:solidFill>
                <a:latin typeface="Courier"/>
              </a:rPr>
              <a:t>:</a:t>
            </a:r>
            <a:r>
              <a:rPr>
                <a:solidFill>
                  <a:srgbClr val="7D9029"/>
                </a:solidFill>
                <a:latin typeface="Courier"/>
              </a:rPr>
              <a:t> postgres</a:t>
            </a:r>
            <a:br/>
            <a:r>
              <a:rPr>
                <a:solidFill>
                  <a:srgbClr val="7D9029"/>
                </a:solidFill>
                <a:latin typeface="Courier"/>
              </a:rPr>
              <a:t>      </a:t>
            </a:r>
            <a:r>
              <a:rPr>
                <a:solidFill>
                  <a:srgbClr val="06287E"/>
                </a:solidFill>
                <a:latin typeface="Courier"/>
              </a:rPr>
              <a:t>DB_PORT</a:t>
            </a:r>
            <a:r>
              <a:rPr b="1">
                <a:solidFill>
                  <a:srgbClr val="007020"/>
                </a:solidFill>
                <a:latin typeface="Courier"/>
              </a:rPr>
              <a:t>:</a:t>
            </a:r>
            <a:r>
              <a:rPr>
                <a:solidFill>
                  <a:srgbClr val="7D9029"/>
                </a:solidFill>
                <a:latin typeface="Courier"/>
              </a:rPr>
              <a:t> </a:t>
            </a:r>
            <a:r>
              <a:rPr>
                <a:solidFill>
                  <a:srgbClr val="40A070"/>
                </a:solidFill>
                <a:latin typeface="Courier"/>
              </a:rPr>
              <a:t>5432</a:t>
            </a:r>
            <a:br/>
            <a:r>
              <a:rPr>
                <a:solidFill>
                  <a:srgbClr val="7D9029"/>
                </a:solidFill>
                <a:latin typeface="Courier"/>
              </a:rPr>
              <a:t>      </a:t>
            </a:r>
            <a:r>
              <a:rPr>
                <a:solidFill>
                  <a:srgbClr val="06287E"/>
                </a:solidFill>
                <a:latin typeface="Courier"/>
              </a:rPr>
              <a:t>DB_NAME</a:t>
            </a:r>
            <a:r>
              <a:rPr b="1">
                <a:solidFill>
                  <a:srgbClr val="007020"/>
                </a:solidFill>
                <a:latin typeface="Courier"/>
              </a:rPr>
              <a:t>:</a:t>
            </a:r>
            <a:r>
              <a:rPr>
                <a:solidFill>
                  <a:srgbClr val="7D9029"/>
                </a:solidFill>
                <a:latin typeface="Courier"/>
              </a:rPr>
              <a:t> hospital_db</a:t>
            </a:r>
            <a:br/>
            <a:r>
              <a:rPr>
                <a:solidFill>
                  <a:srgbClr val="7D9029"/>
                </a:solidFill>
                <a:latin typeface="Courier"/>
              </a:rPr>
              <a:t>      </a:t>
            </a:r>
            <a:r>
              <a:rPr>
                <a:solidFill>
                  <a:srgbClr val="06287E"/>
                </a:solidFill>
                <a:latin typeface="Courier"/>
              </a:rPr>
              <a:t>DB_USER</a:t>
            </a:r>
            <a:r>
              <a:rPr b="1">
                <a:solidFill>
                  <a:srgbClr val="007020"/>
                </a:solidFill>
                <a:latin typeface="Courier"/>
              </a:rPr>
              <a:t>:</a:t>
            </a:r>
            <a:r>
              <a:rPr>
                <a:solidFill>
                  <a:srgbClr val="7D9029"/>
                </a:solidFill>
                <a:latin typeface="Courier"/>
              </a:rPr>
              <a:t> postgres</a:t>
            </a:r>
            <a:br/>
            <a:r>
              <a:rPr>
                <a:solidFill>
                  <a:srgbClr val="7D9029"/>
                </a:solidFill>
                <a:latin typeface="Courier"/>
              </a:rPr>
              <a:t>      </a:t>
            </a:r>
            <a:r>
              <a:rPr>
                <a:solidFill>
                  <a:srgbClr val="06287E"/>
                </a:solidFill>
                <a:latin typeface="Courier"/>
              </a:rPr>
              <a:t>DB_PASSWORD</a:t>
            </a:r>
            <a:r>
              <a:rPr b="1">
                <a:solidFill>
                  <a:srgbClr val="007020"/>
                </a:solidFill>
                <a:latin typeface="Courier"/>
              </a:rPr>
              <a:t>:</a:t>
            </a:r>
            <a:r>
              <a:rPr>
                <a:solidFill>
                  <a:srgbClr val="7D9029"/>
                </a:solidFill>
                <a:latin typeface="Courier"/>
              </a:rPr>
              <a:t> ${DB_PASSWORD}</a:t>
            </a:r>
            <a:br/>
            <a:r>
              <a:rPr>
                <a:solidFill>
                  <a:srgbClr val="7D9029"/>
                </a:solidFill>
                <a:latin typeface="Courier"/>
              </a:rPr>
              <a:t>      </a:t>
            </a:r>
            <a:r>
              <a:rPr>
                <a:solidFill>
                  <a:srgbClr val="06287E"/>
                </a:solidFill>
                <a:latin typeface="Courier"/>
              </a:rPr>
              <a:t>REDIS_HOST</a:t>
            </a:r>
            <a:r>
              <a:rPr b="1">
                <a:solidFill>
                  <a:srgbClr val="007020"/>
                </a:solidFill>
                <a:latin typeface="Courier"/>
              </a:rPr>
              <a:t>:</a:t>
            </a:r>
            <a:r>
              <a:rPr>
                <a:solidFill>
                  <a:srgbClr val="7D9029"/>
                </a:solidFill>
                <a:latin typeface="Courier"/>
              </a:rPr>
              <a:t> redis</a:t>
            </a:r>
            <a:br/>
            <a:r>
              <a:rPr>
                <a:solidFill>
                  <a:srgbClr val="7D9029"/>
                </a:solidFill>
                <a:latin typeface="Courier"/>
              </a:rPr>
              <a:t>      </a:t>
            </a:r>
            <a:r>
              <a:rPr>
                <a:solidFill>
                  <a:srgbClr val="06287E"/>
                </a:solidFill>
                <a:latin typeface="Courier"/>
              </a:rPr>
              <a:t>REDIS_PASSWORD</a:t>
            </a:r>
            <a:r>
              <a:rPr b="1">
                <a:solidFill>
                  <a:srgbClr val="007020"/>
                </a:solidFill>
                <a:latin typeface="Courier"/>
              </a:rPr>
              <a:t>:</a:t>
            </a:r>
            <a:r>
              <a:rPr>
                <a:solidFill>
                  <a:srgbClr val="7D9029"/>
                </a:solidFill>
                <a:latin typeface="Courier"/>
              </a:rPr>
              <a:t> ${REDIS_PASSWORD}</a:t>
            </a:r>
            <a:br/>
            <a:r>
              <a:rPr>
                <a:solidFill>
                  <a:srgbClr val="7D9029"/>
                </a:solidFill>
                <a:latin typeface="Courier"/>
              </a:rPr>
              <a:t>      </a:t>
            </a:r>
            <a:r>
              <a:rPr>
                <a:solidFill>
                  <a:srgbClr val="06287E"/>
                </a:solidFill>
                <a:latin typeface="Courier"/>
              </a:rPr>
              <a:t>JWT_SECRET</a:t>
            </a:r>
            <a:r>
              <a:rPr b="1">
                <a:solidFill>
                  <a:srgbClr val="007020"/>
                </a:solidFill>
                <a:latin typeface="Courier"/>
              </a:rPr>
              <a:t>:</a:t>
            </a:r>
            <a:r>
              <a:rPr>
                <a:solidFill>
                  <a:srgbClr val="7D9029"/>
                </a:solidFill>
                <a:latin typeface="Courier"/>
              </a:rPr>
              <a:t> ${JWT_SECRET}</a:t>
            </a:r>
            <a:br/>
            <a:r>
              <a:rPr>
                <a:solidFill>
                  <a:srgbClr val="7D9029"/>
                </a:solidFill>
                <a:latin typeface="Courier"/>
              </a:rPr>
              <a:t>    </a:t>
            </a:r>
            <a:r>
              <a:rPr>
                <a:solidFill>
                  <a:srgbClr val="06287E"/>
                </a:solidFill>
                <a:latin typeface="Courier"/>
              </a:rPr>
              <a:t>ports</a:t>
            </a:r>
            <a:r>
              <a:rPr b="1">
                <a:solidFill>
                  <a:srgbClr val="007020"/>
                </a:solidFill>
                <a:latin typeface="Courier"/>
              </a:rPr>
              <a:t>:</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4070A0"/>
                </a:solidFill>
                <a:latin typeface="Courier"/>
              </a:rPr>
              <a:t>"5000:5000"</a:t>
            </a:r>
            <a:br/>
            <a:r>
              <a:rPr>
                <a:solidFill>
                  <a:srgbClr val="7D9029"/>
                </a:solidFill>
                <a:latin typeface="Courier"/>
              </a:rPr>
              <a:t>    </a:t>
            </a:r>
            <a:r>
              <a:rPr>
                <a:solidFill>
                  <a:srgbClr val="06287E"/>
                </a:solidFill>
                <a:latin typeface="Courier"/>
              </a:rPr>
              <a:t>depends_on</a:t>
            </a:r>
            <a:r>
              <a:rPr b="1">
                <a:solidFill>
                  <a:srgbClr val="007020"/>
                </a:solidFill>
                <a:latin typeface="Courier"/>
              </a:rPr>
              <a:t>:</a:t>
            </a:r>
            <a:br/>
            <a:r>
              <a:rPr>
                <a:solidFill>
                  <a:srgbClr val="7D9029"/>
                </a:solidFill>
                <a:latin typeface="Courier"/>
              </a:rPr>
              <a:t>      </a:t>
            </a:r>
            <a:r>
              <a:rPr b="1">
                <a:solidFill>
                  <a:srgbClr val="007020"/>
                </a:solidFill>
                <a:latin typeface="Courier"/>
              </a:rPr>
              <a:t>-</a:t>
            </a:r>
            <a:r>
              <a:rPr>
                <a:solidFill>
                  <a:srgbClr val="7D9029"/>
                </a:solidFill>
                <a:latin typeface="Courier"/>
              </a:rPr>
              <a:t> postgres</a:t>
            </a:r>
            <a:br/>
            <a:r>
              <a:rPr>
                <a:solidFill>
                  <a:srgbClr val="7D9029"/>
                </a:solidFill>
                <a:latin typeface="Courier"/>
              </a:rPr>
              <a:t>      </a:t>
            </a:r>
            <a:r>
              <a:rPr b="1">
                <a:solidFill>
                  <a:srgbClr val="007020"/>
                </a:solidFill>
                <a:latin typeface="Courier"/>
              </a:rPr>
              <a:t>-</a:t>
            </a:r>
            <a:r>
              <a:rPr>
                <a:solidFill>
                  <a:srgbClr val="7D9029"/>
                </a:solidFill>
                <a:latin typeface="Courier"/>
              </a:rPr>
              <a:t> redis</a:t>
            </a:r>
            <a:br/>
            <a:br/>
            <a:r>
              <a:rPr>
                <a:solidFill>
                  <a:srgbClr val="7D9029"/>
                </a:solidFill>
                <a:latin typeface="Courier"/>
              </a:rPr>
              <a:t>  </a:t>
            </a:r>
            <a:r>
              <a:rPr>
                <a:solidFill>
                  <a:srgbClr val="06287E"/>
                </a:solidFill>
                <a:latin typeface="Courier"/>
              </a:rPr>
              <a:t>frontend</a:t>
            </a:r>
            <a:r>
              <a:rPr b="1">
                <a:solidFill>
                  <a:srgbClr val="007020"/>
                </a:solidFill>
                <a:latin typeface="Courier"/>
              </a:rPr>
              <a:t>:</a:t>
            </a:r>
            <a:br/>
            <a:r>
              <a:rPr>
                <a:solidFill>
                  <a:srgbClr val="7D9029"/>
                </a:solidFill>
                <a:latin typeface="Courier"/>
              </a:rPr>
              <a:t>    </a:t>
            </a:r>
            <a:r>
              <a:rPr>
                <a:solidFill>
                  <a:srgbClr val="06287E"/>
                </a:solidFill>
                <a:latin typeface="Courier"/>
              </a:rPr>
              <a:t>build</a:t>
            </a:r>
            <a:r>
              <a:rPr b="1">
                <a:solidFill>
                  <a:srgbClr val="007020"/>
                </a:solidFill>
                <a:latin typeface="Courier"/>
              </a:rPr>
              <a:t>:</a:t>
            </a:r>
            <a:r>
              <a:rPr>
                <a:solidFill>
                  <a:srgbClr val="7D9029"/>
                </a:solidFill>
                <a:latin typeface="Courier"/>
              </a:rPr>
              <a:t> ./frontend</a:t>
            </a:r>
            <a:br/>
            <a:r>
              <a:rPr>
                <a:solidFill>
                  <a:srgbClr val="7D9029"/>
                </a:solidFill>
                <a:latin typeface="Courier"/>
              </a:rPr>
              <a:t>    </a:t>
            </a:r>
            <a:r>
              <a:rPr>
                <a:solidFill>
                  <a:srgbClr val="06287E"/>
                </a:solidFill>
                <a:latin typeface="Courier"/>
              </a:rPr>
              <a:t>ports</a:t>
            </a:r>
            <a:r>
              <a:rPr b="1">
                <a:solidFill>
                  <a:srgbClr val="007020"/>
                </a:solidFill>
                <a:latin typeface="Courier"/>
              </a:rPr>
              <a:t>:</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4070A0"/>
                </a:solidFill>
                <a:latin typeface="Courier"/>
              </a:rPr>
              <a:t>"3000:3000"</a:t>
            </a:r>
            <a:br/>
            <a:r>
              <a:rPr>
                <a:solidFill>
                  <a:srgbClr val="7D9029"/>
                </a:solidFill>
                <a:latin typeface="Courier"/>
              </a:rPr>
              <a:t>    </a:t>
            </a:r>
            <a:r>
              <a:rPr>
                <a:solidFill>
                  <a:srgbClr val="06287E"/>
                </a:solidFill>
                <a:latin typeface="Courier"/>
              </a:rPr>
              <a:t>environment</a:t>
            </a:r>
            <a:r>
              <a:rPr b="1">
                <a:solidFill>
                  <a:srgbClr val="007020"/>
                </a:solidFill>
                <a:latin typeface="Courier"/>
              </a:rPr>
              <a:t>:</a:t>
            </a:r>
            <a:br/>
            <a:r>
              <a:rPr>
                <a:solidFill>
                  <a:srgbClr val="7D9029"/>
                </a:solidFill>
                <a:latin typeface="Courier"/>
              </a:rPr>
              <a:t>      </a:t>
            </a:r>
            <a:r>
              <a:rPr>
                <a:solidFill>
                  <a:srgbClr val="06287E"/>
                </a:solidFill>
                <a:latin typeface="Courier"/>
              </a:rPr>
              <a:t>REACT_APP_API_URL</a:t>
            </a:r>
            <a:r>
              <a:rPr b="1">
                <a:solidFill>
                  <a:srgbClr val="007020"/>
                </a:solidFill>
                <a:latin typeface="Courier"/>
              </a:rPr>
              <a:t>:</a:t>
            </a:r>
            <a:r>
              <a:rPr>
                <a:solidFill>
                  <a:srgbClr val="7D9029"/>
                </a:solidFill>
                <a:latin typeface="Courier"/>
              </a:rPr>
              <a:t> http://localhost:5000</a:t>
            </a:r>
            <a:br/>
            <a:r>
              <a:rPr>
                <a:solidFill>
                  <a:srgbClr val="7D9029"/>
                </a:solidFill>
                <a:latin typeface="Courier"/>
              </a:rPr>
              <a:t>    </a:t>
            </a:r>
            <a:r>
              <a:rPr>
                <a:solidFill>
                  <a:srgbClr val="06287E"/>
                </a:solidFill>
                <a:latin typeface="Courier"/>
              </a:rPr>
              <a:t>depends_on</a:t>
            </a:r>
            <a:r>
              <a:rPr b="1">
                <a:solidFill>
                  <a:srgbClr val="007020"/>
                </a:solidFill>
                <a:latin typeface="Courier"/>
              </a:rPr>
              <a:t>:</a:t>
            </a:r>
            <a:br/>
            <a:r>
              <a:rPr>
                <a:solidFill>
                  <a:srgbClr val="7D9029"/>
                </a:solidFill>
                <a:latin typeface="Courier"/>
              </a:rPr>
              <a:t>      </a:t>
            </a:r>
            <a:r>
              <a:rPr b="1">
                <a:solidFill>
                  <a:srgbClr val="007020"/>
                </a:solidFill>
                <a:latin typeface="Courier"/>
              </a:rPr>
              <a:t>-</a:t>
            </a:r>
            <a:r>
              <a:rPr>
                <a:solidFill>
                  <a:srgbClr val="7D9029"/>
                </a:solidFill>
                <a:latin typeface="Courier"/>
              </a:rPr>
              <a:t> backend</a:t>
            </a:r>
            <a:br/>
            <a:br/>
            <a:r>
              <a:rPr>
                <a:solidFill>
                  <a:srgbClr val="06287E"/>
                </a:solidFill>
                <a:latin typeface="Courier"/>
              </a:rPr>
              <a:t>volumes</a:t>
            </a:r>
            <a:r>
              <a:rPr b="1">
                <a:solidFill>
                  <a:srgbClr val="007020"/>
                </a:solidFill>
                <a:latin typeface="Courier"/>
              </a:rPr>
              <a:t>:</a:t>
            </a:r>
            <a:br/>
            <a:r>
              <a:rPr>
                <a:solidFill>
                  <a:srgbClr val="7D9029"/>
                </a:solidFill>
                <a:latin typeface="Courier"/>
              </a:rPr>
              <a:t>  </a:t>
            </a:r>
            <a:r>
              <a:rPr>
                <a:solidFill>
                  <a:srgbClr val="06287E"/>
                </a:solidFill>
                <a:latin typeface="Courier"/>
              </a:rPr>
              <a:t>postgres_data</a:t>
            </a:r>
            <a:r>
              <a:rPr b="1">
                <a:solidFill>
                  <a:srgbClr val="007020"/>
                </a:solidFill>
                <a:latin typeface="Courier"/>
              </a:rPr>
              <a:t>:</a:t>
            </a:r>
          </a:p>
          <a:p>
            <a:pPr lvl="0" indent="0" marL="0">
              <a:buNone/>
            </a:pPr>
            <a:r>
              <a:rPr b="1"/>
              <a:t>Production Dockerfile (Backend):</a:t>
            </a:r>
          </a:p>
          <a:p>
            <a:pPr lvl="0" indent="0">
              <a:buNone/>
            </a:pPr>
            <a:r>
              <a:rPr b="1">
                <a:solidFill>
                  <a:srgbClr val="007020"/>
                </a:solidFill>
                <a:latin typeface="Courier"/>
              </a:rPr>
              <a:t>FROM</a:t>
            </a:r>
            <a:r>
              <a:rPr>
                <a:latin typeface="Courier"/>
              </a:rPr>
              <a:t> node:20-alpine</a:t>
            </a:r>
            <a:br/>
            <a:br/>
            <a:r>
              <a:rPr b="1">
                <a:solidFill>
                  <a:srgbClr val="007020"/>
                </a:solidFill>
                <a:latin typeface="Courier"/>
              </a:rPr>
              <a:t>WORKDIR</a:t>
            </a:r>
            <a:r>
              <a:rPr>
                <a:latin typeface="Courier"/>
              </a:rPr>
              <a:t> /app</a:t>
            </a:r>
            <a:br/>
            <a:br/>
            <a:r>
              <a:rPr b="1">
                <a:solidFill>
                  <a:srgbClr val="007020"/>
                </a:solidFill>
                <a:latin typeface="Courier"/>
              </a:rPr>
              <a:t>COPY</a:t>
            </a:r>
            <a:r>
              <a:rPr>
                <a:latin typeface="Courier"/>
              </a:rPr>
              <a:t> package*.json ./</a:t>
            </a:r>
            <a:br/>
            <a:r>
              <a:rPr b="1">
                <a:solidFill>
                  <a:srgbClr val="007020"/>
                </a:solidFill>
                <a:latin typeface="Courier"/>
              </a:rPr>
              <a:t>RUN</a:t>
            </a:r>
            <a:r>
              <a:rPr>
                <a:latin typeface="Courier"/>
              </a:rPr>
              <a:t> npm ci </a:t>
            </a:r>
            <a:r>
              <a:rPr>
                <a:solidFill>
                  <a:srgbClr val="7D9029"/>
                </a:solidFill>
                <a:latin typeface="Courier"/>
              </a:rPr>
              <a:t>--only</a:t>
            </a:r>
            <a:r>
              <a:rPr>
                <a:solidFill>
                  <a:srgbClr val="666666"/>
                </a:solidFill>
                <a:latin typeface="Courier"/>
              </a:rPr>
              <a:t>=</a:t>
            </a:r>
            <a:r>
              <a:rPr>
                <a:latin typeface="Courier"/>
              </a:rPr>
              <a:t>production</a:t>
            </a:r>
            <a:br/>
            <a:br/>
            <a:r>
              <a:rPr b="1">
                <a:solidFill>
                  <a:srgbClr val="007020"/>
                </a:solidFill>
                <a:latin typeface="Courier"/>
              </a:rPr>
              <a:t>COPY</a:t>
            </a:r>
            <a:r>
              <a:rPr>
                <a:latin typeface="Courier"/>
              </a:rPr>
              <a:t> . .</a:t>
            </a:r>
            <a:br/>
            <a:r>
              <a:rPr b="1">
                <a:solidFill>
                  <a:srgbClr val="007020"/>
                </a:solidFill>
                <a:latin typeface="Courier"/>
              </a:rPr>
              <a:t>RUN</a:t>
            </a:r>
            <a:r>
              <a:rPr>
                <a:latin typeface="Courier"/>
              </a:rPr>
              <a:t> npm run build</a:t>
            </a:r>
            <a:br/>
            <a:br/>
            <a:r>
              <a:rPr b="1">
                <a:solidFill>
                  <a:srgbClr val="007020"/>
                </a:solidFill>
                <a:latin typeface="Courier"/>
              </a:rPr>
              <a:t>EXPOSE</a:t>
            </a:r>
            <a:r>
              <a:rPr>
                <a:latin typeface="Courier"/>
              </a:rPr>
              <a:t> 5000</a:t>
            </a:r>
            <a:br/>
            <a:br/>
            <a:r>
              <a:rPr b="1">
                <a:solidFill>
                  <a:srgbClr val="007020"/>
                </a:solidFill>
                <a:latin typeface="Courier"/>
              </a:rPr>
              <a:t>USER</a:t>
            </a:r>
            <a:r>
              <a:rPr>
                <a:latin typeface="Courier"/>
              </a:rPr>
              <a:t> node</a:t>
            </a:r>
            <a:br/>
            <a:br/>
            <a:r>
              <a:rPr b="1">
                <a:solidFill>
                  <a:srgbClr val="007020"/>
                </a:solidFill>
                <a:latin typeface="Courier"/>
              </a:rPr>
              <a:t>CMD</a:t>
            </a:r>
            <a:r>
              <a:rPr>
                <a:latin typeface="Courier"/>
              </a:rPr>
              <a:t> [</a:t>
            </a:r>
            <a:r>
              <a:rPr>
                <a:solidFill>
                  <a:srgbClr val="4070A0"/>
                </a:solidFill>
                <a:latin typeface="Courier"/>
              </a:rPr>
              <a:t>"node"</a:t>
            </a:r>
            <a:r>
              <a:rPr>
                <a:latin typeface="Courier"/>
              </a:rPr>
              <a:t>, </a:t>
            </a:r>
            <a:r>
              <a:rPr>
                <a:solidFill>
                  <a:srgbClr val="4070A0"/>
                </a:solidFill>
                <a:latin typeface="Courier"/>
              </a:rPr>
              <a:t>"dist/server.js"</a:t>
            </a:r>
            <a:r>
              <a:rPr>
                <a:latin typeface="Courier"/>
              </a:rPr>
              <a:t>]</a:t>
            </a:r>
          </a:p>
          <a:p>
            <a:pPr lvl="0" indent="0" marL="0">
              <a:spcBef>
                <a:spcPts val="3000"/>
              </a:spcBef>
              <a:buNone/>
            </a:pPr>
            <a:r>
              <a:rPr b="1"/>
              <a:t>Cloud Infrastructure</a:t>
            </a:r>
          </a:p>
          <a:p>
            <a:pPr lvl="0" indent="0" marL="0">
              <a:buNone/>
            </a:pPr>
            <a:r>
              <a:rPr b="1"/>
              <a:t>AWS Deployment:</a:t>
            </a:r>
            <a:r>
              <a:rPr/>
              <a:t> - </a:t>
            </a:r>
            <a:r>
              <a:rPr b="1"/>
              <a:t>Compute:</a:t>
            </a:r>
            <a:r>
              <a:rPr/>
              <a:t> ECS Fargate or EKS (Kubernetes) - </a:t>
            </a:r>
            <a:r>
              <a:rPr b="1"/>
              <a:t>Database:</a:t>
            </a:r>
            <a:r>
              <a:rPr/>
              <a:t> RDS PostgreSQL Multi-AZ - </a:t>
            </a:r>
            <a:r>
              <a:rPr b="1"/>
              <a:t>Cache:</a:t>
            </a:r>
            <a:r>
              <a:rPr/>
              <a:t> ElastiCache Redis - </a:t>
            </a:r>
            <a:r>
              <a:rPr b="1"/>
              <a:t>Storage:</a:t>
            </a:r>
            <a:r>
              <a:rPr/>
              <a:t> S3 for backups, file uploads - </a:t>
            </a:r>
            <a:r>
              <a:rPr b="1"/>
              <a:t>Load Balancer:</a:t>
            </a:r>
            <a:r>
              <a:rPr/>
              <a:t> Application Load Balancer - </a:t>
            </a:r>
            <a:r>
              <a:rPr b="1"/>
              <a:t>CDN:</a:t>
            </a:r>
            <a:r>
              <a:rPr/>
              <a:t> CloudFront - </a:t>
            </a:r>
            <a:r>
              <a:rPr b="1"/>
              <a:t>DNS:</a:t>
            </a:r>
            <a:r>
              <a:rPr/>
              <a:t> Route 53 - </a:t>
            </a:r>
            <a:r>
              <a:rPr b="1"/>
              <a:t>Secrets:</a:t>
            </a:r>
            <a:r>
              <a:rPr/>
              <a:t> AWS Secrets Manager - </a:t>
            </a:r>
            <a:r>
              <a:rPr b="1"/>
              <a:t>Monitoring:</a:t>
            </a:r>
            <a:r>
              <a:rPr/>
              <a:t> CloudWatch</a:t>
            </a:r>
          </a:p>
          <a:p>
            <a:pPr lvl="0" indent="0" marL="0">
              <a:buNone/>
            </a:pPr>
            <a:r>
              <a:rPr b="1"/>
              <a:t>Azure Deployment:</a:t>
            </a:r>
            <a:r>
              <a:rPr/>
              <a:t> - </a:t>
            </a:r>
            <a:r>
              <a:rPr b="1"/>
              <a:t>Compute:</a:t>
            </a:r>
            <a:r>
              <a:rPr/>
              <a:t> Azure Container Instances or AKS - </a:t>
            </a:r>
            <a:r>
              <a:rPr b="1"/>
              <a:t>Database:</a:t>
            </a:r>
            <a:r>
              <a:rPr/>
              <a:t> Azure Database for PostgreSQL - </a:t>
            </a:r>
            <a:r>
              <a:rPr b="1"/>
              <a:t>Cache:</a:t>
            </a:r>
            <a:r>
              <a:rPr/>
              <a:t> Azure Cache for Redis - </a:t>
            </a:r>
            <a:r>
              <a:rPr b="1"/>
              <a:t>Storage:</a:t>
            </a:r>
            <a:r>
              <a:rPr/>
              <a:t> Azure Blob Storage - </a:t>
            </a:r>
            <a:r>
              <a:rPr b="1"/>
              <a:t>Load Balancer:</a:t>
            </a:r>
            <a:r>
              <a:rPr/>
              <a:t> Azure Load Balancer - </a:t>
            </a:r>
            <a:r>
              <a:rPr b="1"/>
              <a:t>CDN:</a:t>
            </a:r>
            <a:r>
              <a:rPr/>
              <a:t> Azure CDN - </a:t>
            </a:r>
            <a:r>
              <a:rPr b="1"/>
              <a:t>Secrets:</a:t>
            </a:r>
            <a:r>
              <a:rPr/>
              <a:t> Azure Key Vault - </a:t>
            </a:r>
            <a:r>
              <a:rPr b="1"/>
              <a:t>Monitoring:</a:t>
            </a:r>
            <a:r>
              <a:rPr/>
              <a:t> Azure Monitor</a:t>
            </a:r>
          </a:p>
          <a:p>
            <a:pPr lvl="0" indent="0" marL="0">
              <a:buNone/>
            </a:pPr>
            <a:r>
              <a:rPr b="1"/>
              <a:t>GCP Deployment:</a:t>
            </a:r>
            <a:r>
              <a:rPr/>
              <a:t> - </a:t>
            </a:r>
            <a:r>
              <a:rPr b="1"/>
              <a:t>Compute:</a:t>
            </a:r>
            <a:r>
              <a:rPr/>
              <a:t> Cloud Run or GKE - </a:t>
            </a:r>
            <a:r>
              <a:rPr b="1"/>
              <a:t>Database:</a:t>
            </a:r>
            <a:r>
              <a:rPr/>
              <a:t> Cloud SQL for PostgreSQL - </a:t>
            </a:r>
            <a:r>
              <a:rPr b="1"/>
              <a:t>Cache:</a:t>
            </a:r>
            <a:r>
              <a:rPr/>
              <a:t> Memorystore for Redis - </a:t>
            </a:r>
            <a:r>
              <a:rPr b="1"/>
              <a:t>Storage:</a:t>
            </a:r>
            <a:r>
              <a:rPr/>
              <a:t> Cloud Storage - </a:t>
            </a:r>
            <a:r>
              <a:rPr b="1"/>
              <a:t>Load Balancer:</a:t>
            </a:r>
            <a:r>
              <a:rPr/>
              <a:t> Cloud Load Balancing - </a:t>
            </a:r>
            <a:r>
              <a:rPr b="1"/>
              <a:t>CDN:</a:t>
            </a:r>
            <a:r>
              <a:rPr/>
              <a:t> Cloud CDN - </a:t>
            </a:r>
            <a:r>
              <a:rPr b="1"/>
              <a:t>Secrets:</a:t>
            </a:r>
            <a:r>
              <a:rPr/>
              <a:t> Secret Manager - </a:t>
            </a:r>
            <a:r>
              <a:rPr b="1"/>
              <a:t>Monitoring:</a:t>
            </a:r>
            <a:r>
              <a:rPr/>
              <a:t> Cloud Monitoring</a:t>
            </a:r>
          </a:p>
          <a:p>
            <a:pPr lvl="0" indent="0" marL="0">
              <a:spcBef>
                <a:spcPts val="3000"/>
              </a:spcBef>
              <a:buNone/>
            </a:pPr>
            <a:r>
              <a:rPr b="1"/>
              <a:t>CI/CD Pipeline</a:t>
            </a:r>
          </a:p>
          <a:p>
            <a:pPr lvl="0" indent="0" marL="0">
              <a:buNone/>
            </a:pPr>
            <a:r>
              <a:rPr b="1"/>
              <a:t>GitHub Actions Example:</a:t>
            </a:r>
          </a:p>
          <a:p>
            <a:pPr lvl="0" indent="0">
              <a:buNone/>
            </a:pPr>
            <a:r>
              <a:rPr>
                <a:solidFill>
                  <a:srgbClr val="06287E"/>
                </a:solidFill>
                <a:latin typeface="Courier"/>
              </a:rPr>
              <a:t>name</a:t>
            </a:r>
            <a:r>
              <a:rPr b="1">
                <a:solidFill>
                  <a:srgbClr val="007020"/>
                </a:solidFill>
                <a:latin typeface="Courier"/>
              </a:rPr>
              <a:t>:</a:t>
            </a:r>
            <a:r>
              <a:rPr>
                <a:solidFill>
                  <a:srgbClr val="7D9029"/>
                </a:solidFill>
                <a:latin typeface="Courier"/>
              </a:rPr>
              <a:t> CI/CD Pipeline</a:t>
            </a:r>
            <a:br/>
            <a:br/>
            <a:r>
              <a:rPr>
                <a:solidFill>
                  <a:srgbClr val="06287E"/>
                </a:solidFill>
                <a:latin typeface="Courier"/>
              </a:rPr>
              <a:t>on</a:t>
            </a:r>
            <a:r>
              <a:rPr b="1">
                <a:solidFill>
                  <a:srgbClr val="007020"/>
                </a:solidFill>
                <a:latin typeface="Courier"/>
              </a:rPr>
              <a:t>:</a:t>
            </a:r>
            <a:br/>
            <a:r>
              <a:rPr>
                <a:solidFill>
                  <a:srgbClr val="7D9029"/>
                </a:solidFill>
                <a:latin typeface="Courier"/>
              </a:rPr>
              <a:t>  </a:t>
            </a:r>
            <a:r>
              <a:rPr>
                <a:solidFill>
                  <a:srgbClr val="06287E"/>
                </a:solidFill>
                <a:latin typeface="Courier"/>
              </a:rPr>
              <a:t>push</a:t>
            </a:r>
            <a:r>
              <a:rPr b="1">
                <a:solidFill>
                  <a:srgbClr val="007020"/>
                </a:solidFill>
                <a:latin typeface="Courier"/>
              </a:rPr>
              <a:t>:</a:t>
            </a:r>
            <a:br/>
            <a:r>
              <a:rPr>
                <a:solidFill>
                  <a:srgbClr val="7D9029"/>
                </a:solidFill>
                <a:latin typeface="Courier"/>
              </a:rPr>
              <a:t>    </a:t>
            </a:r>
            <a:r>
              <a:rPr>
                <a:solidFill>
                  <a:srgbClr val="06287E"/>
                </a:solidFill>
                <a:latin typeface="Courier"/>
              </a:rPr>
              <a:t>branches</a:t>
            </a:r>
            <a:r>
              <a:rPr b="1">
                <a:solidFill>
                  <a:srgbClr val="007020"/>
                </a:solidFill>
                <a:latin typeface="Courier"/>
              </a:rPr>
              <a:t>:</a:t>
            </a:r>
            <a:r>
              <a:rPr>
                <a:solidFill>
                  <a:srgbClr val="7D9029"/>
                </a:solidFill>
                <a:latin typeface="Courier"/>
              </a:rPr>
              <a:t> </a:t>
            </a:r>
            <a:r>
              <a:rPr b="1">
                <a:solidFill>
                  <a:srgbClr val="007020"/>
                </a:solidFill>
                <a:latin typeface="Courier"/>
              </a:rPr>
              <a:t>[</a:t>
            </a:r>
            <a:r>
              <a:rPr>
                <a:solidFill>
                  <a:srgbClr val="7D9029"/>
                </a:solidFill>
                <a:latin typeface="Courier"/>
              </a:rPr>
              <a:t>main</a:t>
            </a:r>
            <a:r>
              <a:rPr b="1">
                <a:solidFill>
                  <a:srgbClr val="007020"/>
                </a:solidFill>
                <a:latin typeface="Courier"/>
              </a:rPr>
              <a:t>,</a:t>
            </a:r>
            <a:r>
              <a:rPr>
                <a:solidFill>
                  <a:srgbClr val="7D9029"/>
                </a:solidFill>
                <a:latin typeface="Courier"/>
              </a:rPr>
              <a:t> develop</a:t>
            </a:r>
            <a:r>
              <a:rPr b="1">
                <a:solidFill>
                  <a:srgbClr val="007020"/>
                </a:solidFill>
                <a:latin typeface="Courier"/>
              </a:rPr>
              <a:t>]</a:t>
            </a:r>
            <a:br/>
            <a:r>
              <a:rPr>
                <a:solidFill>
                  <a:srgbClr val="7D9029"/>
                </a:solidFill>
                <a:latin typeface="Courier"/>
              </a:rPr>
              <a:t>  </a:t>
            </a:r>
            <a:r>
              <a:rPr>
                <a:solidFill>
                  <a:srgbClr val="06287E"/>
                </a:solidFill>
                <a:latin typeface="Courier"/>
              </a:rPr>
              <a:t>pull_request</a:t>
            </a:r>
            <a:r>
              <a:rPr b="1">
                <a:solidFill>
                  <a:srgbClr val="007020"/>
                </a:solidFill>
                <a:latin typeface="Courier"/>
              </a:rPr>
              <a:t>:</a:t>
            </a:r>
            <a:br/>
            <a:r>
              <a:rPr>
                <a:solidFill>
                  <a:srgbClr val="7D9029"/>
                </a:solidFill>
                <a:latin typeface="Courier"/>
              </a:rPr>
              <a:t>    </a:t>
            </a:r>
            <a:r>
              <a:rPr>
                <a:solidFill>
                  <a:srgbClr val="06287E"/>
                </a:solidFill>
                <a:latin typeface="Courier"/>
              </a:rPr>
              <a:t>branches</a:t>
            </a:r>
            <a:r>
              <a:rPr b="1">
                <a:solidFill>
                  <a:srgbClr val="007020"/>
                </a:solidFill>
                <a:latin typeface="Courier"/>
              </a:rPr>
              <a:t>:</a:t>
            </a:r>
            <a:r>
              <a:rPr>
                <a:solidFill>
                  <a:srgbClr val="7D9029"/>
                </a:solidFill>
                <a:latin typeface="Courier"/>
              </a:rPr>
              <a:t> </a:t>
            </a:r>
            <a:r>
              <a:rPr b="1">
                <a:solidFill>
                  <a:srgbClr val="007020"/>
                </a:solidFill>
                <a:latin typeface="Courier"/>
              </a:rPr>
              <a:t>[</a:t>
            </a:r>
            <a:r>
              <a:rPr>
                <a:solidFill>
                  <a:srgbClr val="7D9029"/>
                </a:solidFill>
                <a:latin typeface="Courier"/>
              </a:rPr>
              <a:t>main</a:t>
            </a:r>
            <a:r>
              <a:rPr b="1">
                <a:solidFill>
                  <a:srgbClr val="007020"/>
                </a:solidFill>
                <a:latin typeface="Courier"/>
              </a:rPr>
              <a:t>]</a:t>
            </a:r>
            <a:br/>
            <a:br/>
            <a:r>
              <a:rPr>
                <a:solidFill>
                  <a:srgbClr val="06287E"/>
                </a:solidFill>
                <a:latin typeface="Courier"/>
              </a:rPr>
              <a:t>jobs</a:t>
            </a:r>
            <a:r>
              <a:rPr b="1">
                <a:solidFill>
                  <a:srgbClr val="007020"/>
                </a:solidFill>
                <a:latin typeface="Courier"/>
              </a:rPr>
              <a:t>:</a:t>
            </a:r>
            <a:br/>
            <a:r>
              <a:rPr>
                <a:solidFill>
                  <a:srgbClr val="7D9029"/>
                </a:solidFill>
                <a:latin typeface="Courier"/>
              </a:rPr>
              <a:t>  </a:t>
            </a:r>
            <a:r>
              <a:rPr>
                <a:solidFill>
                  <a:srgbClr val="06287E"/>
                </a:solidFill>
                <a:latin typeface="Courier"/>
              </a:rPr>
              <a:t>test</a:t>
            </a:r>
            <a:r>
              <a:rPr b="1">
                <a:solidFill>
                  <a:srgbClr val="007020"/>
                </a:solidFill>
                <a:latin typeface="Courier"/>
              </a:rPr>
              <a:t>:</a:t>
            </a:r>
            <a:br/>
            <a:r>
              <a:rPr>
                <a:solidFill>
                  <a:srgbClr val="7D9029"/>
                </a:solidFill>
                <a:latin typeface="Courier"/>
              </a:rPr>
              <a:t>    </a:t>
            </a:r>
            <a:r>
              <a:rPr>
                <a:solidFill>
                  <a:srgbClr val="06287E"/>
                </a:solidFill>
                <a:latin typeface="Courier"/>
              </a:rPr>
              <a:t>runs-on</a:t>
            </a:r>
            <a:r>
              <a:rPr b="1">
                <a:solidFill>
                  <a:srgbClr val="007020"/>
                </a:solidFill>
                <a:latin typeface="Courier"/>
              </a:rPr>
              <a:t>:</a:t>
            </a:r>
            <a:r>
              <a:rPr>
                <a:solidFill>
                  <a:srgbClr val="7D9029"/>
                </a:solidFill>
                <a:latin typeface="Courier"/>
              </a:rPr>
              <a:t> ubuntu-latest</a:t>
            </a:r>
            <a:br/>
            <a:r>
              <a:rPr>
                <a:solidFill>
                  <a:srgbClr val="7D9029"/>
                </a:solidFill>
                <a:latin typeface="Courier"/>
              </a:rPr>
              <a:t>    </a:t>
            </a:r>
            <a:r>
              <a:rPr>
                <a:solidFill>
                  <a:srgbClr val="06287E"/>
                </a:solidFill>
                <a:latin typeface="Courier"/>
              </a:rPr>
              <a:t>steps</a:t>
            </a:r>
            <a:r>
              <a:rPr b="1">
                <a:solidFill>
                  <a:srgbClr val="007020"/>
                </a:solidFill>
                <a:latin typeface="Courier"/>
              </a:rPr>
              <a:t>:</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06287E"/>
                </a:solidFill>
                <a:latin typeface="Courier"/>
              </a:rPr>
              <a:t>uses</a:t>
            </a:r>
            <a:r>
              <a:rPr b="1">
                <a:solidFill>
                  <a:srgbClr val="007020"/>
                </a:solidFill>
                <a:latin typeface="Courier"/>
              </a:rPr>
              <a:t>:</a:t>
            </a:r>
            <a:r>
              <a:rPr>
                <a:solidFill>
                  <a:srgbClr val="7D9029"/>
                </a:solidFill>
                <a:latin typeface="Courier"/>
              </a:rPr>
              <a:t> actions/checkout@v3</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06287E"/>
                </a:solidFill>
                <a:latin typeface="Courier"/>
              </a:rPr>
              <a:t>name</a:t>
            </a:r>
            <a:r>
              <a:rPr b="1">
                <a:solidFill>
                  <a:srgbClr val="007020"/>
                </a:solidFill>
                <a:latin typeface="Courier"/>
              </a:rPr>
              <a:t>:</a:t>
            </a:r>
            <a:r>
              <a:rPr>
                <a:solidFill>
                  <a:srgbClr val="7D9029"/>
                </a:solidFill>
                <a:latin typeface="Courier"/>
              </a:rPr>
              <a:t> Setup Node.js</a:t>
            </a:r>
            <a:br/>
            <a:r>
              <a:rPr>
                <a:solidFill>
                  <a:srgbClr val="7D9029"/>
                </a:solidFill>
                <a:latin typeface="Courier"/>
              </a:rPr>
              <a:t>        </a:t>
            </a:r>
            <a:r>
              <a:rPr>
                <a:solidFill>
                  <a:srgbClr val="06287E"/>
                </a:solidFill>
                <a:latin typeface="Courier"/>
              </a:rPr>
              <a:t>uses</a:t>
            </a:r>
            <a:r>
              <a:rPr b="1">
                <a:solidFill>
                  <a:srgbClr val="007020"/>
                </a:solidFill>
                <a:latin typeface="Courier"/>
              </a:rPr>
              <a:t>:</a:t>
            </a:r>
            <a:r>
              <a:rPr>
                <a:solidFill>
                  <a:srgbClr val="7D9029"/>
                </a:solidFill>
                <a:latin typeface="Courier"/>
              </a:rPr>
              <a:t> actions/setup-node@v3</a:t>
            </a:r>
            <a:br/>
            <a:r>
              <a:rPr>
                <a:solidFill>
                  <a:srgbClr val="7D9029"/>
                </a:solidFill>
                <a:latin typeface="Courier"/>
              </a:rPr>
              <a:t>        </a:t>
            </a:r>
            <a:r>
              <a:rPr>
                <a:solidFill>
                  <a:srgbClr val="06287E"/>
                </a:solidFill>
                <a:latin typeface="Courier"/>
              </a:rPr>
              <a:t>with</a:t>
            </a:r>
            <a:r>
              <a:rPr b="1">
                <a:solidFill>
                  <a:srgbClr val="007020"/>
                </a:solidFill>
                <a:latin typeface="Courier"/>
              </a:rPr>
              <a:t>:</a:t>
            </a:r>
            <a:br/>
            <a:r>
              <a:rPr>
                <a:solidFill>
                  <a:srgbClr val="7D9029"/>
                </a:solidFill>
                <a:latin typeface="Courier"/>
              </a:rPr>
              <a:t>          </a:t>
            </a:r>
            <a:r>
              <a:rPr>
                <a:solidFill>
                  <a:srgbClr val="06287E"/>
                </a:solidFill>
                <a:latin typeface="Courier"/>
              </a:rPr>
              <a:t>node-version</a:t>
            </a:r>
            <a:r>
              <a:rPr b="1">
                <a:solidFill>
                  <a:srgbClr val="007020"/>
                </a:solidFill>
                <a:latin typeface="Courier"/>
              </a:rPr>
              <a:t>:</a:t>
            </a:r>
            <a:r>
              <a:rPr>
                <a:solidFill>
                  <a:srgbClr val="7D9029"/>
                </a:solidFill>
                <a:latin typeface="Courier"/>
              </a:rPr>
              <a:t> </a:t>
            </a:r>
            <a:r>
              <a:rPr>
                <a:solidFill>
                  <a:srgbClr val="4070A0"/>
                </a:solidFill>
                <a:latin typeface="Courier"/>
              </a:rPr>
              <a:t>'20'</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06287E"/>
                </a:solidFill>
                <a:latin typeface="Courier"/>
              </a:rPr>
              <a:t>name</a:t>
            </a:r>
            <a:r>
              <a:rPr b="1">
                <a:solidFill>
                  <a:srgbClr val="007020"/>
                </a:solidFill>
                <a:latin typeface="Courier"/>
              </a:rPr>
              <a:t>:</a:t>
            </a:r>
            <a:r>
              <a:rPr>
                <a:solidFill>
                  <a:srgbClr val="7D9029"/>
                </a:solidFill>
                <a:latin typeface="Courier"/>
              </a:rPr>
              <a:t> Install dependencies</a:t>
            </a:r>
            <a:br/>
            <a:r>
              <a:rPr>
                <a:solidFill>
                  <a:srgbClr val="7D9029"/>
                </a:solidFill>
                <a:latin typeface="Courier"/>
              </a:rPr>
              <a:t>        </a:t>
            </a:r>
            <a:r>
              <a:rPr>
                <a:solidFill>
                  <a:srgbClr val="06287E"/>
                </a:solidFill>
                <a:latin typeface="Courier"/>
              </a:rPr>
              <a:t>run</a:t>
            </a:r>
            <a:r>
              <a:rPr b="1">
                <a:solidFill>
                  <a:srgbClr val="007020"/>
                </a:solidFill>
                <a:latin typeface="Courier"/>
              </a:rPr>
              <a:t>:</a:t>
            </a:r>
            <a:r>
              <a:rPr>
                <a:solidFill>
                  <a:srgbClr val="7D9029"/>
                </a:solidFill>
                <a:latin typeface="Courier"/>
              </a:rPr>
              <a:t> npm ci</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06287E"/>
                </a:solidFill>
                <a:latin typeface="Courier"/>
              </a:rPr>
              <a:t>name</a:t>
            </a:r>
            <a:r>
              <a:rPr b="1">
                <a:solidFill>
                  <a:srgbClr val="007020"/>
                </a:solidFill>
                <a:latin typeface="Courier"/>
              </a:rPr>
              <a:t>:</a:t>
            </a:r>
            <a:r>
              <a:rPr>
                <a:solidFill>
                  <a:srgbClr val="7D9029"/>
                </a:solidFill>
                <a:latin typeface="Courier"/>
              </a:rPr>
              <a:t> Run tests</a:t>
            </a:r>
            <a:br/>
            <a:r>
              <a:rPr>
                <a:solidFill>
                  <a:srgbClr val="7D9029"/>
                </a:solidFill>
                <a:latin typeface="Courier"/>
              </a:rPr>
              <a:t>        </a:t>
            </a:r>
            <a:r>
              <a:rPr>
                <a:solidFill>
                  <a:srgbClr val="06287E"/>
                </a:solidFill>
                <a:latin typeface="Courier"/>
              </a:rPr>
              <a:t>run</a:t>
            </a:r>
            <a:r>
              <a:rPr b="1">
                <a:solidFill>
                  <a:srgbClr val="007020"/>
                </a:solidFill>
                <a:latin typeface="Courier"/>
              </a:rPr>
              <a:t>:</a:t>
            </a:r>
            <a:r>
              <a:rPr>
                <a:solidFill>
                  <a:srgbClr val="7D9029"/>
                </a:solidFill>
                <a:latin typeface="Courier"/>
              </a:rPr>
              <a:t> npm test</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06287E"/>
                </a:solidFill>
                <a:latin typeface="Courier"/>
              </a:rPr>
              <a:t>name</a:t>
            </a:r>
            <a:r>
              <a:rPr b="1">
                <a:solidFill>
                  <a:srgbClr val="007020"/>
                </a:solidFill>
                <a:latin typeface="Courier"/>
              </a:rPr>
              <a:t>:</a:t>
            </a:r>
            <a:r>
              <a:rPr>
                <a:solidFill>
                  <a:srgbClr val="7D9029"/>
                </a:solidFill>
                <a:latin typeface="Courier"/>
              </a:rPr>
              <a:t> Run linting</a:t>
            </a:r>
            <a:br/>
            <a:r>
              <a:rPr>
                <a:solidFill>
                  <a:srgbClr val="7D9029"/>
                </a:solidFill>
                <a:latin typeface="Courier"/>
              </a:rPr>
              <a:t>        </a:t>
            </a:r>
            <a:r>
              <a:rPr>
                <a:solidFill>
                  <a:srgbClr val="06287E"/>
                </a:solidFill>
                <a:latin typeface="Courier"/>
              </a:rPr>
              <a:t>run</a:t>
            </a:r>
            <a:r>
              <a:rPr b="1">
                <a:solidFill>
                  <a:srgbClr val="007020"/>
                </a:solidFill>
                <a:latin typeface="Courier"/>
              </a:rPr>
              <a:t>:</a:t>
            </a:r>
            <a:r>
              <a:rPr>
                <a:solidFill>
                  <a:srgbClr val="7D9029"/>
                </a:solidFill>
                <a:latin typeface="Courier"/>
              </a:rPr>
              <a:t> npm run lint</a:t>
            </a:r>
            <a:br/>
            <a:br/>
            <a:r>
              <a:rPr>
                <a:solidFill>
                  <a:srgbClr val="7D9029"/>
                </a:solidFill>
                <a:latin typeface="Courier"/>
              </a:rPr>
              <a:t>  </a:t>
            </a:r>
            <a:r>
              <a:rPr>
                <a:solidFill>
                  <a:srgbClr val="06287E"/>
                </a:solidFill>
                <a:latin typeface="Courier"/>
              </a:rPr>
              <a:t>build</a:t>
            </a:r>
            <a:r>
              <a:rPr b="1">
                <a:solidFill>
                  <a:srgbClr val="007020"/>
                </a:solidFill>
                <a:latin typeface="Courier"/>
              </a:rPr>
              <a:t>:</a:t>
            </a:r>
            <a:br/>
            <a:r>
              <a:rPr>
                <a:solidFill>
                  <a:srgbClr val="7D9029"/>
                </a:solidFill>
                <a:latin typeface="Courier"/>
              </a:rPr>
              <a:t>    </a:t>
            </a:r>
            <a:r>
              <a:rPr>
                <a:solidFill>
                  <a:srgbClr val="06287E"/>
                </a:solidFill>
                <a:latin typeface="Courier"/>
              </a:rPr>
              <a:t>needs</a:t>
            </a:r>
            <a:r>
              <a:rPr b="1">
                <a:solidFill>
                  <a:srgbClr val="007020"/>
                </a:solidFill>
                <a:latin typeface="Courier"/>
              </a:rPr>
              <a:t>:</a:t>
            </a:r>
            <a:r>
              <a:rPr>
                <a:solidFill>
                  <a:srgbClr val="7D9029"/>
                </a:solidFill>
                <a:latin typeface="Courier"/>
              </a:rPr>
              <a:t> test</a:t>
            </a:r>
            <a:br/>
            <a:r>
              <a:rPr>
                <a:solidFill>
                  <a:srgbClr val="7D9029"/>
                </a:solidFill>
                <a:latin typeface="Courier"/>
              </a:rPr>
              <a:t>    </a:t>
            </a:r>
            <a:r>
              <a:rPr>
                <a:solidFill>
                  <a:srgbClr val="06287E"/>
                </a:solidFill>
                <a:latin typeface="Courier"/>
              </a:rPr>
              <a:t>runs-on</a:t>
            </a:r>
            <a:r>
              <a:rPr b="1">
                <a:solidFill>
                  <a:srgbClr val="007020"/>
                </a:solidFill>
                <a:latin typeface="Courier"/>
              </a:rPr>
              <a:t>:</a:t>
            </a:r>
            <a:r>
              <a:rPr>
                <a:solidFill>
                  <a:srgbClr val="7D9029"/>
                </a:solidFill>
                <a:latin typeface="Courier"/>
              </a:rPr>
              <a:t> ubuntu-latest</a:t>
            </a:r>
            <a:br/>
            <a:r>
              <a:rPr>
                <a:solidFill>
                  <a:srgbClr val="7D9029"/>
                </a:solidFill>
                <a:latin typeface="Courier"/>
              </a:rPr>
              <a:t>    </a:t>
            </a:r>
            <a:r>
              <a:rPr>
                <a:solidFill>
                  <a:srgbClr val="06287E"/>
                </a:solidFill>
                <a:latin typeface="Courier"/>
              </a:rPr>
              <a:t>steps</a:t>
            </a:r>
            <a:r>
              <a:rPr b="1">
                <a:solidFill>
                  <a:srgbClr val="007020"/>
                </a:solidFill>
                <a:latin typeface="Courier"/>
              </a:rPr>
              <a:t>:</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06287E"/>
                </a:solidFill>
                <a:latin typeface="Courier"/>
              </a:rPr>
              <a:t>uses</a:t>
            </a:r>
            <a:r>
              <a:rPr b="1">
                <a:solidFill>
                  <a:srgbClr val="007020"/>
                </a:solidFill>
                <a:latin typeface="Courier"/>
              </a:rPr>
              <a:t>:</a:t>
            </a:r>
            <a:r>
              <a:rPr>
                <a:solidFill>
                  <a:srgbClr val="7D9029"/>
                </a:solidFill>
                <a:latin typeface="Courier"/>
              </a:rPr>
              <a:t> actions/checkout@v3</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06287E"/>
                </a:solidFill>
                <a:latin typeface="Courier"/>
              </a:rPr>
              <a:t>name</a:t>
            </a:r>
            <a:r>
              <a:rPr b="1">
                <a:solidFill>
                  <a:srgbClr val="007020"/>
                </a:solidFill>
                <a:latin typeface="Courier"/>
              </a:rPr>
              <a:t>:</a:t>
            </a:r>
            <a:r>
              <a:rPr>
                <a:solidFill>
                  <a:srgbClr val="7D9029"/>
                </a:solidFill>
                <a:latin typeface="Courier"/>
              </a:rPr>
              <a:t> Build Docker image</a:t>
            </a:r>
            <a:br/>
            <a:r>
              <a:rPr>
                <a:solidFill>
                  <a:srgbClr val="7D9029"/>
                </a:solidFill>
                <a:latin typeface="Courier"/>
              </a:rPr>
              <a:t>        </a:t>
            </a:r>
            <a:r>
              <a:rPr>
                <a:solidFill>
                  <a:srgbClr val="06287E"/>
                </a:solidFill>
                <a:latin typeface="Courier"/>
              </a:rPr>
              <a:t>run</a:t>
            </a:r>
            <a:r>
              <a:rPr b="1">
                <a:solidFill>
                  <a:srgbClr val="007020"/>
                </a:solidFill>
                <a:latin typeface="Courier"/>
              </a:rPr>
              <a:t>:</a:t>
            </a:r>
            <a:r>
              <a:rPr>
                <a:solidFill>
                  <a:srgbClr val="7D9029"/>
                </a:solidFill>
                <a:latin typeface="Courier"/>
              </a:rPr>
              <a:t> docker build -t hospital-management:${{ github.sha }} .</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06287E"/>
                </a:solidFill>
                <a:latin typeface="Courier"/>
              </a:rPr>
              <a:t>name</a:t>
            </a:r>
            <a:r>
              <a:rPr b="1">
                <a:solidFill>
                  <a:srgbClr val="007020"/>
                </a:solidFill>
                <a:latin typeface="Courier"/>
              </a:rPr>
              <a:t>:</a:t>
            </a:r>
            <a:r>
              <a:rPr>
                <a:solidFill>
                  <a:srgbClr val="7D9029"/>
                </a:solidFill>
                <a:latin typeface="Courier"/>
              </a:rPr>
              <a:t> Push to ECR</a:t>
            </a:r>
            <a:br/>
            <a:r>
              <a:rPr>
                <a:solidFill>
                  <a:srgbClr val="06287E"/>
                </a:solidFill>
                <a:latin typeface="Courier"/>
              </a:rPr>
              <a:t>        run</a:t>
            </a:r>
            <a:r>
              <a:rPr b="1">
                <a:solidFill>
                  <a:srgbClr val="007020"/>
                </a:solidFill>
                <a:latin typeface="Courier"/>
              </a:rPr>
              <a:t>: </a:t>
            </a:r>
            <a:r>
              <a:rPr>
                <a:solidFill>
                  <a:srgbClr val="4070A0"/>
                </a:solidFill>
                <a:latin typeface="Courier"/>
              </a:rPr>
              <a:t>|</a:t>
            </a:r>
            <a:br/>
            <a:r>
              <a:rPr>
                <a:latin typeface="Courier"/>
              </a:rPr>
              <a:t>          aws ecr get-login-password | docker login --username AWS --password-stdin $ECR_URL</a:t>
            </a:r>
            <a:br/>
            <a:r>
              <a:rPr>
                <a:latin typeface="Courier"/>
              </a:rPr>
              <a:t>          docker tag hospital-management:${{ github.sha }} $ECR_URL:latest</a:t>
            </a:r>
            <a:br/>
            <a:r>
              <a:rPr>
                <a:latin typeface="Courier"/>
              </a:rPr>
              <a:t>          docker push $ECR_URL:latest</a:t>
            </a:r>
            <a:br/>
            <a:br/>
            <a:r>
              <a:rPr>
                <a:solidFill>
                  <a:srgbClr val="7D9029"/>
                </a:solidFill>
                <a:latin typeface="Courier"/>
              </a:rPr>
              <a:t>  </a:t>
            </a:r>
            <a:r>
              <a:rPr>
                <a:solidFill>
                  <a:srgbClr val="06287E"/>
                </a:solidFill>
                <a:latin typeface="Courier"/>
              </a:rPr>
              <a:t>deploy</a:t>
            </a:r>
            <a:r>
              <a:rPr b="1">
                <a:solidFill>
                  <a:srgbClr val="007020"/>
                </a:solidFill>
                <a:latin typeface="Courier"/>
              </a:rPr>
              <a:t>:</a:t>
            </a:r>
            <a:br/>
            <a:r>
              <a:rPr>
                <a:solidFill>
                  <a:srgbClr val="7D9029"/>
                </a:solidFill>
                <a:latin typeface="Courier"/>
              </a:rPr>
              <a:t>    </a:t>
            </a:r>
            <a:r>
              <a:rPr>
                <a:solidFill>
                  <a:srgbClr val="06287E"/>
                </a:solidFill>
                <a:latin typeface="Courier"/>
              </a:rPr>
              <a:t>needs</a:t>
            </a:r>
            <a:r>
              <a:rPr b="1">
                <a:solidFill>
                  <a:srgbClr val="007020"/>
                </a:solidFill>
                <a:latin typeface="Courier"/>
              </a:rPr>
              <a:t>:</a:t>
            </a:r>
            <a:r>
              <a:rPr>
                <a:solidFill>
                  <a:srgbClr val="7D9029"/>
                </a:solidFill>
                <a:latin typeface="Courier"/>
              </a:rPr>
              <a:t> build</a:t>
            </a:r>
            <a:br/>
            <a:r>
              <a:rPr>
                <a:solidFill>
                  <a:srgbClr val="7D9029"/>
                </a:solidFill>
                <a:latin typeface="Courier"/>
              </a:rPr>
              <a:t>    </a:t>
            </a:r>
            <a:r>
              <a:rPr>
                <a:solidFill>
                  <a:srgbClr val="06287E"/>
                </a:solidFill>
                <a:latin typeface="Courier"/>
              </a:rPr>
              <a:t>runs-on</a:t>
            </a:r>
            <a:r>
              <a:rPr b="1">
                <a:solidFill>
                  <a:srgbClr val="007020"/>
                </a:solidFill>
                <a:latin typeface="Courier"/>
              </a:rPr>
              <a:t>:</a:t>
            </a:r>
            <a:r>
              <a:rPr>
                <a:solidFill>
                  <a:srgbClr val="7D9029"/>
                </a:solidFill>
                <a:latin typeface="Courier"/>
              </a:rPr>
              <a:t> ubuntu-latest</a:t>
            </a:r>
            <a:br/>
            <a:r>
              <a:rPr>
                <a:solidFill>
                  <a:srgbClr val="7D9029"/>
                </a:solidFill>
                <a:latin typeface="Courier"/>
              </a:rPr>
              <a:t>    </a:t>
            </a:r>
            <a:r>
              <a:rPr>
                <a:solidFill>
                  <a:srgbClr val="06287E"/>
                </a:solidFill>
                <a:latin typeface="Courier"/>
              </a:rPr>
              <a:t>if</a:t>
            </a:r>
            <a:r>
              <a:rPr b="1">
                <a:solidFill>
                  <a:srgbClr val="007020"/>
                </a:solidFill>
                <a:latin typeface="Courier"/>
              </a:rPr>
              <a:t>:</a:t>
            </a:r>
            <a:r>
              <a:rPr>
                <a:solidFill>
                  <a:srgbClr val="7D9029"/>
                </a:solidFill>
                <a:latin typeface="Courier"/>
              </a:rPr>
              <a:t> github.ref == 'refs/heads/main'</a:t>
            </a:r>
            <a:br/>
            <a:r>
              <a:rPr>
                <a:solidFill>
                  <a:srgbClr val="7D9029"/>
                </a:solidFill>
                <a:latin typeface="Courier"/>
              </a:rPr>
              <a:t>    </a:t>
            </a:r>
            <a:r>
              <a:rPr>
                <a:solidFill>
                  <a:srgbClr val="06287E"/>
                </a:solidFill>
                <a:latin typeface="Courier"/>
              </a:rPr>
              <a:t>steps</a:t>
            </a:r>
            <a:r>
              <a:rPr b="1">
                <a:solidFill>
                  <a:srgbClr val="007020"/>
                </a:solidFill>
                <a:latin typeface="Courier"/>
              </a:rPr>
              <a:t>:</a:t>
            </a:r>
            <a:br/>
            <a:r>
              <a:rPr>
                <a:solidFill>
                  <a:srgbClr val="7D9029"/>
                </a:solidFill>
                <a:latin typeface="Courier"/>
              </a:rPr>
              <a:t>      </a:t>
            </a:r>
            <a:r>
              <a:rPr b="1">
                <a:solidFill>
                  <a:srgbClr val="007020"/>
                </a:solidFill>
                <a:latin typeface="Courier"/>
              </a:rPr>
              <a:t>-</a:t>
            </a:r>
            <a:r>
              <a:rPr>
                <a:solidFill>
                  <a:srgbClr val="7D9029"/>
                </a:solidFill>
                <a:latin typeface="Courier"/>
              </a:rPr>
              <a:t> </a:t>
            </a:r>
            <a:r>
              <a:rPr>
                <a:solidFill>
                  <a:srgbClr val="06287E"/>
                </a:solidFill>
                <a:latin typeface="Courier"/>
              </a:rPr>
              <a:t>name</a:t>
            </a:r>
            <a:r>
              <a:rPr b="1">
                <a:solidFill>
                  <a:srgbClr val="007020"/>
                </a:solidFill>
                <a:latin typeface="Courier"/>
              </a:rPr>
              <a:t>:</a:t>
            </a:r>
            <a:r>
              <a:rPr>
                <a:solidFill>
                  <a:srgbClr val="7D9029"/>
                </a:solidFill>
                <a:latin typeface="Courier"/>
              </a:rPr>
              <a:t> Deploy to ECS</a:t>
            </a:r>
            <a:br/>
            <a:r>
              <a:rPr>
                <a:solidFill>
                  <a:srgbClr val="06287E"/>
                </a:solidFill>
                <a:latin typeface="Courier"/>
              </a:rPr>
              <a:t>        run</a:t>
            </a:r>
            <a:r>
              <a:rPr b="1">
                <a:solidFill>
                  <a:srgbClr val="007020"/>
                </a:solidFill>
                <a:latin typeface="Courier"/>
              </a:rPr>
              <a:t>: </a:t>
            </a:r>
            <a:r>
              <a:rPr>
                <a:solidFill>
                  <a:srgbClr val="4070A0"/>
                </a:solidFill>
                <a:latin typeface="Courier"/>
              </a:rPr>
              <a:t>|</a:t>
            </a:r>
            <a:br/>
            <a:r>
              <a:rPr>
                <a:latin typeface="Courier"/>
              </a:rPr>
              <a:t>          aws ecs update-service --cluster production --service hospital-mgmt --force-new-deployment</a:t>
            </a:r>
          </a:p>
          <a:p>
            <a:pPr lvl="0" indent="0" marL="0">
              <a:spcBef>
                <a:spcPts val="3000"/>
              </a:spcBef>
              <a:buNone/>
            </a:pPr>
            <a:r>
              <a:rPr b="1"/>
              <a:t>Environment Configuration</a:t>
            </a:r>
          </a:p>
          <a:p>
            <a:pPr lvl="0" indent="0" marL="0">
              <a:buNone/>
            </a:pPr>
            <a:r>
              <a:rPr b="1"/>
              <a:t>Environment Variables:</a:t>
            </a:r>
          </a:p>
          <a:p>
            <a:pPr lvl="0" indent="0">
              <a:buNone/>
            </a:pPr>
            <a:r>
              <a:rPr i="1">
                <a:solidFill>
                  <a:srgbClr val="60A0B0"/>
                </a:solidFill>
                <a:latin typeface="Courier"/>
              </a:rPr>
              <a:t># Application</a:t>
            </a:r>
            <a:br/>
            <a:r>
              <a:rPr>
                <a:solidFill>
                  <a:srgbClr val="19177C"/>
                </a:solidFill>
                <a:latin typeface="Courier"/>
              </a:rPr>
              <a:t>NODE_ENV</a:t>
            </a:r>
            <a:r>
              <a:rPr>
                <a:solidFill>
                  <a:srgbClr val="666666"/>
                </a:solidFill>
                <a:latin typeface="Courier"/>
              </a:rPr>
              <a:t>=</a:t>
            </a:r>
            <a:r>
              <a:rPr>
                <a:latin typeface="Courier"/>
              </a:rPr>
              <a:t>production</a:t>
            </a:r>
            <a:br/>
            <a:r>
              <a:rPr>
                <a:solidFill>
                  <a:srgbClr val="19177C"/>
                </a:solidFill>
                <a:latin typeface="Courier"/>
              </a:rPr>
              <a:t>PORT</a:t>
            </a:r>
            <a:r>
              <a:rPr>
                <a:solidFill>
                  <a:srgbClr val="666666"/>
                </a:solidFill>
                <a:latin typeface="Courier"/>
              </a:rPr>
              <a:t>=</a:t>
            </a:r>
            <a:r>
              <a:rPr>
                <a:latin typeface="Courier"/>
              </a:rPr>
              <a:t>5000</a:t>
            </a:r>
            <a:br/>
            <a:r>
              <a:rPr>
                <a:solidFill>
                  <a:srgbClr val="19177C"/>
                </a:solidFill>
                <a:latin typeface="Courier"/>
              </a:rPr>
              <a:t>FRONTEND_URL</a:t>
            </a:r>
            <a:r>
              <a:rPr>
                <a:solidFill>
                  <a:srgbClr val="666666"/>
                </a:solidFill>
                <a:latin typeface="Courier"/>
              </a:rPr>
              <a:t>=</a:t>
            </a:r>
            <a:r>
              <a:rPr>
                <a:latin typeface="Courier"/>
              </a:rPr>
              <a:t>https://hospital.example.com</a:t>
            </a:r>
            <a:br/>
            <a:br/>
            <a:r>
              <a:rPr i="1">
                <a:solidFill>
                  <a:srgbClr val="60A0B0"/>
                </a:solidFill>
                <a:latin typeface="Courier"/>
              </a:rPr>
              <a:t># Database</a:t>
            </a:r>
            <a:br/>
            <a:r>
              <a:rPr>
                <a:solidFill>
                  <a:srgbClr val="19177C"/>
                </a:solidFill>
                <a:latin typeface="Courier"/>
              </a:rPr>
              <a:t>DB_HOST</a:t>
            </a:r>
            <a:r>
              <a:rPr>
                <a:solidFill>
                  <a:srgbClr val="666666"/>
                </a:solidFill>
                <a:latin typeface="Courier"/>
              </a:rPr>
              <a:t>=</a:t>
            </a:r>
            <a:r>
              <a:rPr>
                <a:latin typeface="Courier"/>
              </a:rPr>
              <a:t>postgres.internal</a:t>
            </a:r>
            <a:br/>
            <a:r>
              <a:rPr>
                <a:solidFill>
                  <a:srgbClr val="19177C"/>
                </a:solidFill>
                <a:latin typeface="Courier"/>
              </a:rPr>
              <a:t>DB_PORT</a:t>
            </a:r>
            <a:r>
              <a:rPr>
                <a:solidFill>
                  <a:srgbClr val="666666"/>
                </a:solidFill>
                <a:latin typeface="Courier"/>
              </a:rPr>
              <a:t>=</a:t>
            </a:r>
            <a:r>
              <a:rPr>
                <a:latin typeface="Courier"/>
              </a:rPr>
              <a:t>5432</a:t>
            </a:r>
            <a:br/>
            <a:r>
              <a:rPr>
                <a:solidFill>
                  <a:srgbClr val="19177C"/>
                </a:solidFill>
                <a:latin typeface="Courier"/>
              </a:rPr>
              <a:t>DB_NAME</a:t>
            </a:r>
            <a:r>
              <a:rPr>
                <a:solidFill>
                  <a:srgbClr val="666666"/>
                </a:solidFill>
                <a:latin typeface="Courier"/>
              </a:rPr>
              <a:t>=</a:t>
            </a:r>
            <a:r>
              <a:rPr>
                <a:latin typeface="Courier"/>
              </a:rPr>
              <a:t>hospital_db</a:t>
            </a:r>
            <a:br/>
            <a:r>
              <a:rPr>
                <a:solidFill>
                  <a:srgbClr val="19177C"/>
                </a:solidFill>
                <a:latin typeface="Courier"/>
              </a:rPr>
              <a:t>DB_USER</a:t>
            </a:r>
            <a:r>
              <a:rPr>
                <a:solidFill>
                  <a:srgbClr val="666666"/>
                </a:solidFill>
                <a:latin typeface="Courier"/>
              </a:rPr>
              <a:t>=</a:t>
            </a:r>
            <a:r>
              <a:rPr>
                <a:latin typeface="Courier"/>
              </a:rPr>
              <a:t>hospital_app</a:t>
            </a:r>
            <a:br/>
            <a:r>
              <a:rPr>
                <a:solidFill>
                  <a:srgbClr val="19177C"/>
                </a:solidFill>
                <a:latin typeface="Courier"/>
              </a:rPr>
              <a:t>DB_PASSWORD</a:t>
            </a:r>
            <a:r>
              <a:rPr>
                <a:solidFill>
                  <a:srgbClr val="666666"/>
                </a:solidFill>
                <a:latin typeface="Courier"/>
              </a:rPr>
              <a:t>=&lt;</a:t>
            </a:r>
            <a:r>
              <a:rPr>
                <a:latin typeface="Courier"/>
              </a:rPr>
              <a:t>secret</a:t>
            </a:r>
            <a:r>
              <a:rPr>
                <a:solidFill>
                  <a:srgbClr val="666666"/>
                </a:solidFill>
                <a:latin typeface="Courier"/>
              </a:rPr>
              <a:t>&gt;</a:t>
            </a:r>
            <a:br/>
            <a:br/>
            <a:r>
              <a:rPr i="1">
                <a:solidFill>
                  <a:srgbClr val="60A0B0"/>
                </a:solidFill>
                <a:latin typeface="Courier"/>
              </a:rPr>
              <a:t># Redis</a:t>
            </a:r>
            <a:br/>
            <a:r>
              <a:rPr>
                <a:solidFill>
                  <a:srgbClr val="19177C"/>
                </a:solidFill>
                <a:latin typeface="Courier"/>
              </a:rPr>
              <a:t>REDIS_HOST</a:t>
            </a:r>
            <a:r>
              <a:rPr>
                <a:solidFill>
                  <a:srgbClr val="666666"/>
                </a:solidFill>
                <a:latin typeface="Courier"/>
              </a:rPr>
              <a:t>=</a:t>
            </a:r>
            <a:r>
              <a:rPr>
                <a:latin typeface="Courier"/>
              </a:rPr>
              <a:t>redis.internal</a:t>
            </a:r>
            <a:br/>
            <a:r>
              <a:rPr>
                <a:solidFill>
                  <a:srgbClr val="19177C"/>
                </a:solidFill>
                <a:latin typeface="Courier"/>
              </a:rPr>
              <a:t>REDIS_PORT</a:t>
            </a:r>
            <a:r>
              <a:rPr>
                <a:solidFill>
                  <a:srgbClr val="666666"/>
                </a:solidFill>
                <a:latin typeface="Courier"/>
              </a:rPr>
              <a:t>=</a:t>
            </a:r>
            <a:r>
              <a:rPr>
                <a:latin typeface="Courier"/>
              </a:rPr>
              <a:t>6379</a:t>
            </a:r>
            <a:br/>
            <a:r>
              <a:rPr>
                <a:solidFill>
                  <a:srgbClr val="19177C"/>
                </a:solidFill>
                <a:latin typeface="Courier"/>
              </a:rPr>
              <a:t>REDIS_PASSWORD</a:t>
            </a:r>
            <a:r>
              <a:rPr>
                <a:solidFill>
                  <a:srgbClr val="666666"/>
                </a:solidFill>
                <a:latin typeface="Courier"/>
              </a:rPr>
              <a:t>=&lt;</a:t>
            </a:r>
            <a:r>
              <a:rPr>
                <a:latin typeface="Courier"/>
              </a:rPr>
              <a:t>secret</a:t>
            </a:r>
            <a:r>
              <a:rPr>
                <a:solidFill>
                  <a:srgbClr val="666666"/>
                </a:solidFill>
                <a:latin typeface="Courier"/>
              </a:rPr>
              <a:t>&gt;</a:t>
            </a:r>
            <a:br/>
            <a:br/>
            <a:r>
              <a:rPr i="1">
                <a:solidFill>
                  <a:srgbClr val="60A0B0"/>
                </a:solidFill>
                <a:latin typeface="Courier"/>
              </a:rPr>
              <a:t># Authentication</a:t>
            </a:r>
            <a:br/>
            <a:r>
              <a:rPr>
                <a:solidFill>
                  <a:srgbClr val="19177C"/>
                </a:solidFill>
                <a:latin typeface="Courier"/>
              </a:rPr>
              <a:t>JWT_SECRET</a:t>
            </a:r>
            <a:r>
              <a:rPr>
                <a:solidFill>
                  <a:srgbClr val="666666"/>
                </a:solidFill>
                <a:latin typeface="Courier"/>
              </a:rPr>
              <a:t>=&lt;</a:t>
            </a:r>
            <a:r>
              <a:rPr>
                <a:latin typeface="Courier"/>
              </a:rPr>
              <a:t>secret</a:t>
            </a:r>
            <a:r>
              <a:rPr>
                <a:solidFill>
                  <a:srgbClr val="666666"/>
                </a:solidFill>
                <a:latin typeface="Courier"/>
              </a:rPr>
              <a:t>&gt;</a:t>
            </a:r>
            <a:br/>
            <a:r>
              <a:rPr>
                <a:solidFill>
                  <a:srgbClr val="19177C"/>
                </a:solidFill>
                <a:latin typeface="Courier"/>
              </a:rPr>
              <a:t>JWT_EXPIRY</a:t>
            </a:r>
            <a:r>
              <a:rPr>
                <a:solidFill>
                  <a:srgbClr val="666666"/>
                </a:solidFill>
                <a:latin typeface="Courier"/>
              </a:rPr>
              <a:t>=</a:t>
            </a:r>
            <a:r>
              <a:rPr>
                <a:latin typeface="Courier"/>
              </a:rPr>
              <a:t>24h</a:t>
            </a:r>
            <a:br/>
            <a:br/>
            <a:r>
              <a:rPr i="1">
                <a:solidFill>
                  <a:srgbClr val="60A0B0"/>
                </a:solidFill>
                <a:latin typeface="Courier"/>
              </a:rPr>
              <a:t># Email</a:t>
            </a:r>
            <a:br/>
            <a:r>
              <a:rPr>
                <a:solidFill>
                  <a:srgbClr val="19177C"/>
                </a:solidFill>
                <a:latin typeface="Courier"/>
              </a:rPr>
              <a:t>SMTP_HOST</a:t>
            </a:r>
            <a:r>
              <a:rPr>
                <a:solidFill>
                  <a:srgbClr val="666666"/>
                </a:solidFill>
                <a:latin typeface="Courier"/>
              </a:rPr>
              <a:t>=</a:t>
            </a:r>
            <a:r>
              <a:rPr>
                <a:latin typeface="Courier"/>
              </a:rPr>
              <a:t>smtp.sendgrid.net</a:t>
            </a:r>
            <a:br/>
            <a:r>
              <a:rPr>
                <a:solidFill>
                  <a:srgbClr val="19177C"/>
                </a:solidFill>
                <a:latin typeface="Courier"/>
              </a:rPr>
              <a:t>SMTP_PORT</a:t>
            </a:r>
            <a:r>
              <a:rPr>
                <a:solidFill>
                  <a:srgbClr val="666666"/>
                </a:solidFill>
                <a:latin typeface="Courier"/>
              </a:rPr>
              <a:t>=</a:t>
            </a:r>
            <a:r>
              <a:rPr>
                <a:latin typeface="Courier"/>
              </a:rPr>
              <a:t>587</a:t>
            </a:r>
            <a:br/>
            <a:r>
              <a:rPr>
                <a:solidFill>
                  <a:srgbClr val="19177C"/>
                </a:solidFill>
                <a:latin typeface="Courier"/>
              </a:rPr>
              <a:t>SMTP_USER</a:t>
            </a:r>
            <a:r>
              <a:rPr>
                <a:solidFill>
                  <a:srgbClr val="666666"/>
                </a:solidFill>
                <a:latin typeface="Courier"/>
              </a:rPr>
              <a:t>=</a:t>
            </a:r>
            <a:r>
              <a:rPr>
                <a:latin typeface="Courier"/>
              </a:rPr>
              <a:t>apikey</a:t>
            </a:r>
            <a:br/>
            <a:r>
              <a:rPr>
                <a:solidFill>
                  <a:srgbClr val="19177C"/>
                </a:solidFill>
                <a:latin typeface="Courier"/>
              </a:rPr>
              <a:t>SMTP_PASS</a:t>
            </a:r>
            <a:r>
              <a:rPr>
                <a:solidFill>
                  <a:srgbClr val="666666"/>
                </a:solidFill>
                <a:latin typeface="Courier"/>
              </a:rPr>
              <a:t>=&lt;</a:t>
            </a:r>
            <a:r>
              <a:rPr>
                <a:latin typeface="Courier"/>
              </a:rPr>
              <a:t>secret</a:t>
            </a:r>
            <a:r>
              <a:rPr>
                <a:solidFill>
                  <a:srgbClr val="666666"/>
                </a:solidFill>
                <a:latin typeface="Courier"/>
              </a:rPr>
              <a:t>&gt;</a:t>
            </a:r>
            <a:br/>
            <a:br/>
            <a:r>
              <a:rPr i="1">
                <a:solidFill>
                  <a:srgbClr val="60A0B0"/>
                </a:solidFill>
                <a:latin typeface="Courier"/>
              </a:rPr>
              <a:t># SMS (optional)</a:t>
            </a:r>
            <a:br/>
            <a:r>
              <a:rPr>
                <a:solidFill>
                  <a:srgbClr val="19177C"/>
                </a:solidFill>
                <a:latin typeface="Courier"/>
              </a:rPr>
              <a:t>TWILIO_ACCOUNT_SID</a:t>
            </a:r>
            <a:r>
              <a:rPr>
                <a:solidFill>
                  <a:srgbClr val="666666"/>
                </a:solidFill>
                <a:latin typeface="Courier"/>
              </a:rPr>
              <a:t>=&lt;</a:t>
            </a:r>
            <a:r>
              <a:rPr>
                <a:latin typeface="Courier"/>
              </a:rPr>
              <a:t>secret</a:t>
            </a:r>
            <a:r>
              <a:rPr>
                <a:solidFill>
                  <a:srgbClr val="666666"/>
                </a:solidFill>
                <a:latin typeface="Courier"/>
              </a:rPr>
              <a:t>&gt;</a:t>
            </a:r>
            <a:br/>
            <a:r>
              <a:rPr>
                <a:solidFill>
                  <a:srgbClr val="19177C"/>
                </a:solidFill>
                <a:latin typeface="Courier"/>
              </a:rPr>
              <a:t>TWILIO_AUTH_TOKEN</a:t>
            </a:r>
            <a:r>
              <a:rPr>
                <a:solidFill>
                  <a:srgbClr val="666666"/>
                </a:solidFill>
                <a:latin typeface="Courier"/>
              </a:rPr>
              <a:t>=&lt;</a:t>
            </a:r>
            <a:r>
              <a:rPr>
                <a:latin typeface="Courier"/>
              </a:rPr>
              <a:t>secret</a:t>
            </a:r>
            <a:r>
              <a:rPr>
                <a:solidFill>
                  <a:srgbClr val="666666"/>
                </a:solidFill>
                <a:latin typeface="Courier"/>
              </a:rPr>
              <a:t>&gt;</a:t>
            </a:r>
            <a:br/>
            <a:r>
              <a:rPr>
                <a:solidFill>
                  <a:srgbClr val="19177C"/>
                </a:solidFill>
                <a:latin typeface="Courier"/>
              </a:rPr>
              <a:t>TWILIO_PHONE_NUMBER</a:t>
            </a:r>
            <a:r>
              <a:rPr>
                <a:solidFill>
                  <a:srgbClr val="666666"/>
                </a:solidFill>
                <a:latin typeface="Courier"/>
              </a:rPr>
              <a:t>=</a:t>
            </a:r>
            <a:r>
              <a:rPr>
                <a:latin typeface="Courier"/>
              </a:rPr>
              <a:t>+1234567890</a:t>
            </a:r>
            <a:br/>
            <a:br/>
            <a:r>
              <a:rPr i="1">
                <a:solidFill>
                  <a:srgbClr val="60A0B0"/>
                </a:solidFill>
                <a:latin typeface="Courier"/>
              </a:rPr>
              <a:t># Payment (optional)</a:t>
            </a:r>
            <a:br/>
            <a:r>
              <a:rPr>
                <a:solidFill>
                  <a:srgbClr val="19177C"/>
                </a:solidFill>
                <a:latin typeface="Courier"/>
              </a:rPr>
              <a:t>STRIPE_SECRET_KEY</a:t>
            </a:r>
            <a:r>
              <a:rPr>
                <a:solidFill>
                  <a:srgbClr val="666666"/>
                </a:solidFill>
                <a:latin typeface="Courier"/>
              </a:rPr>
              <a:t>=&lt;</a:t>
            </a:r>
            <a:r>
              <a:rPr>
                <a:latin typeface="Courier"/>
              </a:rPr>
              <a:t>secret</a:t>
            </a:r>
            <a:r>
              <a:rPr>
                <a:solidFill>
                  <a:srgbClr val="666666"/>
                </a:solidFill>
                <a:latin typeface="Courier"/>
              </a:rPr>
              <a:t>&gt;</a:t>
            </a:r>
            <a:br/>
            <a:r>
              <a:rPr>
                <a:solidFill>
                  <a:srgbClr val="19177C"/>
                </a:solidFill>
                <a:latin typeface="Courier"/>
              </a:rPr>
              <a:t>STRIPE_PUBLISHABLE_KEY</a:t>
            </a:r>
            <a:r>
              <a:rPr>
                <a:solidFill>
                  <a:srgbClr val="666666"/>
                </a:solidFill>
                <a:latin typeface="Courier"/>
              </a:rPr>
              <a:t>=&lt;</a:t>
            </a:r>
            <a:r>
              <a:rPr>
                <a:latin typeface="Courier"/>
              </a:rPr>
              <a:t>public</a:t>
            </a:r>
            <a:r>
              <a:rPr>
                <a:solidFill>
                  <a:srgbClr val="666666"/>
                </a:solidFill>
                <a:latin typeface="Courier"/>
              </a:rPr>
              <a:t>&gt;</a:t>
            </a:r>
            <a:br/>
            <a:br/>
            <a:r>
              <a:rPr i="1">
                <a:solidFill>
                  <a:srgbClr val="60A0B0"/>
                </a:solidFill>
                <a:latin typeface="Courier"/>
              </a:rPr>
              <a:t># Monitoring</a:t>
            </a:r>
            <a:br/>
            <a:r>
              <a:rPr>
                <a:solidFill>
                  <a:srgbClr val="19177C"/>
                </a:solidFill>
                <a:latin typeface="Courier"/>
              </a:rPr>
              <a:t>SENTRY_DSN</a:t>
            </a:r>
            <a:r>
              <a:rPr>
                <a:solidFill>
                  <a:srgbClr val="666666"/>
                </a:solidFill>
                <a:latin typeface="Courier"/>
              </a:rPr>
              <a:t>=&lt;</a:t>
            </a:r>
            <a:r>
              <a:rPr>
                <a:latin typeface="Courier"/>
              </a:rPr>
              <a:t>secret</a:t>
            </a:r>
            <a:r>
              <a:rPr>
                <a:solidFill>
                  <a:srgbClr val="666666"/>
                </a:solidFill>
                <a:latin typeface="Courier"/>
              </a:rPr>
              <a:t>&gt;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Performance &amp; Scalability</a:t>
            </a:r>
          </a:p>
        </p:txBody>
      </p:sp>
      <p:sp>
        <p:nvSpPr>
          <p:cNvPr id="4" name="Text Placeholder 3"/>
          <p:cNvSpPr>
            <a:spLocks noGrp="1"/>
          </p:cNvSpPr>
          <p:nvPr>
            <p:ph idx="2" sz="half" type="body"/>
          </p:nvPr>
        </p:nvSpPr>
        <p:spPr/>
        <p:txBody>
          <a:bodyPr/>
          <a:lstStyle/>
          <a:p>
            <a:pPr lvl="0" indent="0" marL="0">
              <a:spcBef>
                <a:spcPts val="3000"/>
              </a:spcBef>
              <a:buNone/>
            </a:pPr>
            <a:r>
              <a:rPr b="1"/>
              <a:t>Performance Targets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Metric</a:t>
                      </a:r>
                    </a:p>
                  </a:txBody>
                  <a:tcPr/>
                </a:tc>
                <a:tc>
                  <a:txBody>
                    <a:bodyPr/>
                    <a:lstStyle/>
                    <a:p>
                      <a:pPr lvl="0" indent="0" marL="0">
                        <a:buNone/>
                      </a:pPr>
                      <a:r>
                        <a:rPr/>
                        <a:t>Target</a:t>
                      </a:r>
                    </a:p>
                  </a:txBody>
                  <a:tcPr/>
                </a:tc>
                <a:tc>
                  <a:txBody>
                    <a:bodyPr/>
                    <a:lstStyle/>
                    <a:p>
                      <a:pPr lvl="0" indent="0" marL="0">
                        <a:buNone/>
                      </a:pPr>
                      <a:r>
                        <a:rPr/>
                        <a:t>Measured</a:t>
                      </a:r>
                    </a:p>
                  </a:txBody>
                  <a:tcPr/>
                </a:tc>
              </a:tr>
              <a:tr h="0">
                <a:tc>
                  <a:txBody>
                    <a:bodyPr/>
                    <a:lstStyle/>
                    <a:p>
                      <a:pPr lvl="0" indent="0" marL="0">
                        <a:buNone/>
                      </a:pPr>
                      <a:r>
                        <a:rPr b="1"/>
                        <a:t>API Response Time</a:t>
                      </a:r>
                    </a:p>
                  </a:txBody>
                </a:tc>
                <a:tc>
                  <a:txBody>
                    <a:bodyPr/>
                    <a:lstStyle/>
                    <a:p>
                      <a:pPr lvl="0" indent="0" marL="0">
                        <a:buNone/>
                      </a:pPr>
                      <a:r>
                        <a:rPr/>
                        <a:t>&lt;200ms (p95)</a:t>
                      </a:r>
                    </a:p>
                  </a:txBody>
                </a:tc>
                <a:tc>
                  <a:txBody>
                    <a:bodyPr/>
                    <a:lstStyle/>
                    <a:p>
                      <a:pPr lvl="0" indent="0" marL="0">
                        <a:buNone/>
                      </a:pPr>
                      <a:r>
                        <a:rPr/>
                        <a:t>Under normal load</a:t>
                      </a:r>
                    </a:p>
                  </a:txBody>
                </a:tc>
              </a:tr>
              <a:tr h="0">
                <a:tc>
                  <a:txBody>
                    <a:bodyPr/>
                    <a:lstStyle/>
                    <a:p>
                      <a:pPr lvl="0" indent="0" marL="0">
                        <a:buNone/>
                      </a:pPr>
                      <a:r>
                        <a:rPr b="1"/>
                        <a:t>Database Query</a:t>
                      </a:r>
                    </a:p>
                  </a:txBody>
                </a:tc>
                <a:tc>
                  <a:txBody>
                    <a:bodyPr/>
                    <a:lstStyle/>
                    <a:p>
                      <a:pPr lvl="0" indent="0" marL="0">
                        <a:buNone/>
                      </a:pPr>
                      <a:r>
                        <a:rPr/>
                        <a:t>&lt;100ms (p95)</a:t>
                      </a:r>
                    </a:p>
                  </a:txBody>
                </a:tc>
                <a:tc>
                  <a:txBody>
                    <a:bodyPr/>
                    <a:lstStyle/>
                    <a:p>
                      <a:pPr lvl="0" indent="0" marL="0">
                        <a:buNone/>
                      </a:pPr>
                      <a:r>
                        <a:rPr/>
                        <a:t>Simple queries</a:t>
                      </a:r>
                    </a:p>
                  </a:txBody>
                </a:tc>
              </a:tr>
              <a:tr h="0">
                <a:tc>
                  <a:txBody>
                    <a:bodyPr/>
                    <a:lstStyle/>
                    <a:p>
                      <a:pPr lvl="0" indent="0" marL="0">
                        <a:buNone/>
                      </a:pPr>
                      <a:r>
                        <a:rPr b="1"/>
                        <a:t>Page Load Time</a:t>
                      </a:r>
                    </a:p>
                  </a:txBody>
                </a:tc>
                <a:tc>
                  <a:txBody>
                    <a:bodyPr/>
                    <a:lstStyle/>
                    <a:p>
                      <a:pPr lvl="0" indent="0" marL="0">
                        <a:buNone/>
                      </a:pPr>
                      <a:r>
                        <a:rPr/>
                        <a:t>&lt;2s (p95)</a:t>
                      </a:r>
                    </a:p>
                  </a:txBody>
                </a:tc>
                <a:tc>
                  <a:txBody>
                    <a:bodyPr/>
                    <a:lstStyle/>
                    <a:p>
                      <a:pPr lvl="0" indent="0" marL="0">
                        <a:buNone/>
                      </a:pPr>
                      <a:r>
                        <a:rPr/>
                        <a:t>Initial load</a:t>
                      </a:r>
                    </a:p>
                  </a:txBody>
                </a:tc>
              </a:tr>
              <a:tr h="0">
                <a:tc>
                  <a:txBody>
                    <a:bodyPr/>
                    <a:lstStyle/>
                    <a:p>
                      <a:pPr lvl="0" indent="0" marL="0">
                        <a:buNone/>
                      </a:pPr>
                      <a:r>
                        <a:rPr b="1"/>
                        <a:t>WebSocket Latency</a:t>
                      </a:r>
                    </a:p>
                  </a:txBody>
                </a:tc>
                <a:tc>
                  <a:txBody>
                    <a:bodyPr/>
                    <a:lstStyle/>
                    <a:p>
                      <a:pPr lvl="0" indent="0" marL="0">
                        <a:buNone/>
                      </a:pPr>
                      <a:r>
                        <a:rPr/>
                        <a:t>&lt;50ms</a:t>
                      </a:r>
                    </a:p>
                  </a:txBody>
                </a:tc>
                <a:tc>
                  <a:txBody>
                    <a:bodyPr/>
                    <a:lstStyle/>
                    <a:p>
                      <a:pPr lvl="0" indent="0" marL="0">
                        <a:buNone/>
                      </a:pPr>
                      <a:r>
                        <a:rPr/>
                        <a:t>Notification delivery</a:t>
                      </a:r>
                    </a:p>
                  </a:txBody>
                </a:tc>
              </a:tr>
              <a:tr h="0">
                <a:tc>
                  <a:txBody>
                    <a:bodyPr/>
                    <a:lstStyle/>
                    <a:p>
                      <a:pPr lvl="0" indent="0" marL="0">
                        <a:buNone/>
                      </a:pPr>
                      <a:r>
                        <a:rPr b="1"/>
                        <a:t>Concurrent Users</a:t>
                      </a:r>
                    </a:p>
                  </a:txBody>
                </a:tc>
                <a:tc>
                  <a:txBody>
                    <a:bodyPr/>
                    <a:lstStyle/>
                    <a:p>
                      <a:pPr lvl="0" indent="0" marL="0">
                        <a:buNone/>
                      </a:pPr>
                      <a:r>
                        <a:rPr/>
                        <a:t>1000+</a:t>
                      </a:r>
                    </a:p>
                  </a:txBody>
                </a:tc>
                <a:tc>
                  <a:txBody>
                    <a:bodyPr/>
                    <a:lstStyle/>
                    <a:p>
                      <a:pPr lvl="0" indent="0" marL="0">
                        <a:buNone/>
                      </a:pPr>
                      <a:r>
                        <a:rPr/>
                        <a:t>Simultaneous active users</a:t>
                      </a:r>
                    </a:p>
                  </a:txBody>
                </a:tc>
              </a:tr>
              <a:tr h="0">
                <a:tc>
                  <a:txBody>
                    <a:bodyPr/>
                    <a:lstStyle/>
                    <a:p>
                      <a:pPr lvl="0" indent="0" marL="0">
                        <a:buNone/>
                      </a:pPr>
                      <a:r>
                        <a:rPr b="1"/>
                        <a:t>Requests/Minute</a:t>
                      </a:r>
                    </a:p>
                  </a:txBody>
                </a:tc>
                <a:tc>
                  <a:txBody>
                    <a:bodyPr/>
                    <a:lstStyle/>
                    <a:p>
                      <a:pPr lvl="0" indent="0" marL="0">
                        <a:buNone/>
                      </a:pPr>
                      <a:r>
                        <a:rPr/>
                        <a:t>10,000+</a:t>
                      </a:r>
                    </a:p>
                  </a:txBody>
                </a:tc>
                <a:tc>
                  <a:txBody>
                    <a:bodyPr/>
                    <a:lstStyle/>
                    <a:p>
                      <a:pPr lvl="0" indent="0" marL="0">
                        <a:buNone/>
                      </a:pPr>
                      <a:r>
                        <a:rPr/>
                        <a:t>Sustained throughput</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Caching Strategy</a:t>
            </a:r>
          </a:p>
          <a:p>
            <a:pPr lvl="0" indent="0" marL="0">
              <a:buNone/>
            </a:pPr>
            <a:r>
              <a:rPr b="1"/>
              <a:t>Redis Caching Layers:</a:t>
            </a:r>
          </a:p>
          <a:p>
            <a:pPr lvl="0" indent="0" marL="0">
              <a:buNone/>
            </a:pPr>
            <a:r>
              <a:rPr b="1"/>
              <a:t>1. Session Management:</a:t>
            </a:r>
          </a:p>
          <a:p>
            <a:pPr lvl="0" indent="0">
              <a:buNone/>
            </a:pPr>
            <a:r>
              <a:rPr i="1">
                <a:solidFill>
                  <a:srgbClr val="60A0B0"/>
                </a:solidFill>
                <a:latin typeface="Courier"/>
              </a:rPr>
              <a:t>// Store user sessions in Redis</a:t>
            </a:r>
            <a:br/>
            <a:r>
              <a:rPr>
                <a:latin typeface="Courier"/>
              </a:rPr>
              <a:t>session</a:t>
            </a:r>
            <a:r>
              <a:rPr>
                <a:solidFill>
                  <a:srgbClr val="666666"/>
                </a:solidFill>
                <a:latin typeface="Courier"/>
              </a:rPr>
              <a:t>:</a:t>
            </a:r>
            <a:r>
              <a:rPr>
                <a:latin typeface="Courier"/>
              </a:rPr>
              <a:t> {</a:t>
            </a:r>
            <a:br/>
            <a:r>
              <a:rPr>
                <a:latin typeface="Courier"/>
              </a:rPr>
              <a:t>  userId</a:t>
            </a:r>
            <a:r>
              <a:rPr>
                <a:solidFill>
                  <a:srgbClr val="666666"/>
                </a:solidFill>
                <a:latin typeface="Courier"/>
              </a:rPr>
              <a:t>:</a:t>
            </a:r>
            <a:r>
              <a:rPr>
                <a:latin typeface="Courier"/>
              </a:rPr>
              <a:t> </a:t>
            </a:r>
            <a:r>
              <a:rPr>
                <a:solidFill>
                  <a:srgbClr val="40A070"/>
                </a:solidFill>
                <a:latin typeface="Courier"/>
              </a:rPr>
              <a:t>123</a:t>
            </a:r>
            <a:r>
              <a:rPr>
                <a:solidFill>
                  <a:srgbClr val="666666"/>
                </a:solidFill>
                <a:latin typeface="Courier"/>
              </a:rPr>
              <a:t>,</a:t>
            </a:r>
            <a:br/>
            <a:r>
              <a:rPr>
                <a:latin typeface="Courier"/>
              </a:rPr>
              <a:t>  role</a:t>
            </a:r>
            <a:r>
              <a:rPr>
                <a:solidFill>
                  <a:srgbClr val="666666"/>
                </a:solidFill>
                <a:latin typeface="Courier"/>
              </a:rPr>
              <a:t>:</a:t>
            </a:r>
            <a:r>
              <a:rPr>
                <a:latin typeface="Courier"/>
              </a:rPr>
              <a:t> </a:t>
            </a:r>
            <a:r>
              <a:rPr>
                <a:solidFill>
                  <a:srgbClr val="4070A0"/>
                </a:solidFill>
                <a:latin typeface="Courier"/>
              </a:rPr>
              <a:t>"doctor"</a:t>
            </a:r>
            <a:r>
              <a:rPr>
                <a:solidFill>
                  <a:srgbClr val="666666"/>
                </a:solidFill>
                <a:latin typeface="Courier"/>
              </a:rPr>
              <a:t>,</a:t>
            </a:r>
            <a:br/>
            <a:r>
              <a:rPr>
                <a:latin typeface="Courier"/>
              </a:rPr>
              <a:t>  lastActivity</a:t>
            </a:r>
            <a:r>
              <a:rPr>
                <a:solidFill>
                  <a:srgbClr val="666666"/>
                </a:solidFill>
                <a:latin typeface="Courier"/>
              </a:rPr>
              <a:t>:</a:t>
            </a:r>
            <a:r>
              <a:rPr>
                <a:latin typeface="Courier"/>
              </a:rPr>
              <a:t> timestamp</a:t>
            </a:r>
            <a:br/>
            <a:r>
              <a:rPr>
                <a:latin typeface="Courier"/>
              </a:rPr>
              <a:t>}</a:t>
            </a:r>
            <a:br/>
            <a:r>
              <a:rPr i="1">
                <a:solidFill>
                  <a:srgbClr val="60A0B0"/>
                </a:solidFill>
                <a:latin typeface="Courier"/>
              </a:rPr>
              <a:t>// TTL: 24 hours</a:t>
            </a:r>
          </a:p>
          <a:p>
            <a:pPr lvl="0" indent="0" marL="0">
              <a:buNone/>
            </a:pPr>
            <a:r>
              <a:rPr b="1"/>
              <a:t>2. Queue Data:</a:t>
            </a:r>
          </a:p>
          <a:p>
            <a:pPr lvl="0" indent="0">
              <a:buNone/>
            </a:pPr>
            <a:r>
              <a:rPr i="1">
                <a:solidFill>
                  <a:srgbClr val="60A0B0"/>
                </a:solidFill>
                <a:latin typeface="Courier"/>
              </a:rPr>
              <a:t>// Cache frequently accessed queue</a:t>
            </a:r>
            <a:br/>
            <a:r>
              <a:rPr>
                <a:latin typeface="Courier"/>
              </a:rPr>
              <a:t>key</a:t>
            </a:r>
            <a:r>
              <a:rPr>
                <a:solidFill>
                  <a:srgbClr val="666666"/>
                </a:solidFill>
                <a:latin typeface="Courier"/>
              </a:rPr>
              <a:t>:</a:t>
            </a:r>
            <a:r>
              <a:rPr>
                <a:latin typeface="Courier"/>
              </a:rPr>
              <a:t> </a:t>
            </a:r>
            <a:r>
              <a:rPr>
                <a:solidFill>
                  <a:srgbClr val="4070A0"/>
                </a:solidFill>
                <a:latin typeface="Courier"/>
              </a:rPr>
              <a:t>"queue:doctor:123"</a:t>
            </a:r>
            <a:br/>
            <a:r>
              <a:rPr>
                <a:latin typeface="Courier"/>
              </a:rPr>
              <a:t>value</a:t>
            </a:r>
            <a:r>
              <a:rPr>
                <a:solidFill>
                  <a:srgbClr val="666666"/>
                </a:solidFill>
                <a:latin typeface="Courier"/>
              </a:rPr>
              <a:t>:</a:t>
            </a:r>
            <a:r>
              <a:rPr>
                <a:latin typeface="Courier"/>
              </a:rPr>
              <a:t> [{patientId</a:t>
            </a:r>
            <a:r>
              <a:rPr>
                <a:solidFill>
                  <a:srgbClr val="666666"/>
                </a:solidFill>
                <a:latin typeface="Courier"/>
              </a:rPr>
              <a:t>,</a:t>
            </a:r>
            <a:r>
              <a:rPr>
                <a:latin typeface="Courier"/>
              </a:rPr>
              <a:t> priority</a:t>
            </a:r>
            <a:r>
              <a:rPr>
                <a:solidFill>
                  <a:srgbClr val="666666"/>
                </a:solidFill>
                <a:latin typeface="Courier"/>
              </a:rPr>
              <a:t>,</a:t>
            </a:r>
            <a:r>
              <a:rPr>
                <a:latin typeface="Courier"/>
              </a:rPr>
              <a:t> waitTime}</a:t>
            </a:r>
            <a:r>
              <a:rPr>
                <a:solidFill>
                  <a:srgbClr val="666666"/>
                </a:solidFill>
                <a:latin typeface="Courier"/>
              </a:rPr>
              <a:t>,</a:t>
            </a:r>
            <a:r>
              <a:rPr>
                <a:latin typeface="Courier"/>
              </a:rPr>
              <a:t> </a:t>
            </a:r>
            <a:r>
              <a:rPr>
                <a:solidFill>
                  <a:srgbClr val="666666"/>
                </a:solidFill>
                <a:latin typeface="Courier"/>
              </a:rPr>
              <a:t>...</a:t>
            </a:r>
            <a:r>
              <a:rPr>
                <a:latin typeface="Courier"/>
              </a:rPr>
              <a:t>]</a:t>
            </a:r>
            <a:br/>
            <a:r>
              <a:rPr i="1">
                <a:solidFill>
                  <a:srgbClr val="60A0B0"/>
                </a:solidFill>
                <a:latin typeface="Courier"/>
              </a:rPr>
              <a:t>// TTL: 5 minutes, invalidate on changes</a:t>
            </a:r>
          </a:p>
          <a:p>
            <a:pPr lvl="0" indent="0" marL="0">
              <a:buNone/>
            </a:pPr>
            <a:r>
              <a:rPr b="1"/>
              <a:t>3. Static Data:</a:t>
            </a:r>
          </a:p>
          <a:p>
            <a:pPr lvl="0" indent="0">
              <a:buNone/>
            </a:pPr>
            <a:r>
              <a:rPr i="1">
                <a:solidFill>
                  <a:srgbClr val="60A0B0"/>
                </a:solidFill>
                <a:latin typeface="Courier"/>
              </a:rPr>
              <a:t>// Cache rarely changing data</a:t>
            </a:r>
            <a:br/>
            <a:r>
              <a:rPr>
                <a:latin typeface="Courier"/>
              </a:rPr>
              <a:t>key</a:t>
            </a:r>
            <a:r>
              <a:rPr>
                <a:solidFill>
                  <a:srgbClr val="666666"/>
                </a:solidFill>
                <a:latin typeface="Courier"/>
              </a:rPr>
              <a:t>:</a:t>
            </a:r>
            <a:r>
              <a:rPr>
                <a:latin typeface="Courier"/>
              </a:rPr>
              <a:t> </a:t>
            </a:r>
            <a:r>
              <a:rPr>
                <a:solidFill>
                  <a:srgbClr val="4070A0"/>
                </a:solidFill>
                <a:latin typeface="Courier"/>
              </a:rPr>
              <a:t>"lab_tests:catalog"</a:t>
            </a:r>
            <a:br/>
            <a:r>
              <a:rPr>
                <a:latin typeface="Courier"/>
              </a:rPr>
              <a:t>value</a:t>
            </a:r>
            <a:r>
              <a:rPr>
                <a:solidFill>
                  <a:srgbClr val="666666"/>
                </a:solidFill>
                <a:latin typeface="Courier"/>
              </a:rPr>
              <a:t>:</a:t>
            </a:r>
            <a:r>
              <a:rPr>
                <a:latin typeface="Courier"/>
              </a:rPr>
              <a:t> [{testId</a:t>
            </a:r>
            <a:r>
              <a:rPr>
                <a:solidFill>
                  <a:srgbClr val="666666"/>
                </a:solidFill>
                <a:latin typeface="Courier"/>
              </a:rPr>
              <a:t>,</a:t>
            </a:r>
            <a:r>
              <a:rPr>
                <a:latin typeface="Courier"/>
              </a:rPr>
              <a:t> testName</a:t>
            </a:r>
            <a:r>
              <a:rPr>
                <a:solidFill>
                  <a:srgbClr val="666666"/>
                </a:solidFill>
                <a:latin typeface="Courier"/>
              </a:rPr>
              <a:t>,</a:t>
            </a:r>
            <a:r>
              <a:rPr>
                <a:latin typeface="Courier"/>
              </a:rPr>
              <a:t> price}</a:t>
            </a:r>
            <a:r>
              <a:rPr>
                <a:solidFill>
                  <a:srgbClr val="666666"/>
                </a:solidFill>
                <a:latin typeface="Courier"/>
              </a:rPr>
              <a:t>,</a:t>
            </a:r>
            <a:r>
              <a:rPr>
                <a:latin typeface="Courier"/>
              </a:rPr>
              <a:t> </a:t>
            </a:r>
            <a:r>
              <a:rPr>
                <a:solidFill>
                  <a:srgbClr val="666666"/>
                </a:solidFill>
                <a:latin typeface="Courier"/>
              </a:rPr>
              <a:t>...</a:t>
            </a:r>
            <a:r>
              <a:rPr>
                <a:latin typeface="Courier"/>
              </a:rPr>
              <a:t>]</a:t>
            </a:r>
            <a:br/>
            <a:r>
              <a:rPr i="1">
                <a:solidFill>
                  <a:srgbClr val="60A0B0"/>
                </a:solidFill>
                <a:latin typeface="Courier"/>
              </a:rPr>
              <a:t>// TTL: 1 hour</a:t>
            </a:r>
          </a:p>
          <a:p>
            <a:pPr lvl="0" indent="0" marL="0">
              <a:buNone/>
            </a:pPr>
            <a:r>
              <a:rPr b="1"/>
              <a:t>4. Computed Analytics:</a:t>
            </a:r>
          </a:p>
          <a:p>
            <a:pPr lvl="0" indent="0">
              <a:buNone/>
            </a:pPr>
            <a:r>
              <a:rPr i="1">
                <a:solidFill>
                  <a:srgbClr val="60A0B0"/>
                </a:solidFill>
                <a:latin typeface="Courier"/>
              </a:rPr>
              <a:t>// Cache expensive aggregations</a:t>
            </a:r>
            <a:br/>
            <a:r>
              <a:rPr>
                <a:latin typeface="Courier"/>
              </a:rPr>
              <a:t>key</a:t>
            </a:r>
            <a:r>
              <a:rPr>
                <a:solidFill>
                  <a:srgbClr val="666666"/>
                </a:solidFill>
                <a:latin typeface="Courier"/>
              </a:rPr>
              <a:t>:</a:t>
            </a:r>
            <a:r>
              <a:rPr>
                <a:latin typeface="Courier"/>
              </a:rPr>
              <a:t> </a:t>
            </a:r>
            <a:r>
              <a:rPr>
                <a:solidFill>
                  <a:srgbClr val="4070A0"/>
                </a:solidFill>
                <a:latin typeface="Courier"/>
              </a:rPr>
              <a:t>"analytics:dashboard:today"</a:t>
            </a:r>
            <a:br/>
            <a:r>
              <a:rPr>
                <a:latin typeface="Courier"/>
              </a:rPr>
              <a:t>value</a:t>
            </a:r>
            <a:r>
              <a:rPr>
                <a:solidFill>
                  <a:srgbClr val="666666"/>
                </a:solidFill>
                <a:latin typeface="Courier"/>
              </a:rPr>
              <a:t>:</a:t>
            </a:r>
            <a:r>
              <a:rPr>
                <a:latin typeface="Courier"/>
              </a:rPr>
              <a:t> {patientCount</a:t>
            </a:r>
            <a:r>
              <a:rPr>
                <a:solidFill>
                  <a:srgbClr val="666666"/>
                </a:solidFill>
                <a:latin typeface="Courier"/>
              </a:rPr>
              <a:t>,</a:t>
            </a:r>
            <a:r>
              <a:rPr>
                <a:latin typeface="Courier"/>
              </a:rPr>
              <a:t> revenue</a:t>
            </a:r>
            <a:r>
              <a:rPr>
                <a:solidFill>
                  <a:srgbClr val="666666"/>
                </a:solidFill>
                <a:latin typeface="Courier"/>
              </a:rPr>
              <a:t>,</a:t>
            </a:r>
            <a:r>
              <a:rPr>
                <a:latin typeface="Courier"/>
              </a:rPr>
              <a:t> avgWaitTime</a:t>
            </a:r>
            <a:r>
              <a:rPr>
                <a:solidFill>
                  <a:srgbClr val="666666"/>
                </a:solidFill>
                <a:latin typeface="Courier"/>
              </a:rPr>
              <a:t>,</a:t>
            </a:r>
            <a:r>
              <a:rPr>
                <a:latin typeface="Courier"/>
              </a:rPr>
              <a:t> </a:t>
            </a:r>
            <a:r>
              <a:rPr>
                <a:solidFill>
                  <a:srgbClr val="666666"/>
                </a:solidFill>
                <a:latin typeface="Courier"/>
              </a:rPr>
              <a:t>...</a:t>
            </a:r>
            <a:r>
              <a:rPr>
                <a:latin typeface="Courier"/>
              </a:rPr>
              <a:t>}</a:t>
            </a:r>
            <a:br/>
            <a:r>
              <a:rPr i="1">
                <a:solidFill>
                  <a:srgbClr val="60A0B0"/>
                </a:solidFill>
                <a:latin typeface="Courier"/>
              </a:rPr>
              <a:t>// TTL: 5 minutes</a:t>
            </a:r>
          </a:p>
          <a:p>
            <a:pPr lvl="0" indent="0" marL="0">
              <a:buNone/>
            </a:pPr>
            <a:r>
              <a:rPr b="1"/>
              <a:t>Cache Invalidation:</a:t>
            </a:r>
            <a:r>
              <a:rPr/>
              <a:t> - Time-based (TTL) - Event-based (pub/sub for distributed invalidation) - Manual (admin action)</a:t>
            </a:r>
          </a:p>
          <a:p>
            <a:pPr lvl="0" indent="0" marL="0">
              <a:spcBef>
                <a:spcPts val="3000"/>
              </a:spcBef>
              <a:buNone/>
            </a:pPr>
            <a:r>
              <a:rPr b="1"/>
              <a:t>Database Optimization</a:t>
            </a:r>
          </a:p>
          <a:p>
            <a:pPr lvl="0" indent="0" marL="0">
              <a:buNone/>
            </a:pPr>
            <a:r>
              <a:rPr b="1"/>
              <a:t>Query Optimization:</a:t>
            </a:r>
            <a:r>
              <a:rPr/>
              <a:t> - Use EXPLAIN ANALYZE for slow queries - Add indexes based on query patterns - Avoid SELECT *; specify columns - Use LIMIT for pagination - Batch inserts where possible</a:t>
            </a:r>
          </a:p>
          <a:p>
            <a:pPr lvl="0" indent="0" marL="0">
              <a:buNone/>
            </a:pPr>
            <a:r>
              <a:rPr b="1"/>
              <a:t>Connection Pooling:</a:t>
            </a:r>
          </a:p>
          <a:p>
            <a:pPr lvl="0" indent="0">
              <a:buNone/>
            </a:pPr>
            <a:r>
              <a:rPr i="1">
                <a:solidFill>
                  <a:srgbClr val="60A0B0"/>
                </a:solidFill>
                <a:latin typeface="Courier"/>
              </a:rPr>
              <a:t>// Reuse database connections</a:t>
            </a:r>
            <a:br/>
            <a:r>
              <a:rPr b="1">
                <a:solidFill>
                  <a:srgbClr val="007020"/>
                </a:solidFill>
                <a:latin typeface="Courier"/>
              </a:rPr>
              <a:t>const</a:t>
            </a:r>
            <a:r>
              <a:rPr>
                <a:latin typeface="Courier"/>
              </a:rPr>
              <a:t> pool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Pool</a:t>
            </a:r>
            <a:r>
              <a:rPr>
                <a:latin typeface="Courier"/>
              </a:rPr>
              <a:t>({</a:t>
            </a:r>
            <a:br/>
            <a:r>
              <a:rPr>
                <a:latin typeface="Courier"/>
              </a:rPr>
              <a:t>  max</a:t>
            </a:r>
            <a:r>
              <a:rPr>
                <a:solidFill>
                  <a:srgbClr val="666666"/>
                </a:solidFill>
                <a:latin typeface="Courier"/>
              </a:rPr>
              <a:t>:</a:t>
            </a:r>
            <a:r>
              <a:rPr>
                <a:latin typeface="Courier"/>
              </a:rPr>
              <a:t> </a:t>
            </a:r>
            <a:r>
              <a:rPr>
                <a:solidFill>
                  <a:srgbClr val="40A070"/>
                </a:solidFill>
                <a:latin typeface="Courier"/>
              </a:rPr>
              <a:t>20</a:t>
            </a:r>
            <a:r>
              <a:rPr>
                <a:solidFill>
                  <a:srgbClr val="666666"/>
                </a:solidFill>
                <a:latin typeface="Courier"/>
              </a:rPr>
              <a:t>,</a:t>
            </a:r>
            <a:r>
              <a:rPr>
                <a:latin typeface="Courier"/>
              </a:rPr>
              <a:t>  </a:t>
            </a:r>
            <a:r>
              <a:rPr i="1">
                <a:solidFill>
                  <a:srgbClr val="60A0B0"/>
                </a:solidFill>
                <a:latin typeface="Courier"/>
              </a:rPr>
              <a:t>// Maximum connections</a:t>
            </a:r>
            <a:br/>
            <a:r>
              <a:rPr>
                <a:latin typeface="Courier"/>
              </a:rPr>
              <a:t>  min</a:t>
            </a:r>
            <a:r>
              <a:rPr>
                <a:solidFill>
                  <a:srgbClr val="666666"/>
                </a:solidFill>
                <a:latin typeface="Courier"/>
              </a:rPr>
              <a:t>:</a:t>
            </a:r>
            <a:r>
              <a:rPr>
                <a:latin typeface="Courier"/>
              </a:rPr>
              <a:t> </a:t>
            </a:r>
            <a:r>
              <a:rPr>
                <a:solidFill>
                  <a:srgbClr val="40A070"/>
                </a:solidFill>
                <a:latin typeface="Courier"/>
              </a:rPr>
              <a:t>5</a:t>
            </a:r>
            <a:r>
              <a:rPr>
                <a:solidFill>
                  <a:srgbClr val="666666"/>
                </a:solidFill>
                <a:latin typeface="Courier"/>
              </a:rPr>
              <a:t>,</a:t>
            </a:r>
            <a:r>
              <a:rPr>
                <a:latin typeface="Courier"/>
              </a:rPr>
              <a:t>   </a:t>
            </a:r>
            <a:r>
              <a:rPr i="1">
                <a:solidFill>
                  <a:srgbClr val="60A0B0"/>
                </a:solidFill>
                <a:latin typeface="Courier"/>
              </a:rPr>
              <a:t>// Minimum idle connections</a:t>
            </a:r>
            <a:br/>
            <a:r>
              <a:rPr>
                <a:latin typeface="Courier"/>
              </a:rPr>
              <a:t>  idleTimeoutMillis</a:t>
            </a:r>
            <a:r>
              <a:rPr>
                <a:solidFill>
                  <a:srgbClr val="666666"/>
                </a:solidFill>
                <a:latin typeface="Courier"/>
              </a:rPr>
              <a:t>:</a:t>
            </a:r>
            <a:r>
              <a:rPr>
                <a:latin typeface="Courier"/>
              </a:rPr>
              <a:t> </a:t>
            </a:r>
            <a:r>
              <a:rPr>
                <a:solidFill>
                  <a:srgbClr val="40A070"/>
                </a:solidFill>
                <a:latin typeface="Courier"/>
              </a:rPr>
              <a:t>30000</a:t>
            </a:r>
            <a:r>
              <a:rPr>
                <a:solidFill>
                  <a:srgbClr val="666666"/>
                </a:solidFill>
                <a:latin typeface="Courier"/>
              </a:rPr>
              <a:t>,</a:t>
            </a:r>
            <a:br/>
            <a:r>
              <a:rPr>
                <a:latin typeface="Courier"/>
              </a:rPr>
              <a:t>})</a:t>
            </a:r>
            <a:r>
              <a:rPr>
                <a:solidFill>
                  <a:srgbClr val="666666"/>
                </a:solidFill>
                <a:latin typeface="Courier"/>
              </a:rPr>
              <a:t>;</a:t>
            </a:r>
          </a:p>
          <a:p>
            <a:pPr lvl="0" indent="0" marL="0">
              <a:buNone/>
            </a:pPr>
            <a:r>
              <a:rPr b="1"/>
              <a:t>Read Replicas:</a:t>
            </a:r>
            <a:r>
              <a:rPr/>
              <a:t> - Primary for writes - Read replicas for analytics, reports - Reduce load on primary database</a:t>
            </a:r>
          </a:p>
          <a:p>
            <a:pPr lvl="0" indent="0" marL="0">
              <a:buNone/>
            </a:pPr>
            <a:r>
              <a:rPr b="1"/>
              <a:t>Materialized Views:</a:t>
            </a:r>
          </a:p>
          <a:p>
            <a:pPr lvl="0" indent="0">
              <a:buNone/>
            </a:pPr>
            <a:r>
              <a:rPr i="1">
                <a:solidFill>
                  <a:srgbClr val="60A0B0"/>
                </a:solidFill>
                <a:latin typeface="Courier"/>
              </a:rPr>
              <a:t>-- Pre-compute expensive aggregations</a:t>
            </a:r>
            <a:br/>
            <a:r>
              <a:rPr b="1">
                <a:solidFill>
                  <a:srgbClr val="007020"/>
                </a:solidFill>
                <a:latin typeface="Courier"/>
              </a:rPr>
              <a:t>CREATE</a:t>
            </a:r>
            <a:r>
              <a:rPr>
                <a:latin typeface="Courier"/>
              </a:rPr>
              <a:t> </a:t>
            </a:r>
            <a:r>
              <a:rPr b="1">
                <a:solidFill>
                  <a:srgbClr val="007020"/>
                </a:solidFill>
                <a:latin typeface="Courier"/>
              </a:rPr>
              <a:t>MATERIALIZED</a:t>
            </a:r>
            <a:r>
              <a:rPr>
                <a:latin typeface="Courier"/>
              </a:rPr>
              <a:t> </a:t>
            </a:r>
            <a:r>
              <a:rPr b="1">
                <a:solidFill>
                  <a:srgbClr val="007020"/>
                </a:solidFill>
                <a:latin typeface="Courier"/>
              </a:rPr>
              <a:t>VIEW</a:t>
            </a:r>
            <a:r>
              <a:rPr>
                <a:latin typeface="Courier"/>
              </a:rPr>
              <a:t> daily_stats </a:t>
            </a:r>
            <a:r>
              <a:rPr b="1">
                <a:solidFill>
                  <a:srgbClr val="007020"/>
                </a:solidFill>
                <a:latin typeface="Courier"/>
              </a:rPr>
              <a:t>AS</a:t>
            </a:r>
            <a:br/>
            <a:r>
              <a:rPr b="1">
                <a:solidFill>
                  <a:srgbClr val="007020"/>
                </a:solidFill>
                <a:latin typeface="Courier"/>
              </a:rPr>
              <a:t>SELECT</a:t>
            </a:r>
            <a:br/>
            <a:r>
              <a:rPr>
                <a:latin typeface="Courier"/>
              </a:rPr>
              <a:t>  </a:t>
            </a:r>
            <a:r>
              <a:rPr>
                <a:solidFill>
                  <a:srgbClr val="902000"/>
                </a:solidFill>
                <a:latin typeface="Courier"/>
              </a:rPr>
              <a:t>DATE</a:t>
            </a:r>
            <a:r>
              <a:rPr>
                <a:latin typeface="Courier"/>
              </a:rPr>
              <a:t>(created_at) </a:t>
            </a:r>
            <a:r>
              <a:rPr b="1">
                <a:solidFill>
                  <a:srgbClr val="007020"/>
                </a:solidFill>
                <a:latin typeface="Courier"/>
              </a:rPr>
              <a:t>as</a:t>
            </a:r>
            <a:r>
              <a:rPr>
                <a:latin typeface="Courier"/>
              </a:rPr>
              <a:t> </a:t>
            </a:r>
            <a:r>
              <a:rPr>
                <a:solidFill>
                  <a:srgbClr val="902000"/>
                </a:solidFill>
                <a:latin typeface="Courier"/>
              </a:rPr>
              <a:t>date</a:t>
            </a:r>
            <a:r>
              <a:rPr>
                <a:latin typeface="Courier"/>
              </a:rPr>
              <a:t>,</a:t>
            </a:r>
            <a:br/>
            <a:r>
              <a:rPr>
                <a:latin typeface="Courier"/>
              </a:rPr>
              <a:t>  </a:t>
            </a:r>
            <a:r>
              <a:rPr>
                <a:solidFill>
                  <a:srgbClr val="06287E"/>
                </a:solidFill>
                <a:latin typeface="Courier"/>
              </a:rPr>
              <a:t>COUNT</a:t>
            </a:r>
            <a:r>
              <a:rPr>
                <a:latin typeface="Courier"/>
              </a:rPr>
              <a:t>(</a:t>
            </a:r>
            <a:r>
              <a:rPr>
                <a:solidFill>
                  <a:srgbClr val="666666"/>
                </a:solidFill>
                <a:latin typeface="Courier"/>
              </a:rPr>
              <a:t>*</a:t>
            </a:r>
            <a:r>
              <a:rPr>
                <a:latin typeface="Courier"/>
              </a:rPr>
              <a:t>) </a:t>
            </a:r>
            <a:r>
              <a:rPr b="1">
                <a:solidFill>
                  <a:srgbClr val="007020"/>
                </a:solidFill>
                <a:latin typeface="Courier"/>
              </a:rPr>
              <a:t>as</a:t>
            </a:r>
            <a:r>
              <a:rPr>
                <a:latin typeface="Courier"/>
              </a:rPr>
              <a:t> patient_count,</a:t>
            </a:r>
            <a:br/>
            <a:r>
              <a:rPr>
                <a:latin typeface="Courier"/>
              </a:rPr>
              <a:t>  </a:t>
            </a:r>
            <a:r>
              <a:rPr>
                <a:solidFill>
                  <a:srgbClr val="06287E"/>
                </a:solidFill>
                <a:latin typeface="Courier"/>
              </a:rPr>
              <a:t>AVG</a:t>
            </a:r>
            <a:r>
              <a:rPr>
                <a:latin typeface="Courier"/>
              </a:rPr>
              <a:t>(wait_time) </a:t>
            </a:r>
            <a:r>
              <a:rPr b="1">
                <a:solidFill>
                  <a:srgbClr val="007020"/>
                </a:solidFill>
                <a:latin typeface="Courier"/>
              </a:rPr>
              <a:t>as</a:t>
            </a:r>
            <a:r>
              <a:rPr>
                <a:latin typeface="Courier"/>
              </a:rPr>
              <a:t> avg_wait_time</a:t>
            </a:r>
            <a:br/>
            <a:r>
              <a:rPr b="1">
                <a:solidFill>
                  <a:srgbClr val="007020"/>
                </a:solidFill>
                <a:latin typeface="Courier"/>
              </a:rPr>
              <a:t>FROM</a:t>
            </a:r>
            <a:r>
              <a:rPr>
                <a:latin typeface="Courier"/>
              </a:rPr>
              <a:t> visits</a:t>
            </a:r>
            <a:br/>
            <a:r>
              <a:rPr b="1">
                <a:solidFill>
                  <a:srgbClr val="007020"/>
                </a:solidFill>
                <a:latin typeface="Courier"/>
              </a:rPr>
              <a:t>GROUP</a:t>
            </a:r>
            <a:r>
              <a:rPr>
                <a:latin typeface="Courier"/>
              </a:rPr>
              <a:t> </a:t>
            </a:r>
            <a:r>
              <a:rPr b="1">
                <a:solidFill>
                  <a:srgbClr val="007020"/>
                </a:solidFill>
                <a:latin typeface="Courier"/>
              </a:rPr>
              <a:t>BY</a:t>
            </a:r>
            <a:r>
              <a:rPr>
                <a:latin typeface="Courier"/>
              </a:rPr>
              <a:t> </a:t>
            </a:r>
            <a:r>
              <a:rPr>
                <a:solidFill>
                  <a:srgbClr val="902000"/>
                </a:solidFill>
                <a:latin typeface="Courier"/>
              </a:rPr>
              <a:t>DATE</a:t>
            </a:r>
            <a:r>
              <a:rPr>
                <a:latin typeface="Courier"/>
              </a:rPr>
              <a:t>(created_at);</a:t>
            </a:r>
            <a:br/>
            <a:br/>
            <a:r>
              <a:rPr i="1">
                <a:solidFill>
                  <a:srgbClr val="60A0B0"/>
                </a:solidFill>
                <a:latin typeface="Courier"/>
              </a:rPr>
              <a:t>-- Refresh periodically</a:t>
            </a:r>
            <a:br/>
            <a:r>
              <a:rPr b="1">
                <a:solidFill>
                  <a:srgbClr val="007020"/>
                </a:solidFill>
                <a:latin typeface="Courier"/>
              </a:rPr>
              <a:t>REFRESH</a:t>
            </a:r>
            <a:r>
              <a:rPr>
                <a:latin typeface="Courier"/>
              </a:rPr>
              <a:t> </a:t>
            </a:r>
            <a:r>
              <a:rPr b="1">
                <a:solidFill>
                  <a:srgbClr val="007020"/>
                </a:solidFill>
                <a:latin typeface="Courier"/>
              </a:rPr>
              <a:t>MATERIALIZED</a:t>
            </a:r>
            <a:r>
              <a:rPr>
                <a:latin typeface="Courier"/>
              </a:rPr>
              <a:t> </a:t>
            </a:r>
            <a:r>
              <a:rPr b="1">
                <a:solidFill>
                  <a:srgbClr val="007020"/>
                </a:solidFill>
                <a:latin typeface="Courier"/>
              </a:rPr>
              <a:t>VIEW</a:t>
            </a:r>
            <a:r>
              <a:rPr>
                <a:latin typeface="Courier"/>
              </a:rPr>
              <a:t> daily_stats;</a:t>
            </a:r>
          </a:p>
          <a:p>
            <a:pPr lvl="0" indent="0" marL="0">
              <a:spcBef>
                <a:spcPts val="3000"/>
              </a:spcBef>
              <a:buNone/>
            </a:pPr>
            <a:r>
              <a:rPr b="1"/>
              <a:t>Horizontal Scaling</a:t>
            </a:r>
          </a:p>
          <a:p>
            <a:pPr lvl="0" indent="0" marL="0">
              <a:buNone/>
            </a:pPr>
            <a:r>
              <a:rPr b="1"/>
              <a:t>Stateless Application Design:</a:t>
            </a:r>
            <a:r>
              <a:rPr/>
              <a:t> - No session data in app server memory - Sessions in Redis (shared across instances) - WebSocket sticky sessions via load balancer - Can add/remove app servers dynamically</a:t>
            </a:r>
          </a:p>
          <a:p>
            <a:pPr lvl="0" indent="0" marL="0">
              <a:buNone/>
            </a:pPr>
            <a:r>
              <a:rPr b="1"/>
              <a:t>Load Balancing:</a:t>
            </a:r>
            <a:r>
              <a:rPr/>
              <a:t> - Round-robin distribution - Health check endpoint (</a:t>
            </a:r>
            <a:r>
              <a:rPr>
                <a:latin typeface="Courier"/>
              </a:rPr>
              <a:t>GET /health</a:t>
            </a:r>
            <a:r>
              <a:rPr/>
              <a:t>) - Automatic failover if instance unhealthy - Session affinity for WebSocket connections</a:t>
            </a:r>
          </a:p>
          <a:p>
            <a:pPr lvl="0" indent="0" marL="0">
              <a:buNone/>
            </a:pPr>
            <a:r>
              <a:rPr b="1"/>
              <a:t>Auto-Scaling Rules:</a:t>
            </a:r>
          </a:p>
          <a:p>
            <a:pPr lvl="0" indent="0">
              <a:buNone/>
            </a:pPr>
            <a:r>
              <a:rPr>
                <a:latin typeface="Courier"/>
              </a:rPr>
              <a:t>Scale UP when:
  - CPU &gt; 70% for 5 minutes
  - Memory &gt; 80% for 5 minutes
  - Request latency &gt; 500ms (p95) for 5 minutes
Scale DOWN when:
  - CPU &lt; 30% for 10 minutes
  - AND current instances &gt; minimum (2)</a:t>
            </a:r>
          </a:p>
          <a:p>
            <a:pPr lvl="0" indent="0" marL="0">
              <a:spcBef>
                <a:spcPts val="3000"/>
              </a:spcBef>
              <a:buNone/>
            </a:pPr>
            <a:r>
              <a:rPr b="1"/>
              <a:t>CDN &amp; Asset Optimization</a:t>
            </a:r>
          </a:p>
          <a:p>
            <a:pPr lvl="0" indent="0" marL="0">
              <a:buNone/>
            </a:pPr>
            <a:r>
              <a:rPr b="1"/>
              <a:t>Static Assets:</a:t>
            </a:r>
            <a:r>
              <a:rPr/>
              <a:t> - Frontend bundle on CDN (CloudFront, Cloudflare) - Cache-Control headers (1 year for hashed files) - Gzip/Brotli compression - Image optimization (WebP format, lazy loading)</a:t>
            </a:r>
          </a:p>
          <a:p>
            <a:pPr lvl="0" indent="0" marL="0">
              <a:buNone/>
            </a:pPr>
            <a:r>
              <a:rPr b="1"/>
              <a:t>Code Splitting:</a:t>
            </a:r>
          </a:p>
          <a:p>
            <a:pPr lvl="0" indent="0">
              <a:buNone/>
            </a:pPr>
            <a:r>
              <a:rPr i="1">
                <a:solidFill>
                  <a:srgbClr val="60A0B0"/>
                </a:solidFill>
                <a:latin typeface="Courier"/>
              </a:rPr>
              <a:t>// Lazy load routes</a:t>
            </a:r>
            <a:br/>
            <a:r>
              <a:rPr b="1">
                <a:solidFill>
                  <a:srgbClr val="007020"/>
                </a:solidFill>
                <a:latin typeface="Courier"/>
              </a:rPr>
              <a:t>const</a:t>
            </a:r>
            <a:r>
              <a:rPr>
                <a:latin typeface="Courier"/>
              </a:rPr>
              <a:t> Dashboard </a:t>
            </a:r>
            <a:r>
              <a:rPr>
                <a:solidFill>
                  <a:srgbClr val="666666"/>
                </a:solidFill>
                <a:latin typeface="Courier"/>
              </a:rPr>
              <a:t>=</a:t>
            </a:r>
            <a:r>
              <a:rPr>
                <a:latin typeface="Courier"/>
              </a:rPr>
              <a:t> </a:t>
            </a:r>
            <a:r>
              <a:rPr>
                <a:solidFill>
                  <a:srgbClr val="06287E"/>
                </a:solidFill>
                <a:latin typeface="Courier"/>
              </a:rPr>
              <a:t>lazy</a:t>
            </a:r>
            <a:r>
              <a:rPr>
                <a:latin typeface="Courier"/>
              </a:rPr>
              <a:t>(() </a:t>
            </a:r>
            <a:r>
              <a:rPr b="1">
                <a:solidFill>
                  <a:srgbClr val="007020"/>
                </a:solidFill>
                <a:latin typeface="Courier"/>
              </a:rPr>
              <a:t>=&gt;</a:t>
            </a:r>
            <a:r>
              <a:rPr>
                <a:latin typeface="Courier"/>
              </a:rPr>
              <a:t> </a:t>
            </a:r>
            <a:r>
              <a:rPr b="1">
                <a:solidFill>
                  <a:srgbClr val="008000"/>
                </a:solidFill>
                <a:latin typeface="Courier"/>
              </a:rPr>
              <a:t>import</a:t>
            </a:r>
            <a:r>
              <a:rPr>
                <a:latin typeface="Courier"/>
              </a:rPr>
              <a:t>(</a:t>
            </a:r>
            <a:r>
              <a:rPr>
                <a:solidFill>
                  <a:srgbClr val="4070A0"/>
                </a:solidFill>
                <a:latin typeface="Courier"/>
              </a:rPr>
              <a:t>'./pages/Dashboard'</a:t>
            </a:r>
            <a:r>
              <a:rPr>
                <a:latin typeface="Courier"/>
              </a:rPr>
              <a:t>))</a:t>
            </a:r>
            <a:r>
              <a:rPr>
                <a:solidFill>
                  <a:srgbClr val="666666"/>
                </a:solidFill>
                <a:latin typeface="Courier"/>
              </a:rPr>
              <a:t>;</a:t>
            </a:r>
            <a:br/>
            <a:r>
              <a:rPr b="1">
                <a:solidFill>
                  <a:srgbClr val="007020"/>
                </a:solidFill>
                <a:latin typeface="Courier"/>
              </a:rPr>
              <a:t>const</a:t>
            </a:r>
            <a:r>
              <a:rPr>
                <a:latin typeface="Courier"/>
              </a:rPr>
              <a:t> Patients </a:t>
            </a:r>
            <a:r>
              <a:rPr>
                <a:solidFill>
                  <a:srgbClr val="666666"/>
                </a:solidFill>
                <a:latin typeface="Courier"/>
              </a:rPr>
              <a:t>=</a:t>
            </a:r>
            <a:r>
              <a:rPr>
                <a:latin typeface="Courier"/>
              </a:rPr>
              <a:t> </a:t>
            </a:r>
            <a:r>
              <a:rPr>
                <a:solidFill>
                  <a:srgbClr val="06287E"/>
                </a:solidFill>
                <a:latin typeface="Courier"/>
              </a:rPr>
              <a:t>lazy</a:t>
            </a:r>
            <a:r>
              <a:rPr>
                <a:latin typeface="Courier"/>
              </a:rPr>
              <a:t>(() </a:t>
            </a:r>
            <a:r>
              <a:rPr b="1">
                <a:solidFill>
                  <a:srgbClr val="007020"/>
                </a:solidFill>
                <a:latin typeface="Courier"/>
              </a:rPr>
              <a:t>=&gt;</a:t>
            </a:r>
            <a:r>
              <a:rPr>
                <a:latin typeface="Courier"/>
              </a:rPr>
              <a:t> </a:t>
            </a:r>
            <a:r>
              <a:rPr b="1">
                <a:solidFill>
                  <a:srgbClr val="008000"/>
                </a:solidFill>
                <a:latin typeface="Courier"/>
              </a:rPr>
              <a:t>import</a:t>
            </a:r>
            <a:r>
              <a:rPr>
                <a:latin typeface="Courier"/>
              </a:rPr>
              <a:t>(</a:t>
            </a:r>
            <a:r>
              <a:rPr>
                <a:solidFill>
                  <a:srgbClr val="4070A0"/>
                </a:solidFill>
                <a:latin typeface="Courier"/>
              </a:rPr>
              <a:t>'./pages/Patients'</a:t>
            </a:r>
            <a:r>
              <a:rPr>
                <a:latin typeface="Courier"/>
              </a:rPr>
              <a:t>))</a:t>
            </a:r>
            <a:r>
              <a:rPr>
                <a:solidFill>
                  <a:srgbClr val="666666"/>
                </a:solidFill>
                <a:latin typeface="Courie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9. Monitoring &amp; Maintenance</a:t>
            </a:r>
          </a:p>
        </p:txBody>
      </p:sp>
      <p:sp>
        <p:nvSpPr>
          <p:cNvPr id="4" name="Text Placeholder 3"/>
          <p:cNvSpPr>
            <a:spLocks noGrp="1"/>
          </p:cNvSpPr>
          <p:nvPr>
            <p:ph idx="2" sz="half" type="body"/>
          </p:nvPr>
        </p:nvSpPr>
        <p:spPr/>
        <p:txBody>
          <a:bodyPr/>
          <a:lstStyle/>
          <a:p>
            <a:pPr lvl="0" indent="0" marL="0">
              <a:spcBef>
                <a:spcPts val="3000"/>
              </a:spcBef>
              <a:buNone/>
            </a:pPr>
            <a:r>
              <a:rPr b="1"/>
              <a:t>Application Monitoring</a:t>
            </a:r>
          </a:p>
          <a:p>
            <a:pPr lvl="0" indent="0" marL="0">
              <a:buNone/>
            </a:pPr>
            <a:r>
              <a:rPr b="1"/>
              <a:t>Logging:</a:t>
            </a:r>
          </a:p>
          <a:p>
            <a:pPr lvl="0" indent="0" marL="0">
              <a:buNone/>
            </a:pPr>
            <a:r>
              <a:rPr b="1"/>
              <a:t>Winston Logger Configuration:</a:t>
            </a:r>
          </a:p>
          <a:p>
            <a:pPr lvl="0" indent="0">
              <a:buNone/>
            </a:pPr>
            <a:r>
              <a:rPr b="1">
                <a:solidFill>
                  <a:srgbClr val="007020"/>
                </a:solidFill>
                <a:latin typeface="Courier"/>
              </a:rPr>
              <a:t>const</a:t>
            </a:r>
            <a:r>
              <a:rPr>
                <a:latin typeface="Courier"/>
              </a:rPr>
              <a:t> logger </a:t>
            </a:r>
            <a:r>
              <a:rPr>
                <a:solidFill>
                  <a:srgbClr val="666666"/>
                </a:solidFill>
                <a:latin typeface="Courier"/>
              </a:rPr>
              <a:t>=</a:t>
            </a:r>
            <a:r>
              <a:rPr>
                <a:latin typeface="Courier"/>
              </a:rPr>
              <a:t> winston</a:t>
            </a:r>
            <a:r>
              <a:rPr>
                <a:solidFill>
                  <a:srgbClr val="666666"/>
                </a:solidFill>
                <a:latin typeface="Courier"/>
              </a:rPr>
              <a:t>.</a:t>
            </a:r>
            <a:r>
              <a:rPr>
                <a:solidFill>
                  <a:srgbClr val="06287E"/>
                </a:solidFill>
                <a:latin typeface="Courier"/>
              </a:rPr>
              <a:t>createLogger</a:t>
            </a:r>
            <a:r>
              <a:rPr>
                <a:latin typeface="Courier"/>
              </a:rPr>
              <a:t>({</a:t>
            </a:r>
            <a:br/>
            <a:r>
              <a:rPr>
                <a:latin typeface="Courier"/>
              </a:rPr>
              <a:t>  level</a:t>
            </a:r>
            <a:r>
              <a:rPr>
                <a:solidFill>
                  <a:srgbClr val="666666"/>
                </a:solidFill>
                <a:latin typeface="Courier"/>
              </a:rPr>
              <a:t>:</a:t>
            </a:r>
            <a:r>
              <a:rPr>
                <a:latin typeface="Courier"/>
              </a:rPr>
              <a:t> </a:t>
            </a:r>
            <a:r>
              <a:rPr>
                <a:solidFill>
                  <a:srgbClr val="4070A0"/>
                </a:solidFill>
                <a:latin typeface="Courier"/>
              </a:rPr>
              <a:t>'info'</a:t>
            </a:r>
            <a:r>
              <a:rPr>
                <a:solidFill>
                  <a:srgbClr val="666666"/>
                </a:solidFill>
                <a:latin typeface="Courier"/>
              </a:rPr>
              <a:t>,</a:t>
            </a:r>
            <a:br/>
            <a:r>
              <a:rPr>
                <a:latin typeface="Courier"/>
              </a:rPr>
              <a:t>  format</a:t>
            </a:r>
            <a:r>
              <a:rPr>
                <a:solidFill>
                  <a:srgbClr val="666666"/>
                </a:solidFill>
                <a:latin typeface="Courier"/>
              </a:rPr>
              <a:t>:</a:t>
            </a:r>
            <a:r>
              <a:rPr>
                <a:latin typeface="Courier"/>
              </a:rPr>
              <a:t> winston</a:t>
            </a:r>
            <a:r>
              <a:rPr>
                <a:solidFill>
                  <a:srgbClr val="666666"/>
                </a:solidFill>
                <a:latin typeface="Courier"/>
              </a:rPr>
              <a:t>.</a:t>
            </a:r>
            <a:r>
              <a:rPr>
                <a:solidFill>
                  <a:srgbClr val="7D9029"/>
                </a:solidFill>
                <a:latin typeface="Courier"/>
              </a:rPr>
              <a:t>format</a:t>
            </a:r>
            <a:r>
              <a:rPr>
                <a:solidFill>
                  <a:srgbClr val="666666"/>
                </a:solidFill>
                <a:latin typeface="Courier"/>
              </a:rPr>
              <a:t>.</a:t>
            </a:r>
            <a:r>
              <a:rPr>
                <a:solidFill>
                  <a:srgbClr val="06287E"/>
                </a:solidFill>
                <a:latin typeface="Courier"/>
              </a:rPr>
              <a:t>json</a:t>
            </a:r>
            <a:r>
              <a:rPr>
                <a:latin typeface="Courier"/>
              </a:rPr>
              <a:t>()</a:t>
            </a:r>
            <a:r>
              <a:rPr>
                <a:solidFill>
                  <a:srgbClr val="666666"/>
                </a:solidFill>
                <a:latin typeface="Courier"/>
              </a:rPr>
              <a:t>,</a:t>
            </a:r>
            <a:br/>
            <a:r>
              <a:rPr>
                <a:latin typeface="Courier"/>
              </a:rPr>
              <a:t>  transports</a:t>
            </a:r>
            <a:r>
              <a:rPr>
                <a:solidFill>
                  <a:srgbClr val="666666"/>
                </a:solidFill>
                <a:latin typeface="Courier"/>
              </a:rPr>
              <a:t>:</a:t>
            </a:r>
            <a:r>
              <a:rPr>
                <a:latin typeface="Courier"/>
              </a:rPr>
              <a:t> [</a:t>
            </a:r>
            <a:br/>
            <a:r>
              <a:rPr>
                <a:latin typeface="Courier"/>
              </a:rPr>
              <a:t>    </a:t>
            </a:r>
            <a:r>
              <a:rPr b="1">
                <a:solidFill>
                  <a:srgbClr val="007020"/>
                </a:solidFill>
                <a:latin typeface="Courier"/>
              </a:rPr>
              <a:t>new</a:t>
            </a:r>
            <a:r>
              <a:rPr>
                <a:latin typeface="Courier"/>
              </a:rPr>
              <a:t> winston</a:t>
            </a:r>
            <a:r>
              <a:rPr>
                <a:solidFill>
                  <a:srgbClr val="666666"/>
                </a:solidFill>
                <a:latin typeface="Courier"/>
              </a:rPr>
              <a:t>.</a:t>
            </a:r>
            <a:r>
              <a:rPr>
                <a:solidFill>
                  <a:srgbClr val="7D9029"/>
                </a:solidFill>
                <a:latin typeface="Courier"/>
              </a:rPr>
              <a:t>transports</a:t>
            </a:r>
            <a:r>
              <a:rPr>
                <a:solidFill>
                  <a:srgbClr val="666666"/>
                </a:solidFill>
                <a:latin typeface="Courier"/>
              </a:rPr>
              <a:t>.</a:t>
            </a:r>
            <a:r>
              <a:rPr>
                <a:solidFill>
                  <a:srgbClr val="06287E"/>
                </a:solidFill>
                <a:latin typeface="Courier"/>
              </a:rPr>
              <a:t>File</a:t>
            </a:r>
            <a:r>
              <a:rPr>
                <a:latin typeface="Courier"/>
              </a:rPr>
              <a:t>({ filename</a:t>
            </a:r>
            <a:r>
              <a:rPr>
                <a:solidFill>
                  <a:srgbClr val="666666"/>
                </a:solidFill>
                <a:latin typeface="Courier"/>
              </a:rPr>
              <a:t>:</a:t>
            </a:r>
            <a:r>
              <a:rPr>
                <a:latin typeface="Courier"/>
              </a:rPr>
              <a:t> </a:t>
            </a:r>
            <a:r>
              <a:rPr>
                <a:solidFill>
                  <a:srgbClr val="4070A0"/>
                </a:solidFill>
                <a:latin typeface="Courier"/>
              </a:rPr>
              <a:t>'error.log'</a:t>
            </a:r>
            <a:r>
              <a:rPr>
                <a:solidFill>
                  <a:srgbClr val="666666"/>
                </a:solidFill>
                <a:latin typeface="Courier"/>
              </a:rPr>
              <a:t>,</a:t>
            </a:r>
            <a:r>
              <a:rPr>
                <a:latin typeface="Courier"/>
              </a:rPr>
              <a:t> level</a:t>
            </a:r>
            <a:r>
              <a:rPr>
                <a:solidFill>
                  <a:srgbClr val="666666"/>
                </a:solidFill>
                <a:latin typeface="Courier"/>
              </a:rPr>
              <a:t>:</a:t>
            </a:r>
            <a:r>
              <a:rPr>
                <a:latin typeface="Courier"/>
              </a:rPr>
              <a:t> </a:t>
            </a:r>
            <a:r>
              <a:rPr>
                <a:solidFill>
                  <a:srgbClr val="4070A0"/>
                </a:solidFill>
                <a:latin typeface="Courier"/>
              </a:rPr>
              <a:t>'error'</a:t>
            </a:r>
            <a:r>
              <a:rPr>
                <a:latin typeface="Courier"/>
              </a:rPr>
              <a:t> })</a:t>
            </a:r>
            <a:r>
              <a:rPr>
                <a:solidFill>
                  <a:srgbClr val="666666"/>
                </a:solidFill>
                <a:latin typeface="Courier"/>
              </a:rPr>
              <a:t>,</a:t>
            </a:r>
            <a:br/>
            <a:r>
              <a:rPr>
                <a:latin typeface="Courier"/>
              </a:rPr>
              <a:t>    </a:t>
            </a:r>
            <a:r>
              <a:rPr b="1">
                <a:solidFill>
                  <a:srgbClr val="007020"/>
                </a:solidFill>
                <a:latin typeface="Courier"/>
              </a:rPr>
              <a:t>new</a:t>
            </a:r>
            <a:r>
              <a:rPr>
                <a:latin typeface="Courier"/>
              </a:rPr>
              <a:t> winston</a:t>
            </a:r>
            <a:r>
              <a:rPr>
                <a:solidFill>
                  <a:srgbClr val="666666"/>
                </a:solidFill>
                <a:latin typeface="Courier"/>
              </a:rPr>
              <a:t>.</a:t>
            </a:r>
            <a:r>
              <a:rPr>
                <a:solidFill>
                  <a:srgbClr val="7D9029"/>
                </a:solidFill>
                <a:latin typeface="Courier"/>
              </a:rPr>
              <a:t>transports</a:t>
            </a:r>
            <a:r>
              <a:rPr>
                <a:solidFill>
                  <a:srgbClr val="666666"/>
                </a:solidFill>
                <a:latin typeface="Courier"/>
              </a:rPr>
              <a:t>.</a:t>
            </a:r>
            <a:r>
              <a:rPr>
                <a:solidFill>
                  <a:srgbClr val="06287E"/>
                </a:solidFill>
                <a:latin typeface="Courier"/>
              </a:rPr>
              <a:t>File</a:t>
            </a:r>
            <a:r>
              <a:rPr>
                <a:latin typeface="Courier"/>
              </a:rPr>
              <a:t>({ filename</a:t>
            </a:r>
            <a:r>
              <a:rPr>
                <a:solidFill>
                  <a:srgbClr val="666666"/>
                </a:solidFill>
                <a:latin typeface="Courier"/>
              </a:rPr>
              <a:t>:</a:t>
            </a:r>
            <a:r>
              <a:rPr>
                <a:latin typeface="Courier"/>
              </a:rPr>
              <a:t> </a:t>
            </a:r>
            <a:r>
              <a:rPr>
                <a:solidFill>
                  <a:srgbClr val="4070A0"/>
                </a:solidFill>
                <a:latin typeface="Courier"/>
              </a:rPr>
              <a:t>'combined.log'</a:t>
            </a:r>
            <a:r>
              <a:rPr>
                <a:latin typeface="Courier"/>
              </a:rPr>
              <a:t> })</a:t>
            </a:r>
            <a:r>
              <a:rPr>
                <a:solidFill>
                  <a:srgbClr val="666666"/>
                </a:solidFill>
                <a:latin typeface="Courier"/>
              </a:rPr>
              <a:t>,</a:t>
            </a:r>
            <a:br/>
            <a:r>
              <a:rPr>
                <a:latin typeface="Courier"/>
              </a:rPr>
              <a:t>  ]</a:t>
            </a:r>
            <a:r>
              <a:rPr>
                <a:solidFill>
                  <a:srgbClr val="666666"/>
                </a:solidFill>
                <a:latin typeface="Courier"/>
              </a:rPr>
              <a:t>,</a:t>
            </a:r>
            <a:br/>
            <a:r>
              <a:rPr>
                <a:latin typeface="Courier"/>
              </a:rPr>
              <a:t>})</a:t>
            </a:r>
            <a:r>
              <a:rPr>
                <a:solidFill>
                  <a:srgbClr val="666666"/>
                </a:solidFill>
                <a:latin typeface="Courier"/>
              </a:rPr>
              <a:t>;</a:t>
            </a:r>
            <a:br/>
            <a:br/>
            <a:r>
              <a:rPr b="1">
                <a:solidFill>
                  <a:srgbClr val="007020"/>
                </a:solidFill>
                <a:latin typeface="Courier"/>
              </a:rPr>
              <a:t>if</a:t>
            </a:r>
            <a:r>
              <a:rPr>
                <a:latin typeface="Courier"/>
              </a:rPr>
              <a:t> (</a:t>
            </a:r>
            <a:r>
              <a:rPr>
                <a:solidFill>
                  <a:srgbClr val="008000"/>
                </a:solidFill>
                <a:latin typeface="Courier"/>
              </a:rPr>
              <a:t>process</a:t>
            </a:r>
            <a:r>
              <a:rPr>
                <a:solidFill>
                  <a:srgbClr val="666666"/>
                </a:solidFill>
                <a:latin typeface="Courier"/>
              </a:rPr>
              <a:t>.</a:t>
            </a:r>
            <a:r>
              <a:rPr>
                <a:solidFill>
                  <a:srgbClr val="7D9029"/>
                </a:solidFill>
                <a:latin typeface="Courier"/>
              </a:rPr>
              <a:t>env</a:t>
            </a:r>
            <a:r>
              <a:rPr>
                <a:solidFill>
                  <a:srgbClr val="666666"/>
                </a:solidFill>
                <a:latin typeface="Courier"/>
              </a:rPr>
              <a:t>.</a:t>
            </a:r>
            <a:r>
              <a:rPr>
                <a:solidFill>
                  <a:srgbClr val="7D9029"/>
                </a:solidFill>
                <a:latin typeface="Courier"/>
              </a:rPr>
              <a:t>NODE_ENV</a:t>
            </a:r>
            <a:r>
              <a:rPr>
                <a:latin typeface="Courier"/>
              </a:rPr>
              <a:t> </a:t>
            </a:r>
            <a:r>
              <a:rPr>
                <a:solidFill>
                  <a:srgbClr val="666666"/>
                </a:solidFill>
                <a:latin typeface="Courier"/>
              </a:rPr>
              <a:t>!==</a:t>
            </a:r>
            <a:r>
              <a:rPr>
                <a:latin typeface="Courier"/>
              </a:rPr>
              <a:t> </a:t>
            </a:r>
            <a:r>
              <a:rPr>
                <a:solidFill>
                  <a:srgbClr val="4070A0"/>
                </a:solidFill>
                <a:latin typeface="Courier"/>
              </a:rPr>
              <a:t>'production'</a:t>
            </a:r>
            <a:r>
              <a:rPr>
                <a:latin typeface="Courier"/>
              </a:rPr>
              <a:t>) {</a:t>
            </a:r>
            <a:br/>
            <a:r>
              <a:rPr>
                <a:latin typeface="Courier"/>
              </a:rPr>
              <a:t>  logger</a:t>
            </a:r>
            <a:r>
              <a:rPr>
                <a:solidFill>
                  <a:srgbClr val="666666"/>
                </a:solidFill>
                <a:latin typeface="Courier"/>
              </a:rPr>
              <a:t>.</a:t>
            </a:r>
            <a:r>
              <a:rPr>
                <a:solidFill>
                  <a:srgbClr val="06287E"/>
                </a:solidFill>
                <a:latin typeface="Courier"/>
              </a:rPr>
              <a:t>add</a:t>
            </a:r>
            <a:r>
              <a:rPr>
                <a:latin typeface="Courier"/>
              </a:rPr>
              <a:t>(</a:t>
            </a:r>
            <a:r>
              <a:rPr b="1">
                <a:solidFill>
                  <a:srgbClr val="007020"/>
                </a:solidFill>
                <a:latin typeface="Courier"/>
              </a:rPr>
              <a:t>new</a:t>
            </a:r>
            <a:r>
              <a:rPr>
                <a:latin typeface="Courier"/>
              </a:rPr>
              <a:t> winston</a:t>
            </a:r>
            <a:r>
              <a:rPr>
                <a:solidFill>
                  <a:srgbClr val="666666"/>
                </a:solidFill>
                <a:latin typeface="Courier"/>
              </a:rPr>
              <a:t>.</a:t>
            </a:r>
            <a:r>
              <a:rPr>
                <a:solidFill>
                  <a:srgbClr val="7D9029"/>
                </a:solidFill>
                <a:latin typeface="Courier"/>
              </a:rPr>
              <a:t>transports</a:t>
            </a:r>
            <a:r>
              <a:rPr>
                <a:solidFill>
                  <a:srgbClr val="666666"/>
                </a:solidFill>
                <a:latin typeface="Courier"/>
              </a:rPr>
              <a:t>.</a:t>
            </a:r>
            <a:r>
              <a:rPr>
                <a:solidFill>
                  <a:srgbClr val="06287E"/>
                </a:solidFill>
                <a:latin typeface="Courier"/>
              </a:rPr>
              <a:t>Console</a:t>
            </a:r>
            <a:r>
              <a:rPr>
                <a:latin typeface="Courier"/>
              </a:rPr>
              <a:t>({</a:t>
            </a:r>
            <a:br/>
            <a:r>
              <a:rPr>
                <a:latin typeface="Courier"/>
              </a:rPr>
              <a:t>    format</a:t>
            </a:r>
            <a:r>
              <a:rPr>
                <a:solidFill>
                  <a:srgbClr val="666666"/>
                </a:solidFill>
                <a:latin typeface="Courier"/>
              </a:rPr>
              <a:t>:</a:t>
            </a:r>
            <a:r>
              <a:rPr>
                <a:latin typeface="Courier"/>
              </a:rPr>
              <a:t> winston</a:t>
            </a:r>
            <a:r>
              <a:rPr>
                <a:solidFill>
                  <a:srgbClr val="666666"/>
                </a:solidFill>
                <a:latin typeface="Courier"/>
              </a:rPr>
              <a:t>.</a:t>
            </a:r>
            <a:r>
              <a:rPr>
                <a:solidFill>
                  <a:srgbClr val="7D9029"/>
                </a:solidFill>
                <a:latin typeface="Courier"/>
              </a:rPr>
              <a:t>format</a:t>
            </a:r>
            <a:r>
              <a:rPr>
                <a:solidFill>
                  <a:srgbClr val="666666"/>
                </a:solidFill>
                <a:latin typeface="Courier"/>
              </a:rPr>
              <a:t>.</a:t>
            </a:r>
            <a:r>
              <a:rPr>
                <a:solidFill>
                  <a:srgbClr val="06287E"/>
                </a:solidFill>
                <a:latin typeface="Courier"/>
              </a:rPr>
              <a:t>simple</a:t>
            </a:r>
            <a:r>
              <a:rPr>
                <a:latin typeface="Courier"/>
              </a:rPr>
              <a:t>()</a:t>
            </a:r>
            <a:r>
              <a:rPr>
                <a:solidFill>
                  <a:srgbClr val="666666"/>
                </a:solidFill>
                <a:latin typeface="Courier"/>
              </a:rPr>
              <a:t>,</a:t>
            </a:r>
            <a:br/>
            <a:r>
              <a:rPr>
                <a:latin typeface="Courier"/>
              </a:rPr>
              <a:t>  }))</a:t>
            </a:r>
            <a:r>
              <a:rPr>
                <a:solidFill>
                  <a:srgbClr val="666666"/>
                </a:solidFill>
                <a:latin typeface="Courier"/>
              </a:rPr>
              <a:t>;</a:t>
            </a:r>
            <a:br/>
            <a:r>
              <a:rPr>
                <a:latin typeface="Courier"/>
              </a:rPr>
              <a:t>}</a:t>
            </a:r>
          </a:p>
          <a:p>
            <a:pPr lvl="0" indent="0" marL="0">
              <a:buNone/>
            </a:pPr>
            <a:r>
              <a:rPr b="1"/>
              <a:t>Log Levels:</a:t>
            </a:r>
            <a:r>
              <a:rPr/>
              <a:t> - </a:t>
            </a:r>
            <a:r>
              <a:rPr b="1"/>
              <a:t>ERROR:</a:t>
            </a:r>
            <a:r>
              <a:rPr/>
              <a:t> Application errors, exceptions - </a:t>
            </a:r>
            <a:r>
              <a:rPr b="1"/>
              <a:t>WARN:</a:t>
            </a:r>
            <a:r>
              <a:rPr/>
              <a:t> Potential issues (high latency, rate limits hit) - </a:t>
            </a:r>
            <a:r>
              <a:rPr b="1"/>
              <a:t>INFO:</a:t>
            </a:r>
            <a:r>
              <a:rPr/>
              <a:t> Important events (user login, prescription created) - </a:t>
            </a:r>
            <a:r>
              <a:rPr b="1"/>
              <a:t>DEBUG:</a:t>
            </a:r>
            <a:r>
              <a:rPr/>
              <a:t> Detailed debugging information</a:t>
            </a:r>
          </a:p>
          <a:p>
            <a:pPr lvl="0" indent="0" marL="0">
              <a:buNone/>
            </a:pPr>
            <a:r>
              <a:rPr b="1"/>
              <a:t>Structured Logging:</a:t>
            </a:r>
          </a:p>
          <a:p>
            <a:pPr lvl="0" indent="0">
              <a:buNone/>
            </a:pPr>
            <a:r>
              <a:rPr>
                <a:latin typeface="Courier"/>
              </a:rPr>
              <a:t>logger</a:t>
            </a:r>
            <a:r>
              <a:rPr>
                <a:solidFill>
                  <a:srgbClr val="666666"/>
                </a:solidFill>
                <a:latin typeface="Courier"/>
              </a:rPr>
              <a:t>.</a:t>
            </a:r>
            <a:r>
              <a:rPr>
                <a:solidFill>
                  <a:srgbClr val="06287E"/>
                </a:solidFill>
                <a:latin typeface="Courier"/>
              </a:rPr>
              <a:t>info</a:t>
            </a:r>
            <a:r>
              <a:rPr>
                <a:latin typeface="Courier"/>
              </a:rPr>
              <a:t>(</a:t>
            </a:r>
            <a:r>
              <a:rPr>
                <a:solidFill>
                  <a:srgbClr val="4070A0"/>
                </a:solidFill>
                <a:latin typeface="Courier"/>
              </a:rPr>
              <a:t>'User login successful'</a:t>
            </a:r>
            <a:r>
              <a:rPr>
                <a:solidFill>
                  <a:srgbClr val="666666"/>
                </a:solidFill>
                <a:latin typeface="Courier"/>
              </a:rPr>
              <a:t>,</a:t>
            </a:r>
            <a:r>
              <a:rPr>
                <a:latin typeface="Courier"/>
              </a:rPr>
              <a:t> {</a:t>
            </a:r>
            <a:br/>
            <a:r>
              <a:rPr>
                <a:latin typeface="Courier"/>
              </a:rPr>
              <a:t>  userId</a:t>
            </a:r>
            <a:r>
              <a:rPr>
                <a:solidFill>
                  <a:srgbClr val="666666"/>
                </a:solidFill>
                <a:latin typeface="Courier"/>
              </a:rPr>
              <a:t>:</a:t>
            </a:r>
            <a:r>
              <a:rPr>
                <a:latin typeface="Courier"/>
              </a:rPr>
              <a:t> </a:t>
            </a:r>
            <a:r>
              <a:rPr>
                <a:solidFill>
                  <a:srgbClr val="40A070"/>
                </a:solidFill>
                <a:latin typeface="Courier"/>
              </a:rPr>
              <a:t>123</a:t>
            </a:r>
            <a:r>
              <a:rPr>
                <a:solidFill>
                  <a:srgbClr val="666666"/>
                </a:solidFill>
                <a:latin typeface="Courier"/>
              </a:rPr>
              <a:t>,</a:t>
            </a:r>
            <a:br/>
            <a:r>
              <a:rPr>
                <a:latin typeface="Courier"/>
              </a:rPr>
              <a:t>  email</a:t>
            </a:r>
            <a:r>
              <a:rPr>
                <a:solidFill>
                  <a:srgbClr val="666666"/>
                </a:solidFill>
                <a:latin typeface="Courier"/>
              </a:rPr>
              <a:t>:</a:t>
            </a:r>
            <a:r>
              <a:rPr>
                <a:latin typeface="Courier"/>
              </a:rPr>
              <a:t> </a:t>
            </a:r>
            <a:r>
              <a:rPr>
                <a:solidFill>
                  <a:srgbClr val="4070A0"/>
                </a:solidFill>
                <a:latin typeface="Courier"/>
              </a:rPr>
              <a:t>'doctor@hospital.com'</a:t>
            </a:r>
            <a:r>
              <a:rPr>
                <a:solidFill>
                  <a:srgbClr val="666666"/>
                </a:solidFill>
                <a:latin typeface="Courier"/>
              </a:rPr>
              <a:t>,</a:t>
            </a:r>
            <a:br/>
            <a:r>
              <a:rPr>
                <a:latin typeface="Courier"/>
              </a:rPr>
              <a:t>  ip</a:t>
            </a:r>
            <a:r>
              <a:rPr>
                <a:solidFill>
                  <a:srgbClr val="666666"/>
                </a:solidFill>
                <a:latin typeface="Courier"/>
              </a:rPr>
              <a:t>:</a:t>
            </a:r>
            <a:r>
              <a:rPr>
                <a:latin typeface="Courier"/>
              </a:rPr>
              <a:t> req</a:t>
            </a:r>
            <a:r>
              <a:rPr>
                <a:solidFill>
                  <a:srgbClr val="666666"/>
                </a:solidFill>
                <a:latin typeface="Courier"/>
              </a:rPr>
              <a:t>.</a:t>
            </a:r>
            <a:r>
              <a:rPr>
                <a:solidFill>
                  <a:srgbClr val="7D9029"/>
                </a:solidFill>
                <a:latin typeface="Courier"/>
              </a:rPr>
              <a:t>ip</a:t>
            </a:r>
            <a:r>
              <a:rPr>
                <a:solidFill>
                  <a:srgbClr val="666666"/>
                </a:solidFill>
                <a:latin typeface="Courier"/>
              </a:rPr>
              <a:t>,</a:t>
            </a:r>
            <a:br/>
            <a:r>
              <a:rPr>
                <a:latin typeface="Courier"/>
              </a:rPr>
              <a:t>  timestamp</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08000"/>
                </a:solidFill>
                <a:latin typeface="Courier"/>
              </a:rPr>
              <a:t>Date</a:t>
            </a:r>
            <a:r>
              <a:rPr>
                <a:latin typeface="Courier"/>
              </a:rPr>
              <a:t>()</a:t>
            </a:r>
            <a:r>
              <a:rPr>
                <a:solidFill>
                  <a:srgbClr val="666666"/>
                </a:solidFill>
                <a:latin typeface="Courier"/>
              </a:rPr>
              <a:t>.</a:t>
            </a:r>
            <a:r>
              <a:rPr>
                <a:solidFill>
                  <a:srgbClr val="06287E"/>
                </a:solidFill>
                <a:latin typeface="Courier"/>
              </a:rPr>
              <a:t>toISOString</a:t>
            </a:r>
            <a:r>
              <a:rPr>
                <a:latin typeface="Courier"/>
              </a:rPr>
              <a:t>()</a:t>
            </a:r>
            <a:br/>
            <a:r>
              <a:rPr>
                <a:latin typeface="Courier"/>
              </a:rPr>
              <a:t>})</a:t>
            </a:r>
            <a:r>
              <a:rPr>
                <a:solidFill>
                  <a:srgbClr val="666666"/>
                </a:solidFill>
                <a:latin typeface="Courier"/>
              </a:rPr>
              <a:t>;</a:t>
            </a:r>
          </a:p>
          <a:p>
            <a:pPr lvl="0" indent="0" marL="0">
              <a:spcBef>
                <a:spcPts val="3000"/>
              </a:spcBef>
              <a:buNone/>
            </a:pPr>
            <a:r>
              <a:rPr b="1"/>
              <a:t>APM (Application Performance Monitoring)</a:t>
            </a:r>
          </a:p>
          <a:p>
            <a:pPr lvl="0" indent="0" marL="0">
              <a:buNone/>
            </a:pPr>
            <a:r>
              <a:rPr b="1"/>
              <a:t>Recommended Tools:</a:t>
            </a:r>
            <a:r>
              <a:rPr/>
              <a:t> - </a:t>
            </a:r>
            <a:r>
              <a:rPr b="1"/>
              <a:t>New Relic:</a:t>
            </a:r>
            <a:r>
              <a:rPr/>
              <a:t> Transaction tracing, error tracking - </a:t>
            </a:r>
            <a:r>
              <a:rPr b="1"/>
              <a:t>Datadog:</a:t>
            </a:r>
            <a:r>
              <a:rPr/>
              <a:t> Infrastructure + application monitoring - </a:t>
            </a:r>
            <a:r>
              <a:rPr b="1"/>
              <a:t>Sentry:</a:t>
            </a:r>
            <a:r>
              <a:rPr/>
              <a:t> Error tracking and crash reporting - </a:t>
            </a:r>
            <a:r>
              <a:rPr b="1"/>
              <a:t>Elastic APM:</a:t>
            </a:r>
            <a:r>
              <a:rPr/>
              <a:t> Open-source alternative</a:t>
            </a:r>
          </a:p>
          <a:p>
            <a:pPr lvl="0" indent="0" marL="0">
              <a:buNone/>
            </a:pPr>
            <a:r>
              <a:rPr b="1"/>
              <a:t>Metrics to Track:</a:t>
            </a:r>
            <a:r>
              <a:rPr/>
              <a:t> - Request throughput (req/min) - Response times (p50, p95, p99) - Error rate (% of requests) - Database query performance - WebSocket connection count - Active user count - Memory usage - CPU usage</a:t>
            </a:r>
          </a:p>
          <a:p>
            <a:pPr lvl="0" indent="0" marL="0">
              <a:spcBef>
                <a:spcPts val="3000"/>
              </a:spcBef>
              <a:buNone/>
            </a:pPr>
            <a:r>
              <a:rPr b="1"/>
              <a:t>Health Checks</a:t>
            </a:r>
          </a:p>
          <a:p>
            <a:pPr lvl="0" indent="0" marL="0">
              <a:buNone/>
            </a:pPr>
            <a:r>
              <a:rPr b="1"/>
              <a:t>Health Endpoint:</a:t>
            </a:r>
          </a:p>
          <a:p>
            <a:pPr lvl="0" indent="0">
              <a:buNone/>
            </a:pPr>
            <a:r>
              <a:rPr>
                <a:latin typeface="Courier"/>
              </a:rPr>
              <a:t>app</a:t>
            </a:r>
            <a:r>
              <a:rPr>
                <a:solidFill>
                  <a:srgbClr val="666666"/>
                </a:solidFill>
                <a:latin typeface="Courier"/>
              </a:rPr>
              <a:t>.</a:t>
            </a:r>
            <a:r>
              <a:rPr>
                <a:solidFill>
                  <a:srgbClr val="06287E"/>
                </a:solidFill>
                <a:latin typeface="Courier"/>
              </a:rPr>
              <a:t>get</a:t>
            </a:r>
            <a:r>
              <a:rPr>
                <a:latin typeface="Courier"/>
              </a:rPr>
              <a:t>(</a:t>
            </a:r>
            <a:r>
              <a:rPr>
                <a:solidFill>
                  <a:srgbClr val="4070A0"/>
                </a:solidFill>
                <a:latin typeface="Courier"/>
              </a:rPr>
              <a:t>'/health'</a:t>
            </a:r>
            <a:r>
              <a:rPr>
                <a:solidFill>
                  <a:srgbClr val="666666"/>
                </a:solidFill>
                <a:latin typeface="Courier"/>
              </a:rPr>
              <a:t>,</a:t>
            </a:r>
            <a:r>
              <a:rPr>
                <a:latin typeface="Courier"/>
              </a:rPr>
              <a:t> </a:t>
            </a:r>
            <a:r>
              <a:rPr b="1">
                <a:solidFill>
                  <a:srgbClr val="007020"/>
                </a:solidFill>
                <a:latin typeface="Courier"/>
              </a:rPr>
              <a:t>async</a:t>
            </a:r>
            <a:r>
              <a:rPr>
                <a:latin typeface="Courier"/>
              </a:rPr>
              <a:t> (req</a:t>
            </a:r>
            <a:r>
              <a:rPr>
                <a:solidFill>
                  <a:srgbClr val="666666"/>
                </a:solidFill>
                <a:latin typeface="Courier"/>
              </a:rPr>
              <a:t>,</a:t>
            </a:r>
            <a:r>
              <a:rPr>
                <a:latin typeface="Courier"/>
              </a:rPr>
              <a:t> res) </a:t>
            </a:r>
            <a:r>
              <a:rPr b="1">
                <a:solidFill>
                  <a:srgbClr val="007020"/>
                </a:solidFill>
                <a:latin typeface="Courier"/>
              </a:rPr>
              <a:t>=&gt;</a:t>
            </a:r>
            <a:r>
              <a:rPr>
                <a:latin typeface="Courier"/>
              </a:rPr>
              <a:t> {</a:t>
            </a:r>
            <a:br/>
            <a:r>
              <a:rPr>
                <a:latin typeface="Courier"/>
              </a:rPr>
              <a:t>  </a:t>
            </a:r>
            <a:r>
              <a:rPr b="1">
                <a:solidFill>
                  <a:srgbClr val="007020"/>
                </a:solidFill>
                <a:latin typeface="Courier"/>
              </a:rPr>
              <a:t>const</a:t>
            </a:r>
            <a:r>
              <a:rPr>
                <a:latin typeface="Courier"/>
              </a:rPr>
              <a:t> health </a:t>
            </a:r>
            <a:r>
              <a:rPr>
                <a:solidFill>
                  <a:srgbClr val="666666"/>
                </a:solidFill>
                <a:latin typeface="Courier"/>
              </a:rPr>
              <a:t>=</a:t>
            </a:r>
            <a:r>
              <a:rPr>
                <a:latin typeface="Courier"/>
              </a:rPr>
              <a:t> {</a:t>
            </a:r>
            <a:br/>
            <a:r>
              <a:rPr>
                <a:latin typeface="Courier"/>
              </a:rPr>
              <a:t>    status</a:t>
            </a:r>
            <a:r>
              <a:rPr>
                <a:solidFill>
                  <a:srgbClr val="666666"/>
                </a:solidFill>
                <a:latin typeface="Courier"/>
              </a:rPr>
              <a:t>:</a:t>
            </a:r>
            <a:r>
              <a:rPr>
                <a:latin typeface="Courier"/>
              </a:rPr>
              <a:t> </a:t>
            </a:r>
            <a:r>
              <a:rPr>
                <a:solidFill>
                  <a:srgbClr val="4070A0"/>
                </a:solidFill>
                <a:latin typeface="Courier"/>
              </a:rPr>
              <a:t>'ok'</a:t>
            </a:r>
            <a:r>
              <a:rPr>
                <a:solidFill>
                  <a:srgbClr val="666666"/>
                </a:solidFill>
                <a:latin typeface="Courier"/>
              </a:rPr>
              <a:t>,</a:t>
            </a:r>
            <a:br/>
            <a:r>
              <a:rPr>
                <a:latin typeface="Courier"/>
              </a:rPr>
              <a:t>    timestamp</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08000"/>
                </a:solidFill>
                <a:latin typeface="Courier"/>
              </a:rPr>
              <a:t>Date</a:t>
            </a:r>
            <a:r>
              <a:rPr>
                <a:latin typeface="Courier"/>
              </a:rPr>
              <a:t>()</a:t>
            </a:r>
            <a:r>
              <a:rPr>
                <a:solidFill>
                  <a:srgbClr val="666666"/>
                </a:solidFill>
                <a:latin typeface="Courier"/>
              </a:rPr>
              <a:t>.</a:t>
            </a:r>
            <a:r>
              <a:rPr>
                <a:solidFill>
                  <a:srgbClr val="06287E"/>
                </a:solidFill>
                <a:latin typeface="Courier"/>
              </a:rPr>
              <a:t>toISOString</a:t>
            </a:r>
            <a:r>
              <a:rPr>
                <a:latin typeface="Courier"/>
              </a:rPr>
              <a:t>()</a:t>
            </a:r>
            <a:r>
              <a:rPr>
                <a:solidFill>
                  <a:srgbClr val="666666"/>
                </a:solidFill>
                <a:latin typeface="Courier"/>
              </a:rPr>
              <a:t>,</a:t>
            </a:r>
            <a:br/>
            <a:r>
              <a:rPr>
                <a:latin typeface="Courier"/>
              </a:rPr>
              <a:t>    uptime</a:t>
            </a:r>
            <a:r>
              <a:rPr>
                <a:solidFill>
                  <a:srgbClr val="666666"/>
                </a:solidFill>
                <a:latin typeface="Courier"/>
              </a:rPr>
              <a:t>:</a:t>
            </a:r>
            <a:r>
              <a:rPr>
                <a:latin typeface="Courier"/>
              </a:rPr>
              <a:t> </a:t>
            </a:r>
            <a:r>
              <a:rPr>
                <a:solidFill>
                  <a:srgbClr val="008000"/>
                </a:solidFill>
                <a:latin typeface="Courier"/>
              </a:rPr>
              <a:t>process</a:t>
            </a:r>
            <a:r>
              <a:rPr>
                <a:solidFill>
                  <a:srgbClr val="666666"/>
                </a:solidFill>
                <a:latin typeface="Courier"/>
              </a:rPr>
              <a:t>.</a:t>
            </a:r>
            <a:r>
              <a:rPr>
                <a:solidFill>
                  <a:srgbClr val="06287E"/>
                </a:solidFill>
                <a:latin typeface="Courier"/>
              </a:rPr>
              <a:t>uptime</a:t>
            </a:r>
            <a:r>
              <a:rPr>
                <a:latin typeface="Courier"/>
              </a:rPr>
              <a:t>()</a:t>
            </a:r>
            <a:r>
              <a:rPr>
                <a:solidFill>
                  <a:srgbClr val="666666"/>
                </a:solidFill>
                <a:latin typeface="Courier"/>
              </a:rPr>
              <a:t>,</a:t>
            </a:r>
            <a:br/>
            <a:r>
              <a:rPr>
                <a:latin typeface="Courier"/>
              </a:rPr>
              <a:t>    checks</a:t>
            </a:r>
            <a:r>
              <a:rPr>
                <a:solidFill>
                  <a:srgbClr val="666666"/>
                </a:solidFill>
                <a:latin typeface="Courier"/>
              </a:rPr>
              <a:t>:</a:t>
            </a:r>
            <a:r>
              <a:rPr>
                <a:latin typeface="Courier"/>
              </a:rPr>
              <a:t> {</a:t>
            </a:r>
            <a:br/>
            <a:r>
              <a:rPr>
                <a:latin typeface="Courier"/>
              </a:rPr>
              <a:t>      database</a:t>
            </a:r>
            <a:r>
              <a:rPr>
                <a:solidFill>
                  <a:srgbClr val="666666"/>
                </a:solidFill>
                <a:latin typeface="Courier"/>
              </a:rPr>
              <a:t>:</a:t>
            </a:r>
            <a:r>
              <a:rPr>
                <a:latin typeface="Courier"/>
              </a:rPr>
              <a:t> </a:t>
            </a:r>
            <a:r>
              <a:rPr>
                <a:solidFill>
                  <a:srgbClr val="4070A0"/>
                </a:solidFill>
                <a:latin typeface="Courier"/>
              </a:rPr>
              <a:t>'ok'</a:t>
            </a:r>
            <a:r>
              <a:rPr>
                <a:solidFill>
                  <a:srgbClr val="666666"/>
                </a:solidFill>
                <a:latin typeface="Courier"/>
              </a:rPr>
              <a:t>,</a:t>
            </a:r>
            <a:br/>
            <a:r>
              <a:rPr>
                <a:latin typeface="Courier"/>
              </a:rPr>
              <a:t>      redis</a:t>
            </a:r>
            <a:r>
              <a:rPr>
                <a:solidFill>
                  <a:srgbClr val="666666"/>
                </a:solidFill>
                <a:latin typeface="Courier"/>
              </a:rPr>
              <a:t>:</a:t>
            </a:r>
            <a:r>
              <a:rPr>
                <a:latin typeface="Courier"/>
              </a:rPr>
              <a:t> </a:t>
            </a:r>
            <a:r>
              <a:rPr>
                <a:solidFill>
                  <a:srgbClr val="4070A0"/>
                </a:solidFill>
                <a:latin typeface="Courier"/>
              </a:rPr>
              <a:t>'ok'</a:t>
            </a:r>
            <a:r>
              <a:rPr>
                <a:solidFill>
                  <a:srgbClr val="666666"/>
                </a:solidFill>
                <a:latin typeface="Courier"/>
              </a:rPr>
              <a:t>,</a:t>
            </a:r>
            <a:br/>
            <a:r>
              <a:rPr>
                <a:latin typeface="Courier"/>
              </a:rPr>
              <a:t>    }</a:t>
            </a:r>
            <a:br/>
            <a:r>
              <a:rPr>
                <a:latin typeface="Courier"/>
              </a:rPr>
              <a:t>  }</a:t>
            </a:r>
            <a:r>
              <a:rPr>
                <a:solidFill>
                  <a:srgbClr val="666666"/>
                </a:solidFill>
                <a:latin typeface="Courier"/>
              </a:rPr>
              <a:t>;</a:t>
            </a:r>
            <a:br/>
            <a:br/>
            <a:r>
              <a:rPr>
                <a:latin typeface="Courier"/>
              </a:rPr>
              <a:t>  </a:t>
            </a:r>
            <a:r>
              <a:rPr b="1">
                <a:solidFill>
                  <a:srgbClr val="007020"/>
                </a:solidFill>
                <a:latin typeface="Courier"/>
              </a:rPr>
              <a:t>try</a:t>
            </a:r>
            <a:r>
              <a:rPr>
                <a:latin typeface="Courier"/>
              </a:rPr>
              <a:t> {</a:t>
            </a:r>
            <a:br/>
            <a:r>
              <a:rPr>
                <a:latin typeface="Courier"/>
              </a:rPr>
              <a:t>    </a:t>
            </a:r>
            <a:r>
              <a:rPr i="1">
                <a:solidFill>
                  <a:srgbClr val="60A0B0"/>
                </a:solidFill>
                <a:latin typeface="Courier"/>
              </a:rPr>
              <a:t>// Check PostgreSQL</a:t>
            </a:r>
            <a:br/>
            <a:r>
              <a:rPr>
                <a:latin typeface="Courier"/>
              </a:rPr>
              <a:t>    </a:t>
            </a:r>
            <a:r>
              <a:rPr b="1">
                <a:solidFill>
                  <a:srgbClr val="007020"/>
                </a:solidFill>
                <a:latin typeface="Courier"/>
              </a:rPr>
              <a:t>await</a:t>
            </a:r>
            <a:r>
              <a:rPr>
                <a:latin typeface="Courier"/>
              </a:rPr>
              <a:t> pool</a:t>
            </a:r>
            <a:r>
              <a:rPr>
                <a:solidFill>
                  <a:srgbClr val="666666"/>
                </a:solidFill>
                <a:latin typeface="Courier"/>
              </a:rPr>
              <a:t>.</a:t>
            </a:r>
            <a:r>
              <a:rPr>
                <a:solidFill>
                  <a:srgbClr val="06287E"/>
                </a:solidFill>
                <a:latin typeface="Courier"/>
              </a:rPr>
              <a:t>query</a:t>
            </a:r>
            <a:r>
              <a:rPr>
                <a:latin typeface="Courier"/>
              </a:rPr>
              <a:t>(</a:t>
            </a:r>
            <a:r>
              <a:rPr>
                <a:solidFill>
                  <a:srgbClr val="4070A0"/>
                </a:solidFill>
                <a:latin typeface="Courier"/>
              </a:rPr>
              <a:t>'SELECT 1'</a:t>
            </a:r>
            <a:r>
              <a:rPr>
                <a:latin typeface="Courier"/>
              </a:rPr>
              <a:t>)</a:t>
            </a:r>
            <a:r>
              <a:rPr>
                <a:solidFill>
                  <a:srgbClr val="666666"/>
                </a:solidFill>
                <a:latin typeface="Courier"/>
              </a:rPr>
              <a:t>;</a:t>
            </a:r>
            <a:br/>
            <a:r>
              <a:rPr>
                <a:latin typeface="Courier"/>
              </a:rPr>
              <a:t>  } </a:t>
            </a:r>
            <a:r>
              <a:rPr b="1">
                <a:solidFill>
                  <a:srgbClr val="007020"/>
                </a:solidFill>
                <a:latin typeface="Courier"/>
              </a:rPr>
              <a:t>catch</a:t>
            </a:r>
            <a:r>
              <a:rPr>
                <a:latin typeface="Courier"/>
              </a:rPr>
              <a:t> (error) {</a:t>
            </a:r>
            <a:br/>
            <a:r>
              <a:rPr>
                <a:latin typeface="Courier"/>
              </a:rPr>
              <a:t>    health</a:t>
            </a:r>
            <a:r>
              <a:rPr>
                <a:solidFill>
                  <a:srgbClr val="666666"/>
                </a:solidFill>
                <a:latin typeface="Courier"/>
              </a:rPr>
              <a:t>.</a:t>
            </a:r>
            <a:r>
              <a:rPr>
                <a:solidFill>
                  <a:srgbClr val="7D9029"/>
                </a:solidFill>
                <a:latin typeface="Courier"/>
              </a:rPr>
              <a:t>checks</a:t>
            </a:r>
            <a:r>
              <a:rPr>
                <a:solidFill>
                  <a:srgbClr val="666666"/>
                </a:solidFill>
                <a:latin typeface="Courier"/>
              </a:rPr>
              <a:t>.</a:t>
            </a:r>
            <a:r>
              <a:rPr>
                <a:solidFill>
                  <a:srgbClr val="7D9029"/>
                </a:solidFill>
                <a:latin typeface="Courier"/>
              </a:rPr>
              <a:t>database</a:t>
            </a:r>
            <a:r>
              <a:rPr>
                <a:latin typeface="Courier"/>
              </a:rPr>
              <a:t> </a:t>
            </a:r>
            <a:r>
              <a:rPr>
                <a:solidFill>
                  <a:srgbClr val="666666"/>
                </a:solidFill>
                <a:latin typeface="Courier"/>
              </a:rPr>
              <a:t>=</a:t>
            </a:r>
            <a:r>
              <a:rPr>
                <a:latin typeface="Courier"/>
              </a:rPr>
              <a:t> </a:t>
            </a:r>
            <a:r>
              <a:rPr>
                <a:solidFill>
                  <a:srgbClr val="4070A0"/>
                </a:solidFill>
                <a:latin typeface="Courier"/>
              </a:rPr>
              <a:t>'error'</a:t>
            </a:r>
            <a:r>
              <a:rPr>
                <a:solidFill>
                  <a:srgbClr val="666666"/>
                </a:solidFill>
                <a:latin typeface="Courier"/>
              </a:rPr>
              <a:t>;</a:t>
            </a:r>
            <a:br/>
            <a:r>
              <a:rPr>
                <a:latin typeface="Courier"/>
              </a:rPr>
              <a:t>    health</a:t>
            </a:r>
            <a:r>
              <a:rPr>
                <a:solidFill>
                  <a:srgbClr val="666666"/>
                </a:solidFill>
                <a:latin typeface="Courier"/>
              </a:rPr>
              <a:t>.</a:t>
            </a:r>
            <a:r>
              <a:rPr>
                <a:solidFill>
                  <a:srgbClr val="7D9029"/>
                </a:solidFill>
                <a:latin typeface="Courier"/>
              </a:rPr>
              <a:t>status</a:t>
            </a:r>
            <a:r>
              <a:rPr>
                <a:latin typeface="Courier"/>
              </a:rPr>
              <a:t> </a:t>
            </a:r>
            <a:r>
              <a:rPr>
                <a:solidFill>
                  <a:srgbClr val="666666"/>
                </a:solidFill>
                <a:latin typeface="Courier"/>
              </a:rPr>
              <a:t>=</a:t>
            </a:r>
            <a:r>
              <a:rPr>
                <a:latin typeface="Courier"/>
              </a:rPr>
              <a:t> </a:t>
            </a:r>
            <a:r>
              <a:rPr>
                <a:solidFill>
                  <a:srgbClr val="4070A0"/>
                </a:solidFill>
                <a:latin typeface="Courier"/>
              </a:rPr>
              <a:t>'degraded'</a:t>
            </a:r>
            <a:r>
              <a:rPr>
                <a:solidFill>
                  <a:srgbClr val="666666"/>
                </a:solidFill>
                <a:latin typeface="Courier"/>
              </a:rPr>
              <a:t>;</a:t>
            </a:r>
            <a:br/>
            <a:r>
              <a:rPr>
                <a:latin typeface="Courier"/>
              </a:rPr>
              <a:t>  }</a:t>
            </a:r>
            <a:br/>
            <a:br/>
            <a:r>
              <a:rPr>
                <a:latin typeface="Courier"/>
              </a:rPr>
              <a:t>  </a:t>
            </a:r>
            <a:r>
              <a:rPr b="1">
                <a:solidFill>
                  <a:srgbClr val="007020"/>
                </a:solidFill>
                <a:latin typeface="Courier"/>
              </a:rPr>
              <a:t>try</a:t>
            </a:r>
            <a:r>
              <a:rPr>
                <a:latin typeface="Courier"/>
              </a:rPr>
              <a:t> {</a:t>
            </a:r>
            <a:br/>
            <a:r>
              <a:rPr>
                <a:latin typeface="Courier"/>
              </a:rPr>
              <a:t>    </a:t>
            </a:r>
            <a:r>
              <a:rPr i="1">
                <a:solidFill>
                  <a:srgbClr val="60A0B0"/>
                </a:solidFill>
                <a:latin typeface="Courier"/>
              </a:rPr>
              <a:t>// Check Redis</a:t>
            </a:r>
            <a:br/>
            <a:r>
              <a:rPr>
                <a:latin typeface="Courier"/>
              </a:rPr>
              <a:t>    </a:t>
            </a:r>
            <a:r>
              <a:rPr b="1">
                <a:solidFill>
                  <a:srgbClr val="007020"/>
                </a:solidFill>
                <a:latin typeface="Courier"/>
              </a:rPr>
              <a:t>await</a:t>
            </a:r>
            <a:r>
              <a:rPr>
                <a:latin typeface="Courier"/>
              </a:rPr>
              <a:t> redisClient</a:t>
            </a:r>
            <a:r>
              <a:rPr>
                <a:solidFill>
                  <a:srgbClr val="666666"/>
                </a:solidFill>
                <a:latin typeface="Courier"/>
              </a:rPr>
              <a:t>.</a:t>
            </a:r>
            <a:r>
              <a:rPr>
                <a:solidFill>
                  <a:srgbClr val="06287E"/>
                </a:solidFill>
                <a:latin typeface="Courier"/>
              </a:rPr>
              <a:t>ping</a:t>
            </a:r>
            <a:r>
              <a:rPr>
                <a:latin typeface="Courier"/>
              </a:rPr>
              <a:t>()</a:t>
            </a:r>
            <a:r>
              <a:rPr>
                <a:solidFill>
                  <a:srgbClr val="666666"/>
                </a:solidFill>
                <a:latin typeface="Courier"/>
              </a:rPr>
              <a:t>;</a:t>
            </a:r>
            <a:br/>
            <a:r>
              <a:rPr>
                <a:latin typeface="Courier"/>
              </a:rPr>
              <a:t>  } </a:t>
            </a:r>
            <a:r>
              <a:rPr b="1">
                <a:solidFill>
                  <a:srgbClr val="007020"/>
                </a:solidFill>
                <a:latin typeface="Courier"/>
              </a:rPr>
              <a:t>catch</a:t>
            </a:r>
            <a:r>
              <a:rPr>
                <a:latin typeface="Courier"/>
              </a:rPr>
              <a:t> (error) {</a:t>
            </a:r>
            <a:br/>
            <a:r>
              <a:rPr>
                <a:latin typeface="Courier"/>
              </a:rPr>
              <a:t>    health</a:t>
            </a:r>
            <a:r>
              <a:rPr>
                <a:solidFill>
                  <a:srgbClr val="666666"/>
                </a:solidFill>
                <a:latin typeface="Courier"/>
              </a:rPr>
              <a:t>.</a:t>
            </a:r>
            <a:r>
              <a:rPr>
                <a:solidFill>
                  <a:srgbClr val="7D9029"/>
                </a:solidFill>
                <a:latin typeface="Courier"/>
              </a:rPr>
              <a:t>checks</a:t>
            </a:r>
            <a:r>
              <a:rPr>
                <a:solidFill>
                  <a:srgbClr val="666666"/>
                </a:solidFill>
                <a:latin typeface="Courier"/>
              </a:rPr>
              <a:t>.</a:t>
            </a:r>
            <a:r>
              <a:rPr>
                <a:solidFill>
                  <a:srgbClr val="7D9029"/>
                </a:solidFill>
                <a:latin typeface="Courier"/>
              </a:rPr>
              <a:t>redis</a:t>
            </a:r>
            <a:r>
              <a:rPr>
                <a:latin typeface="Courier"/>
              </a:rPr>
              <a:t> </a:t>
            </a:r>
            <a:r>
              <a:rPr>
                <a:solidFill>
                  <a:srgbClr val="666666"/>
                </a:solidFill>
                <a:latin typeface="Courier"/>
              </a:rPr>
              <a:t>=</a:t>
            </a:r>
            <a:r>
              <a:rPr>
                <a:latin typeface="Courier"/>
              </a:rPr>
              <a:t> </a:t>
            </a:r>
            <a:r>
              <a:rPr>
                <a:solidFill>
                  <a:srgbClr val="4070A0"/>
                </a:solidFill>
                <a:latin typeface="Courier"/>
              </a:rPr>
              <a:t>'error'</a:t>
            </a:r>
            <a:r>
              <a:rPr>
                <a:solidFill>
                  <a:srgbClr val="666666"/>
                </a:solidFill>
                <a:latin typeface="Courier"/>
              </a:rPr>
              <a:t>;</a:t>
            </a:r>
            <a:br/>
            <a:r>
              <a:rPr>
                <a:latin typeface="Courier"/>
              </a:rPr>
              <a:t>    health</a:t>
            </a:r>
            <a:r>
              <a:rPr>
                <a:solidFill>
                  <a:srgbClr val="666666"/>
                </a:solidFill>
                <a:latin typeface="Courier"/>
              </a:rPr>
              <a:t>.</a:t>
            </a:r>
            <a:r>
              <a:rPr>
                <a:solidFill>
                  <a:srgbClr val="7D9029"/>
                </a:solidFill>
                <a:latin typeface="Courier"/>
              </a:rPr>
              <a:t>status</a:t>
            </a:r>
            <a:r>
              <a:rPr>
                <a:latin typeface="Courier"/>
              </a:rPr>
              <a:t> </a:t>
            </a:r>
            <a:r>
              <a:rPr>
                <a:solidFill>
                  <a:srgbClr val="666666"/>
                </a:solidFill>
                <a:latin typeface="Courier"/>
              </a:rPr>
              <a:t>=</a:t>
            </a:r>
            <a:r>
              <a:rPr>
                <a:latin typeface="Courier"/>
              </a:rPr>
              <a:t> </a:t>
            </a:r>
            <a:r>
              <a:rPr>
                <a:solidFill>
                  <a:srgbClr val="4070A0"/>
                </a:solidFill>
                <a:latin typeface="Courier"/>
              </a:rPr>
              <a:t>'degraded'</a:t>
            </a:r>
            <a:r>
              <a:rPr>
                <a:solidFill>
                  <a:srgbClr val="666666"/>
                </a:solidFill>
                <a:latin typeface="Courier"/>
              </a:rPr>
              <a:t>;</a:t>
            </a:r>
            <a:br/>
            <a:r>
              <a:rPr>
                <a:latin typeface="Courier"/>
              </a:rPr>
              <a:t>  }</a:t>
            </a:r>
            <a:br/>
            <a:br/>
            <a:r>
              <a:rPr>
                <a:latin typeface="Courier"/>
              </a:rPr>
              <a:t>  </a:t>
            </a:r>
            <a:r>
              <a:rPr b="1">
                <a:solidFill>
                  <a:srgbClr val="007020"/>
                </a:solidFill>
                <a:latin typeface="Courier"/>
              </a:rPr>
              <a:t>const</a:t>
            </a:r>
            <a:r>
              <a:rPr>
                <a:latin typeface="Courier"/>
              </a:rPr>
              <a:t> statusCode </a:t>
            </a:r>
            <a:r>
              <a:rPr>
                <a:solidFill>
                  <a:srgbClr val="666666"/>
                </a:solidFill>
                <a:latin typeface="Courier"/>
              </a:rPr>
              <a:t>=</a:t>
            </a:r>
            <a:r>
              <a:rPr>
                <a:latin typeface="Courier"/>
              </a:rPr>
              <a:t> health</a:t>
            </a:r>
            <a:r>
              <a:rPr>
                <a:solidFill>
                  <a:srgbClr val="666666"/>
                </a:solidFill>
                <a:latin typeface="Courier"/>
              </a:rPr>
              <a:t>.</a:t>
            </a:r>
            <a:r>
              <a:rPr>
                <a:solidFill>
                  <a:srgbClr val="7D9029"/>
                </a:solidFill>
                <a:latin typeface="Courier"/>
              </a:rPr>
              <a:t>status</a:t>
            </a:r>
            <a:r>
              <a:rPr>
                <a:latin typeface="Courier"/>
              </a:rPr>
              <a:t> </a:t>
            </a:r>
            <a:r>
              <a:rPr>
                <a:solidFill>
                  <a:srgbClr val="666666"/>
                </a:solidFill>
                <a:latin typeface="Courier"/>
              </a:rPr>
              <a:t>===</a:t>
            </a:r>
            <a:r>
              <a:rPr>
                <a:latin typeface="Courier"/>
              </a:rPr>
              <a:t> </a:t>
            </a:r>
            <a:r>
              <a:rPr>
                <a:solidFill>
                  <a:srgbClr val="4070A0"/>
                </a:solidFill>
                <a:latin typeface="Courier"/>
              </a:rPr>
              <a:t>'ok'</a:t>
            </a:r>
            <a:r>
              <a:rPr>
                <a:latin typeface="Courier"/>
              </a:rPr>
              <a:t> </a:t>
            </a:r>
            <a:r>
              <a:rPr>
                <a:solidFill>
                  <a:srgbClr val="666666"/>
                </a:solidFill>
                <a:latin typeface="Courier"/>
              </a:rPr>
              <a:t>?</a:t>
            </a:r>
            <a:r>
              <a:rPr>
                <a:latin typeface="Courier"/>
              </a:rPr>
              <a:t> </a:t>
            </a:r>
            <a:r>
              <a:rPr>
                <a:solidFill>
                  <a:srgbClr val="40A070"/>
                </a:solidFill>
                <a:latin typeface="Courier"/>
              </a:rPr>
              <a:t>200</a:t>
            </a:r>
            <a:r>
              <a:rPr>
                <a:latin typeface="Courier"/>
              </a:rPr>
              <a:t> </a:t>
            </a:r>
            <a:r>
              <a:rPr>
                <a:solidFill>
                  <a:srgbClr val="666666"/>
                </a:solidFill>
                <a:latin typeface="Courier"/>
              </a:rPr>
              <a:t>:</a:t>
            </a:r>
            <a:r>
              <a:rPr>
                <a:latin typeface="Courier"/>
              </a:rPr>
              <a:t> </a:t>
            </a:r>
            <a:r>
              <a:rPr>
                <a:solidFill>
                  <a:srgbClr val="40A070"/>
                </a:solidFill>
                <a:latin typeface="Courier"/>
              </a:rPr>
              <a:t>503</a:t>
            </a:r>
            <a:r>
              <a:rPr>
                <a:solidFill>
                  <a:srgbClr val="666666"/>
                </a:solidFill>
                <a:latin typeface="Courier"/>
              </a:rPr>
              <a:t>;</a:t>
            </a:r>
            <a:br/>
            <a:r>
              <a:rPr>
                <a:latin typeface="Courier"/>
              </a:rPr>
              <a:t>  res</a:t>
            </a:r>
            <a:r>
              <a:rPr>
                <a:solidFill>
                  <a:srgbClr val="666666"/>
                </a:solidFill>
                <a:latin typeface="Courier"/>
              </a:rPr>
              <a:t>.</a:t>
            </a:r>
            <a:r>
              <a:rPr>
                <a:solidFill>
                  <a:srgbClr val="06287E"/>
                </a:solidFill>
                <a:latin typeface="Courier"/>
              </a:rPr>
              <a:t>status</a:t>
            </a:r>
            <a:r>
              <a:rPr>
                <a:latin typeface="Courier"/>
              </a:rPr>
              <a:t>(statusCode)</a:t>
            </a:r>
            <a:r>
              <a:rPr>
                <a:solidFill>
                  <a:srgbClr val="666666"/>
                </a:solidFill>
                <a:latin typeface="Courier"/>
              </a:rPr>
              <a:t>.</a:t>
            </a:r>
            <a:r>
              <a:rPr>
                <a:solidFill>
                  <a:srgbClr val="06287E"/>
                </a:solidFill>
                <a:latin typeface="Courier"/>
              </a:rPr>
              <a:t>json</a:t>
            </a:r>
            <a:r>
              <a:rPr>
                <a:latin typeface="Courier"/>
              </a:rPr>
              <a:t>(health)</a:t>
            </a:r>
            <a:r>
              <a:rPr>
                <a:solidFill>
                  <a:srgbClr val="666666"/>
                </a:solidFill>
                <a:latin typeface="Courier"/>
              </a:rPr>
              <a:t>;</a:t>
            </a:r>
            <a:br/>
            <a:r>
              <a:rPr>
                <a:latin typeface="Courier"/>
              </a:rPr>
              <a:t>})</a:t>
            </a:r>
            <a:r>
              <a:rPr>
                <a:solidFill>
                  <a:srgbClr val="666666"/>
                </a:solidFill>
                <a:latin typeface="Courier"/>
              </a:rPr>
              <a:t>;</a:t>
            </a:r>
          </a:p>
          <a:p>
            <a:pPr lvl="0" indent="0" marL="0">
              <a:buNone/>
            </a:pPr>
            <a:r>
              <a:rPr b="1"/>
              <a:t>Monitoring Integration:</a:t>
            </a:r>
            <a:r>
              <a:rPr/>
              <a:t> - Load balancer pings </a:t>
            </a:r>
            <a:r>
              <a:rPr>
                <a:latin typeface="Courier"/>
              </a:rPr>
              <a:t>/health</a:t>
            </a:r>
            <a:r>
              <a:rPr/>
              <a:t> every 30 seconds - Unhealthy instance removed from rotation - Alerts triggered if multiple instances unhealthy</a:t>
            </a:r>
          </a:p>
          <a:p>
            <a:pPr lvl="0" indent="0" marL="0">
              <a:spcBef>
                <a:spcPts val="3000"/>
              </a:spcBef>
              <a:buNone/>
            </a:pPr>
            <a:r>
              <a:rPr b="1"/>
              <a:t>Database Monitoring</a:t>
            </a:r>
          </a:p>
          <a:p>
            <a:pPr lvl="0" indent="0" marL="0">
              <a:buNone/>
            </a:pPr>
            <a:r>
              <a:rPr b="1"/>
              <a:t>Key Metrics:</a:t>
            </a:r>
            <a:r>
              <a:rPr/>
              <a:t> - Connection pool utilization - Query execution time - Slow query log (queries &gt; 1s) - Deadlocks and lock waits - Disk I/O and space usage - Replication lag (if using replicas)</a:t>
            </a:r>
          </a:p>
          <a:p>
            <a:pPr lvl="0" indent="0" marL="0">
              <a:buNone/>
            </a:pPr>
            <a:r>
              <a:rPr b="1"/>
              <a:t>PostgreSQL Monitoring Queries:</a:t>
            </a:r>
          </a:p>
          <a:p>
            <a:pPr lvl="0" indent="0">
              <a:buNone/>
            </a:pPr>
            <a:r>
              <a:rPr i="1">
                <a:solidFill>
                  <a:srgbClr val="60A0B0"/>
                </a:solidFill>
                <a:latin typeface="Courier"/>
              </a:rPr>
              <a:t>-- Long running queries</a:t>
            </a:r>
            <a:br/>
            <a:r>
              <a:rPr b="1">
                <a:solidFill>
                  <a:srgbClr val="007020"/>
                </a:solidFill>
                <a:latin typeface="Courier"/>
              </a:rPr>
              <a:t>SELECT</a:t>
            </a:r>
            <a:r>
              <a:rPr>
                <a:latin typeface="Courier"/>
              </a:rPr>
              <a:t> pid, now() </a:t>
            </a:r>
            <a:r>
              <a:rPr>
                <a:solidFill>
                  <a:srgbClr val="666666"/>
                </a:solidFill>
                <a:latin typeface="Courier"/>
              </a:rPr>
              <a:t>-</a:t>
            </a:r>
            <a:r>
              <a:rPr>
                <a:latin typeface="Courier"/>
              </a:rPr>
              <a:t> query_start </a:t>
            </a:r>
            <a:r>
              <a:rPr b="1">
                <a:solidFill>
                  <a:srgbClr val="007020"/>
                </a:solidFill>
                <a:latin typeface="Courier"/>
              </a:rPr>
              <a:t>as</a:t>
            </a:r>
            <a:r>
              <a:rPr>
                <a:latin typeface="Courier"/>
              </a:rPr>
              <a:t> duration, </a:t>
            </a:r>
            <a:r>
              <a:rPr b="1">
                <a:solidFill>
                  <a:srgbClr val="007020"/>
                </a:solidFill>
                <a:latin typeface="Courier"/>
              </a:rPr>
              <a:t>query</a:t>
            </a:r>
            <a:br/>
            <a:r>
              <a:rPr b="1">
                <a:solidFill>
                  <a:srgbClr val="007020"/>
                </a:solidFill>
                <a:latin typeface="Courier"/>
              </a:rPr>
              <a:t>FROM</a:t>
            </a:r>
            <a:r>
              <a:rPr>
                <a:latin typeface="Courier"/>
              </a:rPr>
              <a:t> pg_stat_activity</a:t>
            </a:r>
            <a:br/>
            <a:r>
              <a:rPr b="1">
                <a:solidFill>
                  <a:srgbClr val="007020"/>
                </a:solidFill>
                <a:latin typeface="Courier"/>
              </a:rPr>
              <a:t>WHERE</a:t>
            </a:r>
            <a:r>
              <a:rPr>
                <a:latin typeface="Courier"/>
              </a:rPr>
              <a:t> state </a:t>
            </a:r>
            <a:r>
              <a:rPr>
                <a:solidFill>
                  <a:srgbClr val="666666"/>
                </a:solidFill>
                <a:latin typeface="Courier"/>
              </a:rPr>
              <a:t>=</a:t>
            </a:r>
            <a:r>
              <a:rPr>
                <a:latin typeface="Courier"/>
              </a:rPr>
              <a:t> </a:t>
            </a:r>
            <a:r>
              <a:rPr>
                <a:solidFill>
                  <a:srgbClr val="4070A0"/>
                </a:solidFill>
                <a:latin typeface="Courier"/>
              </a:rPr>
              <a:t>'active'</a:t>
            </a:r>
            <a:r>
              <a:rPr>
                <a:latin typeface="Courier"/>
              </a:rPr>
              <a:t> </a:t>
            </a:r>
            <a:r>
              <a:rPr b="1">
                <a:solidFill>
                  <a:srgbClr val="007020"/>
                </a:solidFill>
                <a:latin typeface="Courier"/>
              </a:rPr>
              <a:t>AND</a:t>
            </a:r>
            <a:r>
              <a:rPr>
                <a:latin typeface="Courier"/>
              </a:rPr>
              <a:t> now() </a:t>
            </a:r>
            <a:r>
              <a:rPr>
                <a:solidFill>
                  <a:srgbClr val="666666"/>
                </a:solidFill>
                <a:latin typeface="Courier"/>
              </a:rPr>
              <a:t>-</a:t>
            </a:r>
            <a:r>
              <a:rPr>
                <a:latin typeface="Courier"/>
              </a:rPr>
              <a:t> query_start </a:t>
            </a:r>
            <a:r>
              <a:rPr>
                <a:solidFill>
                  <a:srgbClr val="666666"/>
                </a:solidFill>
                <a:latin typeface="Courier"/>
              </a:rPr>
              <a:t>&gt;</a:t>
            </a:r>
            <a:r>
              <a:rPr>
                <a:latin typeface="Courier"/>
              </a:rPr>
              <a:t> </a:t>
            </a:r>
            <a:r>
              <a:rPr>
                <a:solidFill>
                  <a:srgbClr val="902000"/>
                </a:solidFill>
                <a:latin typeface="Courier"/>
              </a:rPr>
              <a:t>interval</a:t>
            </a:r>
            <a:r>
              <a:rPr>
                <a:latin typeface="Courier"/>
              </a:rPr>
              <a:t> </a:t>
            </a:r>
            <a:r>
              <a:rPr>
                <a:solidFill>
                  <a:srgbClr val="4070A0"/>
                </a:solidFill>
                <a:latin typeface="Courier"/>
              </a:rPr>
              <a:t>'5 seconds'</a:t>
            </a:r>
            <a:br/>
            <a:r>
              <a:rPr b="1">
                <a:solidFill>
                  <a:srgbClr val="007020"/>
                </a:solidFill>
                <a:latin typeface="Courier"/>
              </a:rPr>
              <a:t>ORDER</a:t>
            </a:r>
            <a:r>
              <a:rPr>
                <a:latin typeface="Courier"/>
              </a:rPr>
              <a:t> </a:t>
            </a:r>
            <a:r>
              <a:rPr b="1">
                <a:solidFill>
                  <a:srgbClr val="007020"/>
                </a:solidFill>
                <a:latin typeface="Courier"/>
              </a:rPr>
              <a:t>BY</a:t>
            </a:r>
            <a:r>
              <a:rPr>
                <a:latin typeface="Courier"/>
              </a:rPr>
              <a:t> duration </a:t>
            </a:r>
            <a:r>
              <a:rPr b="1">
                <a:solidFill>
                  <a:srgbClr val="007020"/>
                </a:solidFill>
                <a:latin typeface="Courier"/>
              </a:rPr>
              <a:t>DESC</a:t>
            </a:r>
            <a:r>
              <a:rPr>
                <a:latin typeface="Courier"/>
              </a:rPr>
              <a:t>;</a:t>
            </a:r>
            <a:br/>
            <a:br/>
            <a:r>
              <a:rPr i="1">
                <a:solidFill>
                  <a:srgbClr val="60A0B0"/>
                </a:solidFill>
                <a:latin typeface="Courier"/>
              </a:rPr>
              <a:t>-- Database size</a:t>
            </a:r>
            <a:br/>
            <a:r>
              <a:rPr b="1">
                <a:solidFill>
                  <a:srgbClr val="007020"/>
                </a:solidFill>
                <a:latin typeface="Courier"/>
              </a:rPr>
              <a:t>SELECT</a:t>
            </a:r>
            <a:r>
              <a:rPr>
                <a:latin typeface="Courier"/>
              </a:rPr>
              <a:t> pg_size_pretty(pg_database_size(</a:t>
            </a:r>
            <a:r>
              <a:rPr>
                <a:solidFill>
                  <a:srgbClr val="4070A0"/>
                </a:solidFill>
                <a:latin typeface="Courier"/>
              </a:rPr>
              <a:t>'hospital_db'</a:t>
            </a:r>
            <a:r>
              <a:rPr>
                <a:latin typeface="Courier"/>
              </a:rPr>
              <a:t>));</a:t>
            </a:r>
            <a:br/>
            <a:br/>
            <a:r>
              <a:rPr i="1">
                <a:solidFill>
                  <a:srgbClr val="60A0B0"/>
                </a:solidFill>
                <a:latin typeface="Courier"/>
              </a:rPr>
              <a:t>-- Table sizes</a:t>
            </a:r>
            <a:br/>
            <a:r>
              <a:rPr b="1">
                <a:solidFill>
                  <a:srgbClr val="007020"/>
                </a:solidFill>
                <a:latin typeface="Courier"/>
              </a:rPr>
              <a:t>SELECT</a:t>
            </a:r>
            <a:r>
              <a:rPr>
                <a:latin typeface="Courier"/>
              </a:rPr>
              <a:t> schemaname, tablename,</a:t>
            </a:r>
            <a:br/>
            <a:r>
              <a:rPr>
                <a:latin typeface="Courier"/>
              </a:rPr>
              <a:t>       pg_size_pretty(pg_total_relation_size(schemaname</a:t>
            </a:r>
            <a:r>
              <a:rPr>
                <a:solidFill>
                  <a:srgbClr val="666666"/>
                </a:solidFill>
                <a:latin typeface="Courier"/>
              </a:rPr>
              <a:t>||</a:t>
            </a:r>
            <a:r>
              <a:rPr>
                <a:solidFill>
                  <a:srgbClr val="4070A0"/>
                </a:solidFill>
                <a:latin typeface="Courier"/>
              </a:rPr>
              <a:t>'.'</a:t>
            </a:r>
            <a:r>
              <a:rPr>
                <a:solidFill>
                  <a:srgbClr val="666666"/>
                </a:solidFill>
                <a:latin typeface="Courier"/>
              </a:rPr>
              <a:t>||</a:t>
            </a:r>
            <a:r>
              <a:rPr>
                <a:latin typeface="Courier"/>
              </a:rPr>
              <a:t>tablename))</a:t>
            </a:r>
            <a:br/>
            <a:r>
              <a:rPr b="1">
                <a:solidFill>
                  <a:srgbClr val="007020"/>
                </a:solidFill>
                <a:latin typeface="Courier"/>
              </a:rPr>
              <a:t>FROM</a:t>
            </a:r>
            <a:r>
              <a:rPr>
                <a:latin typeface="Courier"/>
              </a:rPr>
              <a:t> pg_tables</a:t>
            </a:r>
            <a:br/>
            <a:r>
              <a:rPr b="1">
                <a:solidFill>
                  <a:srgbClr val="007020"/>
                </a:solidFill>
                <a:latin typeface="Courier"/>
              </a:rPr>
              <a:t>ORDER</a:t>
            </a:r>
            <a:r>
              <a:rPr>
                <a:latin typeface="Courier"/>
              </a:rPr>
              <a:t> </a:t>
            </a:r>
            <a:r>
              <a:rPr b="1">
                <a:solidFill>
                  <a:srgbClr val="007020"/>
                </a:solidFill>
                <a:latin typeface="Courier"/>
              </a:rPr>
              <a:t>BY</a:t>
            </a:r>
            <a:r>
              <a:rPr>
                <a:latin typeface="Courier"/>
              </a:rPr>
              <a:t> pg_total_relation_size(schemaname</a:t>
            </a:r>
            <a:r>
              <a:rPr>
                <a:solidFill>
                  <a:srgbClr val="666666"/>
                </a:solidFill>
                <a:latin typeface="Courier"/>
              </a:rPr>
              <a:t>||</a:t>
            </a:r>
            <a:r>
              <a:rPr>
                <a:solidFill>
                  <a:srgbClr val="4070A0"/>
                </a:solidFill>
                <a:latin typeface="Courier"/>
              </a:rPr>
              <a:t>'.'</a:t>
            </a:r>
            <a:r>
              <a:rPr>
                <a:solidFill>
                  <a:srgbClr val="666666"/>
                </a:solidFill>
                <a:latin typeface="Courier"/>
              </a:rPr>
              <a:t>||</a:t>
            </a:r>
            <a:r>
              <a:rPr>
                <a:latin typeface="Courier"/>
              </a:rPr>
              <a:t>tablename) </a:t>
            </a:r>
            <a:r>
              <a:rPr b="1">
                <a:solidFill>
                  <a:srgbClr val="007020"/>
                </a:solidFill>
                <a:latin typeface="Courier"/>
              </a:rPr>
              <a:t>DESC</a:t>
            </a:r>
            <a:br/>
            <a:r>
              <a:rPr b="1">
                <a:solidFill>
                  <a:srgbClr val="007020"/>
                </a:solidFill>
                <a:latin typeface="Courier"/>
              </a:rPr>
              <a:t>LIMIT</a:t>
            </a:r>
            <a:r>
              <a:rPr>
                <a:latin typeface="Courier"/>
              </a:rPr>
              <a:t> </a:t>
            </a:r>
            <a:r>
              <a:rPr>
                <a:solidFill>
                  <a:srgbClr val="40A070"/>
                </a:solidFill>
                <a:latin typeface="Courier"/>
              </a:rPr>
              <a:t>10</a:t>
            </a:r>
            <a:r>
              <a:rPr>
                <a:latin typeface="Courier"/>
              </a:rPr>
              <a:t>;</a:t>
            </a:r>
            <a:br/>
            <a:br/>
            <a:r>
              <a:rPr i="1">
                <a:solidFill>
                  <a:srgbClr val="60A0B0"/>
                </a:solidFill>
                <a:latin typeface="Courier"/>
              </a:rPr>
              <a:t>-- Index usage</a:t>
            </a:r>
            <a:br/>
            <a:r>
              <a:rPr b="1">
                <a:solidFill>
                  <a:srgbClr val="007020"/>
                </a:solidFill>
                <a:latin typeface="Courier"/>
              </a:rPr>
              <a:t>SELECT</a:t>
            </a:r>
            <a:r>
              <a:rPr>
                <a:latin typeface="Courier"/>
              </a:rPr>
              <a:t> schemaname, tablename, indexname, idx_scan, idx_tup_read</a:t>
            </a:r>
            <a:br/>
            <a:r>
              <a:rPr b="1">
                <a:solidFill>
                  <a:srgbClr val="007020"/>
                </a:solidFill>
                <a:latin typeface="Courier"/>
              </a:rPr>
              <a:t>FROM</a:t>
            </a:r>
            <a:r>
              <a:rPr>
                <a:latin typeface="Courier"/>
              </a:rPr>
              <a:t> pg_stat_user_indexes</a:t>
            </a:r>
            <a:br/>
            <a:r>
              <a:rPr b="1">
                <a:solidFill>
                  <a:srgbClr val="007020"/>
                </a:solidFill>
                <a:latin typeface="Courier"/>
              </a:rPr>
              <a:t>ORDER</a:t>
            </a:r>
            <a:r>
              <a:rPr>
                <a:latin typeface="Courier"/>
              </a:rPr>
              <a:t> </a:t>
            </a:r>
            <a:r>
              <a:rPr b="1">
                <a:solidFill>
                  <a:srgbClr val="007020"/>
                </a:solidFill>
                <a:latin typeface="Courier"/>
              </a:rPr>
              <a:t>BY</a:t>
            </a:r>
            <a:r>
              <a:rPr>
                <a:latin typeface="Courier"/>
              </a:rPr>
              <a:t> idx_scan </a:t>
            </a:r>
            <a:r>
              <a:rPr b="1">
                <a:solidFill>
                  <a:srgbClr val="007020"/>
                </a:solidFill>
                <a:latin typeface="Courier"/>
              </a:rPr>
              <a:t>ASC</a:t>
            </a:r>
            <a:r>
              <a:rPr>
                <a:latin typeface="Courier"/>
              </a:rPr>
              <a:t>;</a:t>
            </a:r>
          </a:p>
          <a:p>
            <a:pPr lvl="0" indent="0" marL="0">
              <a:spcBef>
                <a:spcPts val="3000"/>
              </a:spcBef>
              <a:buNone/>
            </a:pPr>
            <a:r>
              <a:rPr b="1"/>
              <a:t>Alerting</a:t>
            </a:r>
          </a:p>
          <a:p>
            <a:pPr lvl="0" indent="0" marL="0">
              <a:buNone/>
            </a:pPr>
            <a:r>
              <a:rPr b="1"/>
              <a:t>Alert Rules: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Alert</a:t>
                      </a:r>
                    </a:p>
                  </a:txBody>
                  <a:tcPr/>
                </a:tc>
                <a:tc>
                  <a:txBody>
                    <a:bodyPr/>
                    <a:lstStyle/>
                    <a:p>
                      <a:pPr lvl="0" indent="0" marL="0">
                        <a:buNone/>
                      </a:pPr>
                      <a:r>
                        <a:rPr/>
                        <a:t>Condition</a:t>
                      </a:r>
                    </a:p>
                  </a:txBody>
                  <a:tcPr/>
                </a:tc>
                <a:tc>
                  <a:txBody>
                    <a:bodyPr/>
                    <a:lstStyle/>
                    <a:p>
                      <a:pPr lvl="0" indent="0" marL="0">
                        <a:buNone/>
                      </a:pPr>
                      <a:r>
                        <a:rPr/>
                        <a:t>Severity</a:t>
                      </a:r>
                    </a:p>
                  </a:txBody>
                  <a:tcPr/>
                </a:tc>
                <a:tc>
                  <a:txBody>
                    <a:bodyPr/>
                    <a:lstStyle/>
                    <a:p>
                      <a:pPr lvl="0" indent="0" marL="0">
                        <a:buNone/>
                      </a:pPr>
                      <a:r>
                        <a:rPr/>
                        <a:t>Action</a:t>
                      </a:r>
                    </a:p>
                  </a:txBody>
                  <a:tcPr/>
                </a:tc>
              </a:tr>
              <a:tr h="0">
                <a:tc>
                  <a:txBody>
                    <a:bodyPr/>
                    <a:lstStyle/>
                    <a:p>
                      <a:pPr lvl="0" indent="0" marL="0">
                        <a:buNone/>
                      </a:pPr>
                      <a:r>
                        <a:rPr b="1"/>
                        <a:t>High Error Rate</a:t>
                      </a:r>
                    </a:p>
                  </a:txBody>
                </a:tc>
                <a:tc>
                  <a:txBody>
                    <a:bodyPr/>
                    <a:lstStyle/>
                    <a:p>
                      <a:pPr lvl="0" indent="0" marL="0">
                        <a:buNone/>
                      </a:pPr>
                      <a:r>
                        <a:rPr/>
                        <a:t>&gt;5% errors for 5 min</a:t>
                      </a:r>
                    </a:p>
                  </a:txBody>
                </a:tc>
                <a:tc>
                  <a:txBody>
                    <a:bodyPr/>
                    <a:lstStyle/>
                    <a:p>
                      <a:pPr lvl="0" indent="0" marL="0">
                        <a:buNone/>
                      </a:pPr>
                      <a:r>
                        <a:rPr/>
                        <a:t>Critical</a:t>
                      </a:r>
                    </a:p>
                  </a:txBody>
                </a:tc>
                <a:tc>
                  <a:txBody>
                    <a:bodyPr/>
                    <a:lstStyle/>
                    <a:p>
                      <a:pPr lvl="0" indent="0" marL="0">
                        <a:buNone/>
                      </a:pPr>
                      <a:r>
                        <a:rPr/>
                        <a:t>Page on-call engineer</a:t>
                      </a:r>
                    </a:p>
                  </a:txBody>
                </a:tc>
              </a:tr>
              <a:tr h="0">
                <a:tc>
                  <a:txBody>
                    <a:bodyPr/>
                    <a:lstStyle/>
                    <a:p>
                      <a:pPr lvl="0" indent="0" marL="0">
                        <a:buNone/>
                      </a:pPr>
                      <a:r>
                        <a:rPr b="1"/>
                        <a:t>Slow Response</a:t>
                      </a:r>
                    </a:p>
                  </a:txBody>
                </a:tc>
                <a:tc>
                  <a:txBody>
                    <a:bodyPr/>
                    <a:lstStyle/>
                    <a:p>
                      <a:pPr lvl="0" indent="0" marL="0">
                        <a:buNone/>
                      </a:pPr>
                      <a:r>
                        <a:rPr/>
                        <a:t>p95 &gt; 1s for 10 min</a:t>
                      </a:r>
                    </a:p>
                  </a:txBody>
                </a:tc>
                <a:tc>
                  <a:txBody>
                    <a:bodyPr/>
                    <a:lstStyle/>
                    <a:p>
                      <a:pPr lvl="0" indent="0" marL="0">
                        <a:buNone/>
                      </a:pPr>
                      <a:r>
                        <a:rPr/>
                        <a:t>Warning</a:t>
                      </a:r>
                    </a:p>
                  </a:txBody>
                </a:tc>
                <a:tc>
                  <a:txBody>
                    <a:bodyPr/>
                    <a:lstStyle/>
                    <a:p>
                      <a:pPr lvl="0" indent="0" marL="0">
                        <a:buNone/>
                      </a:pPr>
                      <a:r>
                        <a:rPr/>
                        <a:t>Investigate performance</a:t>
                      </a:r>
                    </a:p>
                  </a:txBody>
                </a:tc>
              </a:tr>
              <a:tr h="0">
                <a:tc>
                  <a:txBody>
                    <a:bodyPr/>
                    <a:lstStyle/>
                    <a:p>
                      <a:pPr lvl="0" indent="0" marL="0">
                        <a:buNone/>
                      </a:pPr>
                      <a:r>
                        <a:rPr b="1"/>
                        <a:t>Database Down</a:t>
                      </a:r>
                    </a:p>
                  </a:txBody>
                </a:tc>
                <a:tc>
                  <a:txBody>
                    <a:bodyPr/>
                    <a:lstStyle/>
                    <a:p>
                      <a:pPr lvl="0" indent="0" marL="0">
                        <a:buNone/>
                      </a:pPr>
                      <a:r>
                        <a:rPr/>
                        <a:t>Health check fails</a:t>
                      </a:r>
                    </a:p>
                  </a:txBody>
                </a:tc>
                <a:tc>
                  <a:txBody>
                    <a:bodyPr/>
                    <a:lstStyle/>
                    <a:p>
                      <a:pPr lvl="0" indent="0" marL="0">
                        <a:buNone/>
                      </a:pPr>
                      <a:r>
                        <a:rPr/>
                        <a:t>Critical</a:t>
                      </a:r>
                    </a:p>
                  </a:txBody>
                </a:tc>
                <a:tc>
                  <a:txBody>
                    <a:bodyPr/>
                    <a:lstStyle/>
                    <a:p>
                      <a:pPr lvl="0" indent="0" marL="0">
                        <a:buNone/>
                      </a:pPr>
                      <a:r>
                        <a:rPr/>
                        <a:t>Page on-call + DBA</a:t>
                      </a:r>
                    </a:p>
                  </a:txBody>
                </a:tc>
              </a:tr>
              <a:tr h="0">
                <a:tc>
                  <a:txBody>
                    <a:bodyPr/>
                    <a:lstStyle/>
                    <a:p>
                      <a:pPr lvl="0" indent="0" marL="0">
                        <a:buNone/>
                      </a:pPr>
                      <a:r>
                        <a:rPr b="1"/>
                        <a:t>High CPU</a:t>
                      </a:r>
                    </a:p>
                  </a:txBody>
                </a:tc>
                <a:tc>
                  <a:txBody>
                    <a:bodyPr/>
                    <a:lstStyle/>
                    <a:p>
                      <a:pPr lvl="0" indent="0" marL="0">
                        <a:buNone/>
                      </a:pPr>
                      <a:r>
                        <a:rPr/>
                        <a:t>&gt;90% for 5 min</a:t>
                      </a:r>
                    </a:p>
                  </a:txBody>
                </a:tc>
                <a:tc>
                  <a:txBody>
                    <a:bodyPr/>
                    <a:lstStyle/>
                    <a:p>
                      <a:pPr lvl="0" indent="0" marL="0">
                        <a:buNone/>
                      </a:pPr>
                      <a:r>
                        <a:rPr/>
                        <a:t>Warning</a:t>
                      </a:r>
                    </a:p>
                  </a:txBody>
                </a:tc>
                <a:tc>
                  <a:txBody>
                    <a:bodyPr/>
                    <a:lstStyle/>
                    <a:p>
                      <a:pPr lvl="0" indent="0" marL="0">
                        <a:buNone/>
                      </a:pPr>
                      <a:r>
                        <a:rPr/>
                        <a:t>Check for scaling</a:t>
                      </a:r>
                    </a:p>
                  </a:txBody>
                </a:tc>
              </a:tr>
              <a:tr h="0">
                <a:tc>
                  <a:txBody>
                    <a:bodyPr/>
                    <a:lstStyle/>
                    <a:p>
                      <a:pPr lvl="0" indent="0" marL="0">
                        <a:buNone/>
                      </a:pPr>
                      <a:r>
                        <a:rPr b="1"/>
                        <a:t>Disk Space Low</a:t>
                      </a:r>
                    </a:p>
                  </a:txBody>
                </a:tc>
                <a:tc>
                  <a:txBody>
                    <a:bodyPr/>
                    <a:lstStyle/>
                    <a:p>
                      <a:pPr lvl="0" indent="0" marL="0">
                        <a:buNone/>
                      </a:pPr>
                      <a:r>
                        <a:rPr/>
                        <a:t>&lt;20% free</a:t>
                      </a:r>
                    </a:p>
                  </a:txBody>
                </a:tc>
                <a:tc>
                  <a:txBody>
                    <a:bodyPr/>
                    <a:lstStyle/>
                    <a:p>
                      <a:pPr lvl="0" indent="0" marL="0">
                        <a:buNone/>
                      </a:pPr>
                      <a:r>
                        <a:rPr/>
                        <a:t>Warning</a:t>
                      </a:r>
                    </a:p>
                  </a:txBody>
                </a:tc>
                <a:tc>
                  <a:txBody>
                    <a:bodyPr/>
                    <a:lstStyle/>
                    <a:p>
                      <a:pPr lvl="0" indent="0" marL="0">
                        <a:buNone/>
                      </a:pPr>
                      <a:r>
                        <a:rPr/>
                        <a:t>Plan capacity increase</a:t>
                      </a:r>
                    </a:p>
                  </a:txBody>
                </a:tc>
              </a:tr>
              <a:tr h="0">
                <a:tc>
                  <a:txBody>
                    <a:bodyPr/>
                    <a:lstStyle/>
                    <a:p>
                      <a:pPr lvl="0" indent="0" marL="0">
                        <a:buNone/>
                      </a:pPr>
                      <a:r>
                        <a:rPr b="1"/>
                        <a:t>Failed Login Spike</a:t>
                      </a:r>
                    </a:p>
                  </a:txBody>
                </a:tc>
                <a:tc>
                  <a:txBody>
                    <a:bodyPr/>
                    <a:lstStyle/>
                    <a:p>
                      <a:pPr lvl="0" indent="0" marL="0">
                        <a:buNone/>
                      </a:pPr>
                      <a:r>
                        <a:rPr/>
                        <a:t>&gt;100 failures/min</a:t>
                      </a:r>
                    </a:p>
                  </a:txBody>
                </a:tc>
                <a:tc>
                  <a:txBody>
                    <a:bodyPr/>
                    <a:lstStyle/>
                    <a:p>
                      <a:pPr lvl="0" indent="0" marL="0">
                        <a:buNone/>
                      </a:pPr>
                      <a:r>
                        <a:rPr/>
                        <a:t>Warning</a:t>
                      </a:r>
                    </a:p>
                  </a:txBody>
                </a:tc>
                <a:tc>
                  <a:txBody>
                    <a:bodyPr/>
                    <a:lstStyle/>
                    <a:p>
                      <a:pPr lvl="0" indent="0" marL="0">
                        <a:buNone/>
                      </a:pPr>
                      <a:r>
                        <a:rPr/>
                        <a:t>Possible attack</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Alert Channels:</a:t>
            </a:r>
            <a:r>
              <a:rPr/>
              <a:t> - PagerDuty / Opsgenie for critical alerts - Slack for warnings - Email for informational</a:t>
            </a:r>
          </a:p>
          <a:p>
            <a:pPr lvl="0" indent="0" marL="0">
              <a:spcBef>
                <a:spcPts val="3000"/>
              </a:spcBef>
              <a:buNone/>
            </a:pPr>
            <a:r>
              <a:rPr b="1"/>
              <a:t>Maintenance Windows</a:t>
            </a:r>
          </a:p>
          <a:p>
            <a:pPr lvl="0" indent="0" marL="0">
              <a:buNone/>
            </a:pPr>
            <a:r>
              <a:rPr b="1"/>
              <a:t>Scheduled Maintenance:</a:t>
            </a:r>
            <a:r>
              <a:rPr/>
              <a:t> - </a:t>
            </a:r>
            <a:r>
              <a:rPr b="1"/>
              <a:t>Frequency:</a:t>
            </a:r>
            <a:r>
              <a:rPr/>
              <a:t> Monthly (or as needed) - </a:t>
            </a:r>
            <a:r>
              <a:rPr b="1"/>
              <a:t>Duration:</a:t>
            </a:r>
            <a:r>
              <a:rPr/>
              <a:t> 2-4 hours - </a:t>
            </a:r>
            <a:r>
              <a:rPr b="1"/>
              <a:t>Time:</a:t>
            </a:r>
            <a:r>
              <a:rPr/>
              <a:t> 2:00 AM - 6:00 AM (lowest traffic) - </a:t>
            </a:r>
            <a:r>
              <a:rPr b="1"/>
              <a:t>Advance Notice:</a:t>
            </a:r>
            <a:r>
              <a:rPr/>
              <a:t> 7 days to customers</a:t>
            </a:r>
          </a:p>
          <a:p>
            <a:pPr lvl="0" indent="0" marL="0">
              <a:buNone/>
            </a:pPr>
            <a:r>
              <a:rPr b="1"/>
              <a:t>Activities:</a:t>
            </a:r>
            <a:r>
              <a:rPr/>
              <a:t> - Database maintenance (VACUUM, REINDEX) - Software updates (security patches) - Infrastructure updates - Performance optimization - Backup validation</a:t>
            </a:r>
          </a:p>
          <a:p>
            <a:pPr lvl="0" indent="0" marL="0">
              <a:buNone/>
            </a:pPr>
            <a:r>
              <a:rPr b="1"/>
              <a:t>Zero-Downtime Deployments:</a:t>
            </a:r>
            <a:r>
              <a:rPr/>
              <a:t> - Blue/green deployments - Rolling updates (one instance at a time) - Database migrations with backward compatibility - Feature flags for gradual rollouts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Disaster Recovery &amp; Business Continuity</a:t>
            </a:r>
          </a:p>
        </p:txBody>
      </p:sp>
      <p:sp>
        <p:nvSpPr>
          <p:cNvPr id="3" name="Content Placeholder 2"/>
          <p:cNvSpPr>
            <a:spLocks noGrp="1"/>
          </p:cNvSpPr>
          <p:nvPr>
            <p:ph idx="1"/>
          </p:nvPr>
        </p:nvSpPr>
        <p:spPr/>
        <p:txBody>
          <a:bodyPr/>
          <a:lstStyle/>
          <a:p>
            <a:pPr lvl="0" indent="0" marL="0">
              <a:spcBef>
                <a:spcPts val="3000"/>
              </a:spcBef>
              <a:buNone/>
            </a:pPr>
            <a:r>
              <a:rPr b="1"/>
              <a:t>Backup Strategy</a:t>
            </a:r>
          </a:p>
          <a:p>
            <a:pPr lvl="0" indent="0" marL="0">
              <a:buNone/>
            </a:pPr>
            <a:r>
              <a:rPr b="1"/>
              <a:t>Database Backups:</a:t>
            </a:r>
          </a:p>
          <a:p>
            <a:pPr lvl="0" indent="0" marL="0">
              <a:buNone/>
            </a:pPr>
            <a:r>
              <a:rPr b="1"/>
              <a:t>Automated Backups:</a:t>
            </a:r>
            <a:r>
              <a:rPr/>
              <a:t> - </a:t>
            </a:r>
            <a:r>
              <a:rPr b="1"/>
              <a:t>Frequency:</a:t>
            </a:r>
            <a:r>
              <a:rPr/>
              <a:t> Every 6 hours - </a:t>
            </a:r>
            <a:r>
              <a:rPr b="1"/>
              <a:t>Retention:</a:t>
            </a:r>
            <a:r>
              <a:rPr/>
              <a:t> 30 days - </a:t>
            </a:r>
            <a:r>
              <a:rPr b="1"/>
              <a:t>Type:</a:t>
            </a:r>
            <a:r>
              <a:rPr/>
              <a:t> Full backup + transaction logs - </a:t>
            </a:r>
            <a:r>
              <a:rPr b="1"/>
              <a:t>Storage:</a:t>
            </a:r>
            <a:r>
              <a:rPr/>
              <a:t> S3 with versioning enabled - </a:t>
            </a:r>
            <a:r>
              <a:rPr b="1"/>
              <a:t>Encryption:</a:t>
            </a:r>
            <a:r>
              <a:rPr/>
              <a:t> AES-256 at rest</a:t>
            </a:r>
          </a:p>
          <a:p>
            <a:pPr lvl="0" indent="0" marL="0">
              <a:buNone/>
            </a:pPr>
            <a:r>
              <a:rPr b="1"/>
              <a:t>Backup Verification:</a:t>
            </a:r>
            <a:r>
              <a:rPr/>
              <a:t> - Monthly restore test to staging environment - Automated backup integrity checks - Alert on backup failures</a:t>
            </a:r>
          </a:p>
          <a:p>
            <a:pPr lvl="0" indent="0" marL="0">
              <a:buNone/>
            </a:pPr>
            <a:r>
              <a:rPr b="1"/>
              <a:t>PostgreSQL Backup Script:</a:t>
            </a:r>
          </a:p>
          <a:p>
            <a:pPr lvl="0" indent="0">
              <a:buNone/>
            </a:pPr>
            <a:r>
              <a:rPr i="1">
                <a:solidFill>
                  <a:srgbClr val="60A0B0"/>
                </a:solidFill>
                <a:latin typeface="Courier"/>
              </a:rPr>
              <a:t>#!/bin/bash</a:t>
            </a:r>
            <a:br/>
            <a:r>
              <a:rPr>
                <a:solidFill>
                  <a:srgbClr val="19177C"/>
                </a:solidFill>
                <a:latin typeface="Courier"/>
              </a:rPr>
              <a:t>TIMESTAMP</a:t>
            </a:r>
            <a:r>
              <a:rPr>
                <a:solidFill>
                  <a:srgbClr val="666666"/>
                </a:solidFill>
                <a:latin typeface="Courier"/>
              </a:rPr>
              <a:t>=</a:t>
            </a:r>
            <a:r>
              <a:rPr>
                <a:solidFill>
                  <a:srgbClr val="19177C"/>
                </a:solidFill>
                <a:latin typeface="Courier"/>
              </a:rPr>
              <a:t>$(</a:t>
            </a:r>
            <a:r>
              <a:rPr>
                <a:solidFill>
                  <a:srgbClr val="06287E"/>
                </a:solidFill>
                <a:latin typeface="Courier"/>
              </a:rPr>
              <a:t>date</a:t>
            </a:r>
            <a:r>
              <a:rPr>
                <a:latin typeface="Courier"/>
              </a:rPr>
              <a:t> +%Y%m%d_%H%M%S</a:t>
            </a:r>
            <a:r>
              <a:rPr>
                <a:solidFill>
                  <a:srgbClr val="19177C"/>
                </a:solidFill>
                <a:latin typeface="Courier"/>
              </a:rPr>
              <a:t>)</a:t>
            </a:r>
            <a:br/>
            <a:r>
              <a:rPr>
                <a:solidFill>
                  <a:srgbClr val="19177C"/>
                </a:solidFill>
                <a:latin typeface="Courier"/>
              </a:rPr>
              <a:t>BACKUP_FILE</a:t>
            </a:r>
            <a:r>
              <a:rPr>
                <a:solidFill>
                  <a:srgbClr val="666666"/>
                </a:solidFill>
                <a:latin typeface="Courier"/>
              </a:rPr>
              <a:t>=</a:t>
            </a:r>
            <a:r>
              <a:rPr>
                <a:solidFill>
                  <a:srgbClr val="4070A0"/>
                </a:solidFill>
                <a:latin typeface="Courier"/>
              </a:rPr>
              <a:t>"hospital_db_</a:t>
            </a:r>
            <a:r>
              <a:rPr>
                <a:solidFill>
                  <a:srgbClr val="19177C"/>
                </a:solidFill>
                <a:latin typeface="Courier"/>
              </a:rPr>
              <a:t>${TIMESTAMP}</a:t>
            </a:r>
            <a:r>
              <a:rPr>
                <a:solidFill>
                  <a:srgbClr val="4070A0"/>
                </a:solidFill>
                <a:latin typeface="Courier"/>
              </a:rPr>
              <a:t>.sql.gz"</a:t>
            </a:r>
            <a:br/>
            <a:br/>
            <a:r>
              <a:rPr>
                <a:latin typeface="Courier"/>
              </a:rPr>
              <a:t>pg_dump </a:t>
            </a:r>
            <a:r>
              <a:rPr>
                <a:solidFill>
                  <a:srgbClr val="7D9029"/>
                </a:solidFill>
                <a:latin typeface="Courier"/>
              </a:rPr>
              <a:t>-h</a:t>
            </a:r>
            <a:r>
              <a:rPr>
                <a:latin typeface="Courier"/>
              </a:rPr>
              <a:t> </a:t>
            </a:r>
            <a:r>
              <a:rPr>
                <a:solidFill>
                  <a:srgbClr val="19177C"/>
                </a:solidFill>
                <a:latin typeface="Courier"/>
              </a:rPr>
              <a:t>$DB_HOST</a:t>
            </a:r>
            <a:r>
              <a:rPr>
                <a:latin typeface="Courier"/>
              </a:rPr>
              <a:t> </a:t>
            </a:r>
            <a:r>
              <a:rPr>
                <a:solidFill>
                  <a:srgbClr val="7D9029"/>
                </a:solidFill>
                <a:latin typeface="Courier"/>
              </a:rPr>
              <a:t>-U</a:t>
            </a:r>
            <a:r>
              <a:rPr>
                <a:latin typeface="Courier"/>
              </a:rPr>
              <a:t> </a:t>
            </a:r>
            <a:r>
              <a:rPr>
                <a:solidFill>
                  <a:srgbClr val="19177C"/>
                </a:solidFill>
                <a:latin typeface="Courier"/>
              </a:rPr>
              <a:t>$DB_USER</a:t>
            </a:r>
            <a:r>
              <a:rPr>
                <a:latin typeface="Courier"/>
              </a:rPr>
              <a:t> </a:t>
            </a:r>
            <a:r>
              <a:rPr>
                <a:solidFill>
                  <a:srgbClr val="7D9029"/>
                </a:solidFill>
                <a:latin typeface="Courier"/>
              </a:rPr>
              <a:t>-Fc</a:t>
            </a:r>
            <a:r>
              <a:rPr>
                <a:latin typeface="Courier"/>
              </a:rPr>
              <a:t> hospital_db </a:t>
            </a:r>
            <a:r>
              <a:rPr b="1">
                <a:solidFill>
                  <a:srgbClr val="007020"/>
                </a:solidFill>
                <a:latin typeface="Courier"/>
              </a:rPr>
              <a:t>|</a:t>
            </a:r>
            <a:r>
              <a:rPr>
                <a:latin typeface="Courier"/>
              </a:rPr>
              <a:t> </a:t>
            </a:r>
            <a:r>
              <a:rPr>
                <a:solidFill>
                  <a:srgbClr val="06287E"/>
                </a:solidFill>
                <a:latin typeface="Courier"/>
              </a:rPr>
              <a:t>gzip</a:t>
            </a:r>
            <a:r>
              <a:rPr>
                <a:latin typeface="Courier"/>
              </a:rPr>
              <a:t> </a:t>
            </a:r>
            <a:r>
              <a:rPr>
                <a:solidFill>
                  <a:srgbClr val="666666"/>
                </a:solidFill>
                <a:latin typeface="Courier"/>
              </a:rPr>
              <a:t>&gt;</a:t>
            </a:r>
            <a:r>
              <a:rPr>
                <a:latin typeface="Courier"/>
              </a:rPr>
              <a:t> /backups/</a:t>
            </a:r>
            <a:r>
              <a:rPr>
                <a:solidFill>
                  <a:srgbClr val="19177C"/>
                </a:solidFill>
                <a:latin typeface="Courier"/>
              </a:rPr>
              <a:t>$BACKUP_FILE</a:t>
            </a:r>
            <a:br/>
            <a:br/>
            <a:r>
              <a:rPr i="1">
                <a:solidFill>
                  <a:srgbClr val="60A0B0"/>
                </a:solidFill>
                <a:latin typeface="Courier"/>
              </a:rPr>
              <a:t># Upload to S3</a:t>
            </a:r>
            <a:br/>
            <a:r>
              <a:rPr>
                <a:latin typeface="Courier"/>
              </a:rPr>
              <a:t>aws s3 cp /backups/</a:t>
            </a:r>
            <a:r>
              <a:rPr>
                <a:solidFill>
                  <a:srgbClr val="19177C"/>
                </a:solidFill>
                <a:latin typeface="Courier"/>
              </a:rPr>
              <a:t>$BACKUP_FILE</a:t>
            </a:r>
            <a:r>
              <a:rPr>
                <a:latin typeface="Courier"/>
              </a:rPr>
              <a:t> s3://hospital-backups/database/</a:t>
            </a:r>
            <a:br/>
            <a:br/>
            <a:r>
              <a:rPr i="1">
                <a:solidFill>
                  <a:srgbClr val="60A0B0"/>
                </a:solidFill>
                <a:latin typeface="Courier"/>
              </a:rPr>
              <a:t># Delete local backup</a:t>
            </a:r>
            <a:br/>
            <a:r>
              <a:rPr>
                <a:solidFill>
                  <a:srgbClr val="06287E"/>
                </a:solidFill>
                <a:latin typeface="Courier"/>
              </a:rPr>
              <a:t>rm</a:t>
            </a:r>
            <a:r>
              <a:rPr>
                <a:latin typeface="Courier"/>
              </a:rPr>
              <a:t> /backups/</a:t>
            </a:r>
            <a:r>
              <a:rPr>
                <a:solidFill>
                  <a:srgbClr val="19177C"/>
                </a:solidFill>
                <a:latin typeface="Courier"/>
              </a:rPr>
              <a:t>$BACKUP_FILE</a:t>
            </a:r>
            <a:br/>
            <a:br/>
            <a:r>
              <a:rPr i="1">
                <a:solidFill>
                  <a:srgbClr val="60A0B0"/>
                </a:solidFill>
                <a:latin typeface="Courier"/>
              </a:rPr>
              <a:t># Delete backups older than 30 days from S3</a:t>
            </a:r>
            <a:br/>
            <a:r>
              <a:rPr>
                <a:latin typeface="Courier"/>
              </a:rPr>
              <a:t>aws s3 ls s3://hospital-backups/database/ </a:t>
            </a:r>
            <a:r>
              <a:rPr b="1">
                <a:solidFill>
                  <a:srgbClr val="007020"/>
                </a:solidFill>
                <a:latin typeface="Courier"/>
              </a:rPr>
              <a:t>|</a:t>
            </a:r>
            <a:r>
              <a:rPr>
                <a:latin typeface="Courier"/>
              </a:rPr>
              <a:t> </a:t>
            </a:r>
            <a:r>
              <a:rPr b="1">
                <a:solidFill>
                  <a:srgbClr val="007020"/>
                </a:solidFill>
                <a:latin typeface="Courier"/>
              </a:rPr>
              <a:t>while</a:t>
            </a:r>
            <a:r>
              <a:rPr>
                <a:latin typeface="Courier"/>
              </a:rPr>
              <a:t> </a:t>
            </a:r>
            <a:r>
              <a:rPr>
                <a:solidFill>
                  <a:srgbClr val="008000"/>
                </a:solidFill>
                <a:latin typeface="Courier"/>
              </a:rPr>
              <a:t>read</a:t>
            </a:r>
            <a:r>
              <a:rPr>
                <a:latin typeface="Courier"/>
              </a:rPr>
              <a:t> </a:t>
            </a:r>
            <a:r>
              <a:rPr>
                <a:solidFill>
                  <a:srgbClr val="7D9029"/>
                </a:solidFill>
                <a:latin typeface="Courier"/>
              </a:rPr>
              <a:t>-r</a:t>
            </a:r>
            <a:r>
              <a:rPr>
                <a:latin typeface="Courier"/>
              </a:rPr>
              <a:t> </a:t>
            </a:r>
            <a:r>
              <a:rPr>
                <a:solidFill>
                  <a:srgbClr val="19177C"/>
                </a:solidFill>
                <a:latin typeface="Courier"/>
              </a:rPr>
              <a:t>line</a:t>
            </a:r>
            <a:r>
              <a:rPr b="1">
                <a:solidFill>
                  <a:srgbClr val="007020"/>
                </a:solidFill>
                <a:latin typeface="Courier"/>
              </a:rPr>
              <a:t>;</a:t>
            </a:r>
            <a:r>
              <a:rPr>
                <a:latin typeface="Courier"/>
              </a:rPr>
              <a:t> </a:t>
            </a:r>
            <a:r>
              <a:rPr b="1">
                <a:solidFill>
                  <a:srgbClr val="007020"/>
                </a:solidFill>
                <a:latin typeface="Courier"/>
              </a:rPr>
              <a:t>do</a:t>
            </a:r>
            <a:br/>
            <a:r>
              <a:rPr>
                <a:latin typeface="Courier"/>
              </a:rPr>
              <a:t>  </a:t>
            </a:r>
            <a:r>
              <a:rPr>
                <a:solidFill>
                  <a:srgbClr val="19177C"/>
                </a:solidFill>
                <a:latin typeface="Courier"/>
              </a:rPr>
              <a:t>createDate</a:t>
            </a:r>
            <a:r>
              <a:rPr>
                <a:solidFill>
                  <a:srgbClr val="666666"/>
                </a:solidFill>
                <a:latin typeface="Courier"/>
              </a:rPr>
              <a:t>=</a:t>
            </a:r>
            <a:r>
              <a:rPr b="1">
                <a:solidFill>
                  <a:srgbClr val="007020"/>
                </a:solidFill>
                <a:latin typeface="Courier"/>
              </a:rPr>
              <a:t>`</a:t>
            </a:r>
            <a:r>
              <a:rPr>
                <a:solidFill>
                  <a:srgbClr val="008000"/>
                </a:solidFill>
                <a:latin typeface="Courier"/>
              </a:rPr>
              <a:t>echo</a:t>
            </a:r>
            <a:r>
              <a:rPr>
                <a:latin typeface="Courier"/>
              </a:rPr>
              <a:t> </a:t>
            </a:r>
            <a:r>
              <a:rPr>
                <a:solidFill>
                  <a:srgbClr val="19177C"/>
                </a:solidFill>
                <a:latin typeface="Courier"/>
              </a:rPr>
              <a:t>$line</a:t>
            </a:r>
            <a:r>
              <a:rPr>
                <a:latin typeface="Courier"/>
              </a:rPr>
              <a:t> </a:t>
            </a:r>
            <a:r>
              <a:rPr b="1">
                <a:solidFill>
                  <a:srgbClr val="007020"/>
                </a:solidFill>
                <a:latin typeface="Courier"/>
              </a:rPr>
              <a:t>|</a:t>
            </a:r>
            <a:r>
              <a:rPr>
                <a:latin typeface="Courier"/>
              </a:rPr>
              <a:t> </a:t>
            </a:r>
            <a:r>
              <a:rPr>
                <a:solidFill>
                  <a:srgbClr val="06287E"/>
                </a:solidFill>
                <a:latin typeface="Courier"/>
              </a:rPr>
              <a:t>awk</a:t>
            </a:r>
            <a:r>
              <a:rPr>
                <a:latin typeface="Courier"/>
              </a:rPr>
              <a:t> {</a:t>
            </a:r>
            <a:r>
              <a:rPr>
                <a:solidFill>
                  <a:srgbClr val="4070A0"/>
                </a:solidFill>
                <a:latin typeface="Courier"/>
              </a:rPr>
              <a:t>'print $1" "$2'</a:t>
            </a:r>
            <a:r>
              <a:rPr>
                <a:latin typeface="Courier"/>
              </a:rPr>
              <a:t>}</a:t>
            </a:r>
            <a:r>
              <a:rPr b="1">
                <a:solidFill>
                  <a:srgbClr val="007020"/>
                </a:solidFill>
                <a:latin typeface="Courier"/>
              </a:rPr>
              <a:t>`</a:t>
            </a:r>
            <a:br/>
            <a:r>
              <a:rPr>
                <a:latin typeface="Courier"/>
              </a:rPr>
              <a:t>  </a:t>
            </a:r>
            <a:r>
              <a:rPr>
                <a:solidFill>
                  <a:srgbClr val="19177C"/>
                </a:solidFill>
                <a:latin typeface="Courier"/>
              </a:rPr>
              <a:t>createDate</a:t>
            </a:r>
            <a:r>
              <a:rPr>
                <a:solidFill>
                  <a:srgbClr val="666666"/>
                </a:solidFill>
                <a:latin typeface="Courier"/>
              </a:rPr>
              <a:t>=</a:t>
            </a:r>
            <a:r>
              <a:rPr b="1">
                <a:solidFill>
                  <a:srgbClr val="007020"/>
                </a:solidFill>
                <a:latin typeface="Courier"/>
              </a:rPr>
              <a:t>`</a:t>
            </a:r>
            <a:r>
              <a:rPr>
                <a:solidFill>
                  <a:srgbClr val="06287E"/>
                </a:solidFill>
                <a:latin typeface="Courier"/>
              </a:rPr>
              <a:t>date</a:t>
            </a:r>
            <a:r>
              <a:rPr>
                <a:latin typeface="Courier"/>
              </a:rPr>
              <a:t> </a:t>
            </a:r>
            <a:r>
              <a:rPr>
                <a:solidFill>
                  <a:srgbClr val="7D9029"/>
                </a:solidFill>
                <a:latin typeface="Courier"/>
              </a:rPr>
              <a:t>-d</a:t>
            </a:r>
            <a:r>
              <a:rPr>
                <a:solidFill>
                  <a:srgbClr val="4070A0"/>
                </a:solidFill>
                <a:latin typeface="Courier"/>
              </a:rPr>
              <a:t>"</a:t>
            </a:r>
            <a:r>
              <a:rPr>
                <a:solidFill>
                  <a:srgbClr val="19177C"/>
                </a:solidFill>
                <a:latin typeface="Courier"/>
              </a:rPr>
              <a:t>$createDate</a:t>
            </a:r>
            <a:r>
              <a:rPr>
                <a:solidFill>
                  <a:srgbClr val="4070A0"/>
                </a:solidFill>
                <a:latin typeface="Courier"/>
              </a:rPr>
              <a:t>"</a:t>
            </a:r>
            <a:r>
              <a:rPr>
                <a:latin typeface="Courier"/>
              </a:rPr>
              <a:t> +%s</a:t>
            </a:r>
            <a:r>
              <a:rPr b="1">
                <a:solidFill>
                  <a:srgbClr val="007020"/>
                </a:solidFill>
                <a:latin typeface="Courier"/>
              </a:rPr>
              <a:t>`</a:t>
            </a:r>
            <a:br/>
            <a:r>
              <a:rPr>
                <a:latin typeface="Courier"/>
              </a:rPr>
              <a:t>  </a:t>
            </a:r>
            <a:r>
              <a:rPr>
                <a:solidFill>
                  <a:srgbClr val="19177C"/>
                </a:solidFill>
                <a:latin typeface="Courier"/>
              </a:rPr>
              <a:t>olderThan</a:t>
            </a:r>
            <a:r>
              <a:rPr>
                <a:solidFill>
                  <a:srgbClr val="666666"/>
                </a:solidFill>
                <a:latin typeface="Courier"/>
              </a:rPr>
              <a:t>=</a:t>
            </a:r>
            <a:r>
              <a:rPr b="1">
                <a:solidFill>
                  <a:srgbClr val="007020"/>
                </a:solidFill>
                <a:latin typeface="Courier"/>
              </a:rPr>
              <a:t>`</a:t>
            </a:r>
            <a:r>
              <a:rPr>
                <a:solidFill>
                  <a:srgbClr val="06287E"/>
                </a:solidFill>
                <a:latin typeface="Courier"/>
              </a:rPr>
              <a:t>date</a:t>
            </a:r>
            <a:r>
              <a:rPr>
                <a:latin typeface="Courier"/>
              </a:rPr>
              <a:t> </a:t>
            </a:r>
            <a:r>
              <a:rPr>
                <a:solidFill>
                  <a:srgbClr val="7D9029"/>
                </a:solidFill>
                <a:latin typeface="Courier"/>
              </a:rPr>
              <a:t>-d</a:t>
            </a:r>
            <a:r>
              <a:rPr>
                <a:latin typeface="Courier"/>
              </a:rPr>
              <a:t> </a:t>
            </a:r>
            <a:r>
              <a:rPr>
                <a:solidFill>
                  <a:srgbClr val="4070A0"/>
                </a:solidFill>
                <a:latin typeface="Courier"/>
              </a:rPr>
              <a:t>"30 days ago"</a:t>
            </a:r>
            <a:r>
              <a:rPr>
                <a:latin typeface="Courier"/>
              </a:rPr>
              <a:t> +%s</a:t>
            </a:r>
            <a:r>
              <a:rPr b="1">
                <a:solidFill>
                  <a:srgbClr val="007020"/>
                </a:solidFill>
                <a:latin typeface="Courier"/>
              </a:rPr>
              <a:t>`</a:t>
            </a:r>
            <a:br/>
            <a:r>
              <a:rPr>
                <a:latin typeface="Courier"/>
              </a:rPr>
              <a:t>  </a:t>
            </a:r>
            <a:r>
              <a:rPr b="1">
                <a:solidFill>
                  <a:srgbClr val="007020"/>
                </a:solidFill>
                <a:latin typeface="Courier"/>
              </a:rPr>
              <a:t>if</a:t>
            </a:r>
            <a:r>
              <a:rPr>
                <a:latin typeface="Courier"/>
              </a:rPr>
              <a:t> </a:t>
            </a:r>
            <a:r>
              <a:rPr b="1">
                <a:solidFill>
                  <a:srgbClr val="007020"/>
                </a:solidFill>
                <a:latin typeface="Courier"/>
              </a:rPr>
              <a:t>[[</a:t>
            </a:r>
            <a:r>
              <a:rPr>
                <a:latin typeface="Courier"/>
              </a:rPr>
              <a:t> </a:t>
            </a:r>
            <a:r>
              <a:rPr>
                <a:solidFill>
                  <a:srgbClr val="19177C"/>
                </a:solidFill>
                <a:latin typeface="Courier"/>
              </a:rPr>
              <a:t>$createDate</a:t>
            </a:r>
            <a:r>
              <a:rPr>
                <a:latin typeface="Courier"/>
              </a:rPr>
              <a:t> </a:t>
            </a:r>
            <a:r>
              <a:rPr>
                <a:solidFill>
                  <a:srgbClr val="007020"/>
                </a:solidFill>
                <a:latin typeface="Courier"/>
              </a:rPr>
              <a:t>-lt</a:t>
            </a:r>
            <a:r>
              <a:rPr>
                <a:latin typeface="Courier"/>
              </a:rPr>
              <a:t> </a:t>
            </a:r>
            <a:r>
              <a:rPr>
                <a:solidFill>
                  <a:srgbClr val="19177C"/>
                </a:solidFill>
                <a:latin typeface="Courier"/>
              </a:rPr>
              <a:t>$olderThan</a:t>
            </a:r>
            <a:r>
              <a:rPr>
                <a:latin typeface="Courier"/>
              </a:rPr>
              <a:t> </a:t>
            </a:r>
            <a:r>
              <a:rPr b="1">
                <a:solidFill>
                  <a:srgbClr val="007020"/>
                </a:solidFill>
                <a:latin typeface="Courier"/>
              </a:rPr>
              <a:t>]];</a:t>
            </a:r>
            <a:r>
              <a:rPr>
                <a:latin typeface="Courier"/>
              </a:rPr>
              <a:t> </a:t>
            </a:r>
            <a:r>
              <a:rPr b="1">
                <a:solidFill>
                  <a:srgbClr val="007020"/>
                </a:solidFill>
                <a:latin typeface="Courier"/>
              </a:rPr>
              <a:t>then</a:t>
            </a:r>
            <a:br/>
            <a:r>
              <a:rPr>
                <a:latin typeface="Courier"/>
              </a:rPr>
              <a:t>    </a:t>
            </a:r>
            <a:r>
              <a:rPr>
                <a:solidFill>
                  <a:srgbClr val="19177C"/>
                </a:solidFill>
                <a:latin typeface="Courier"/>
              </a:rPr>
              <a:t>fileName</a:t>
            </a:r>
            <a:r>
              <a:rPr>
                <a:solidFill>
                  <a:srgbClr val="666666"/>
                </a:solidFill>
                <a:latin typeface="Courier"/>
              </a:rPr>
              <a:t>=</a:t>
            </a:r>
            <a:r>
              <a:rPr b="1">
                <a:solidFill>
                  <a:srgbClr val="007020"/>
                </a:solidFill>
                <a:latin typeface="Courier"/>
              </a:rPr>
              <a:t>`</a:t>
            </a:r>
            <a:r>
              <a:rPr>
                <a:solidFill>
                  <a:srgbClr val="008000"/>
                </a:solidFill>
                <a:latin typeface="Courier"/>
              </a:rPr>
              <a:t>echo</a:t>
            </a:r>
            <a:r>
              <a:rPr>
                <a:latin typeface="Courier"/>
              </a:rPr>
              <a:t> </a:t>
            </a:r>
            <a:r>
              <a:rPr>
                <a:solidFill>
                  <a:srgbClr val="19177C"/>
                </a:solidFill>
                <a:latin typeface="Courier"/>
              </a:rPr>
              <a:t>$line</a:t>
            </a:r>
            <a:r>
              <a:rPr>
                <a:latin typeface="Courier"/>
              </a:rPr>
              <a:t> </a:t>
            </a:r>
            <a:r>
              <a:rPr b="1">
                <a:solidFill>
                  <a:srgbClr val="007020"/>
                </a:solidFill>
                <a:latin typeface="Courier"/>
              </a:rPr>
              <a:t>|</a:t>
            </a:r>
            <a:r>
              <a:rPr>
                <a:latin typeface="Courier"/>
              </a:rPr>
              <a:t> </a:t>
            </a:r>
            <a:r>
              <a:rPr>
                <a:solidFill>
                  <a:srgbClr val="06287E"/>
                </a:solidFill>
                <a:latin typeface="Courier"/>
              </a:rPr>
              <a:t>awk</a:t>
            </a:r>
            <a:r>
              <a:rPr>
                <a:latin typeface="Courier"/>
              </a:rPr>
              <a:t> {</a:t>
            </a:r>
            <a:r>
              <a:rPr>
                <a:solidFill>
                  <a:srgbClr val="4070A0"/>
                </a:solidFill>
                <a:latin typeface="Courier"/>
              </a:rPr>
              <a:t>'print $4'</a:t>
            </a:r>
            <a:r>
              <a:rPr>
                <a:latin typeface="Courier"/>
              </a:rPr>
              <a:t>}</a:t>
            </a:r>
            <a:r>
              <a:rPr b="1">
                <a:solidFill>
                  <a:srgbClr val="007020"/>
                </a:solidFill>
                <a:latin typeface="Courier"/>
              </a:rPr>
              <a:t>`</a:t>
            </a:r>
            <a:br/>
            <a:r>
              <a:rPr>
                <a:latin typeface="Courier"/>
              </a:rPr>
              <a:t>    aws s3 rm s3://hospital-backups/database/</a:t>
            </a:r>
            <a:r>
              <a:rPr>
                <a:solidFill>
                  <a:srgbClr val="19177C"/>
                </a:solidFill>
                <a:latin typeface="Courier"/>
              </a:rPr>
              <a:t>$fileName</a:t>
            </a:r>
            <a:br/>
            <a:r>
              <a:rPr>
                <a:latin typeface="Courier"/>
              </a:rPr>
              <a:t>  </a:t>
            </a:r>
            <a:r>
              <a:rPr b="1">
                <a:solidFill>
                  <a:srgbClr val="007020"/>
                </a:solidFill>
                <a:latin typeface="Courier"/>
              </a:rPr>
              <a:t>fi</a:t>
            </a:r>
            <a:br/>
            <a:r>
              <a:rPr b="1">
                <a:solidFill>
                  <a:srgbClr val="007020"/>
                </a:solidFill>
                <a:latin typeface="Courier"/>
              </a:rPr>
              <a:t>done</a:t>
            </a:r>
          </a:p>
          <a:p>
            <a:pPr lvl="0" indent="0" marL="0">
              <a:spcBef>
                <a:spcPts val="3000"/>
              </a:spcBef>
              <a:buNone/>
            </a:pPr>
            <a:r>
              <a:rPr b="1"/>
              <a:t>Recovery Objectives</a:t>
            </a:r>
          </a:p>
          <a:p>
            <a:pPr lvl="0" indent="0" marL="0">
              <a:buNone/>
            </a:pPr>
            <a:r>
              <a:rPr b="1"/>
              <a:t>RTO (Recovery Time Objective):</a:t>
            </a:r>
            <a:r>
              <a:rPr/>
              <a:t> 4 hours - Maximum acceptable downtime - Time to restore from backup and resume operations</a:t>
            </a:r>
          </a:p>
          <a:p>
            <a:pPr lvl="0" indent="0" marL="0">
              <a:buNone/>
            </a:pPr>
            <a:r>
              <a:rPr b="1"/>
              <a:t>RPO (Recovery Point Objective):</a:t>
            </a:r>
            <a:r>
              <a:rPr/>
              <a:t> 1 hour - Maximum acceptable data loss - Backups every 6 hours + transaction logs allow point-in-time recovery</a:t>
            </a:r>
          </a:p>
          <a:p>
            <a:pPr lvl="0" indent="0" marL="0">
              <a:spcBef>
                <a:spcPts val="3000"/>
              </a:spcBef>
              <a:buNone/>
            </a:pPr>
            <a:r>
              <a:rPr b="1"/>
              <a:t>Disaster Recovery Plan</a:t>
            </a:r>
          </a:p>
          <a:p>
            <a:pPr lvl="0" indent="0" marL="0">
              <a:buNone/>
            </a:pPr>
            <a:r>
              <a:rPr b="1"/>
              <a:t>Scenarios:</a:t>
            </a:r>
          </a:p>
          <a:p>
            <a:pPr lvl="0" indent="0" marL="0">
              <a:buNone/>
            </a:pPr>
            <a:r>
              <a:rPr b="1"/>
              <a:t>1. Database Failure:</a:t>
            </a:r>
            <a:r>
              <a:rPr/>
              <a:t> - Automatic failover to standby (Multi-AZ RDS) - Failover time: 1-2 minutes - No data loss</a:t>
            </a:r>
          </a:p>
          <a:p>
            <a:pPr lvl="0" indent="0" marL="0">
              <a:buNone/>
            </a:pPr>
            <a:r>
              <a:rPr b="1"/>
              <a:t>2. Complete Data Center Outage:</a:t>
            </a:r>
            <a:r>
              <a:rPr/>
              <a:t> - Failover to secondary region - Restore from latest backup (S3 cross-region replication) - Update DNS to point to DR site - Estimated recovery: 2-4 hours</a:t>
            </a:r>
          </a:p>
          <a:p>
            <a:pPr lvl="0" indent="0" marL="0">
              <a:buNone/>
            </a:pPr>
            <a:r>
              <a:rPr b="1"/>
              <a:t>3. Data Corruption:</a:t>
            </a:r>
            <a:r>
              <a:rPr/>
              <a:t> - Identify corruption point - Restore from backup before corruption - Replay transaction logs to minimize data loss - Estimated recovery: 3-6 hours</a:t>
            </a:r>
          </a:p>
          <a:p>
            <a:pPr lvl="0" indent="0" marL="0">
              <a:buNone/>
            </a:pPr>
            <a:r>
              <a:rPr b="1"/>
              <a:t>4. Security Breach / Ransomware:</a:t>
            </a:r>
            <a:r>
              <a:rPr/>
              <a:t> - Isolate affected systems - Restore from clean backup (immutable S3 backup) - Investigate breach, patch vulnerabilities - Restore operations in secure environment</a:t>
            </a:r>
          </a:p>
          <a:p>
            <a:pPr lvl="0" indent="0" marL="0">
              <a:buNone/>
            </a:pPr>
            <a:r>
              <a:rPr b="1"/>
              <a:t>DR Drill:</a:t>
            </a:r>
            <a:r>
              <a:rPr/>
              <a:t> - Quarterly disaster recovery drill - Test backup restore - Validate recovery procedures - Update documentation based on findings</a:t>
            </a:r>
          </a:p>
          <a:p>
            <a:pPr lvl="0" indent="0" marL="0">
              <a:spcBef>
                <a:spcPts val="3000"/>
              </a:spcBef>
              <a:buNone/>
            </a:pPr>
            <a:r>
              <a:rPr b="1"/>
              <a:t>High Availability</a:t>
            </a:r>
          </a:p>
          <a:p>
            <a:pPr lvl="0" indent="0" marL="0">
              <a:buNone/>
            </a:pPr>
            <a:r>
              <a:rPr b="1"/>
              <a:t>Multi-AZ Deployment:</a:t>
            </a:r>
          </a:p>
          <a:p>
            <a:pPr lvl="0" indent="0">
              <a:buNone/>
            </a:pPr>
            <a:r>
              <a:rPr>
                <a:latin typeface="Courier"/>
              </a:rPr>
              <a:t>Primary Data Center (us-east-1a):
  - App Servers x 3
  - PostgreSQL Primary
  - Redis Primary
Secondary Data Center (us-east-1b):
  - App Servers x 3
  - PostgreSQL Standby (synchronous replication)
  - Redis Replica</a:t>
            </a:r>
          </a:p>
          <a:p>
            <a:pPr lvl="0" indent="0" marL="0">
              <a:buNone/>
            </a:pPr>
            <a:r>
              <a:rPr b="1"/>
              <a:t>Failover Scenarios:</a:t>
            </a:r>
            <a:r>
              <a:rPr/>
              <a:t> - App server failure: Load balancer removes from pool automatically - Database primary failure: Automatic failover to standby (1-2 min) - Entire AZ failure: Traffic routed to other AZ</a:t>
            </a:r>
          </a:p>
          <a:p>
            <a:pPr lvl="0" indent="0" marL="0">
              <a:buNone/>
            </a:pPr>
            <a:r>
              <a:rPr b="1"/>
              <a:t>Geographic Redundancy (Enterprise):</a:t>
            </a:r>
            <a:r>
              <a:rPr/>
              <a:t> - Primary region: us-east-1 - DR region: us-west-2 - Asynchronous replication to DR - Manual failover for regional disaster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Implementation Requirements</a:t>
            </a:r>
          </a:p>
        </p:txBody>
      </p:sp>
      <p:sp>
        <p:nvSpPr>
          <p:cNvPr id="3" name="Content Placeholder 2"/>
          <p:cNvSpPr>
            <a:spLocks noGrp="1"/>
          </p:cNvSpPr>
          <p:nvPr>
            <p:ph idx="1"/>
          </p:nvPr>
        </p:nvSpPr>
        <p:spPr/>
        <p:txBody>
          <a:bodyPr/>
          <a:lstStyle/>
          <a:p>
            <a:pPr lvl="0" indent="0" marL="0">
              <a:spcBef>
                <a:spcPts val="3000"/>
              </a:spcBef>
              <a:buNone/>
            </a:pPr>
            <a:r>
              <a:rPr b="1"/>
              <a:t>Server Requirements (On-Premise)</a:t>
            </a:r>
          </a:p>
          <a:p>
            <a:pPr lvl="0" indent="0" marL="0">
              <a:buNone/>
            </a:pPr>
            <a:r>
              <a:rPr b="1"/>
              <a:t>Application Server:</a:t>
            </a:r>
            <a:r>
              <a:rPr/>
              <a:t> - CPU: 4 cores (8 recommended) - RAM: 8 GB (16 GB recommended) - Disk: 50 GB SSD - OS: Ubuntu 20.04/22.04 LTS, RHEL 8+, or similar - Docker 20.10+ and Docker Compose 2.0+</a:t>
            </a:r>
          </a:p>
          <a:p>
            <a:pPr lvl="0" indent="0" marL="0">
              <a:buNone/>
            </a:pPr>
            <a:r>
              <a:rPr b="1"/>
              <a:t>Database Server:</a:t>
            </a:r>
            <a:r>
              <a:rPr/>
              <a:t> - CPU: 4 cores (8 recommended) - RAM: 16 GB (32 GB recommended) - Disk: 500 GB SSD (IOPS optimized) - OS: Ubuntu 20.04/22.04 LTS - PostgreSQL 14+ installed</a:t>
            </a:r>
          </a:p>
          <a:p>
            <a:pPr lvl="0" indent="0" marL="0">
              <a:buNone/>
            </a:pPr>
            <a:r>
              <a:rPr b="1"/>
              <a:t>Redis Server:</a:t>
            </a:r>
            <a:r>
              <a:rPr/>
              <a:t> - CPU: 2 cores - RAM: 4 GB (data stored in-memory) - Disk: 20 GB - OS: Ubuntu 20.04/22.04 LTS - Redis 7+ installed</a:t>
            </a:r>
          </a:p>
          <a:p>
            <a:pPr lvl="0" indent="0" marL="0">
              <a:buNone/>
            </a:pPr>
            <a:r>
              <a:rPr b="1"/>
              <a:t>Network:</a:t>
            </a:r>
            <a:r>
              <a:rPr/>
              <a:t> - 100 Mbps internet connection (1 Gbps recommended) - Static IP address - SSL certificate (Let’s Encrypt or commercial) - Firewall rules configured</a:t>
            </a:r>
          </a:p>
          <a:p>
            <a:pPr lvl="0" indent="0" marL="0">
              <a:buNone/>
            </a:pPr>
            <a:r>
              <a:rPr b="1"/>
              <a:t>For 500+ bed hospital:</a:t>
            </a:r>
            <a:r>
              <a:rPr/>
              <a:t> - Double all specifications - Separate servers for app, database, Redis - Load balancer for multiple app servers</a:t>
            </a:r>
          </a:p>
          <a:p>
            <a:pPr lvl="0" indent="0" marL="0">
              <a:spcBef>
                <a:spcPts val="3000"/>
              </a:spcBef>
              <a:buNone/>
            </a:pPr>
            <a:r>
              <a:rPr b="1"/>
              <a:t>Client Requirements</a:t>
            </a:r>
          </a:p>
          <a:p>
            <a:pPr lvl="0" indent="0" marL="0">
              <a:buNone/>
            </a:pPr>
            <a:r>
              <a:rPr b="1"/>
              <a:t>Desktop:</a:t>
            </a:r>
            <a:r>
              <a:rPr/>
              <a:t> - Modern web browser (last 2 versions): - Chrome 90+ - Firefox 88+ - Safari 14+ - Edge 90+ - Screen resolution: 1280x720 minimum (1920x1080 recommended) - Internet connection: 5 Mbps+</a:t>
            </a:r>
          </a:p>
          <a:p>
            <a:pPr lvl="0" indent="0" marL="0">
              <a:buNone/>
            </a:pPr>
            <a:r>
              <a:rPr b="1"/>
              <a:t>Mobile/Tablet:</a:t>
            </a:r>
            <a:r>
              <a:rPr/>
              <a:t> - iOS 13+ (Safari, Chrome) - Android 8+ (Chrome, Firefox) - Responsive design works on all screen sizes</a:t>
            </a:r>
          </a:p>
          <a:p>
            <a:pPr lvl="0" indent="0" marL="0">
              <a:buNone/>
            </a:pPr>
            <a:r>
              <a:rPr b="1"/>
              <a:t>No Installation Required:</a:t>
            </a:r>
            <a:r>
              <a:rPr/>
              <a:t> - Browser-based application - No plugins or extensions needed - Works on Windows, macOS, Linux</a:t>
            </a:r>
          </a:p>
          <a:p>
            <a:pPr lvl="0" indent="0" marL="0">
              <a:spcBef>
                <a:spcPts val="3000"/>
              </a:spcBef>
              <a:buNone/>
            </a:pPr>
            <a:r>
              <a:rPr b="1"/>
              <a:t>Network Requirements</a:t>
            </a:r>
          </a:p>
          <a:p>
            <a:pPr lvl="0" indent="0" marL="0">
              <a:buNone/>
            </a:pPr>
            <a:r>
              <a:rPr b="1"/>
              <a:t>Ports to Open:</a:t>
            </a:r>
          </a:p>
          <a:p>
            <a:pPr lvl="0" indent="0">
              <a:buNone/>
            </a:pPr>
            <a:r>
              <a:rPr>
                <a:latin typeface="Courier"/>
              </a:rPr>
              <a:t>Inbound:
- 443 (HTTPS) - Web access
- 80 (HTTP) - Redirect to HTTPS
Internal (between servers):
- 5000 (Backend API)
- 5432 (PostgreSQL)
- 6379 (Redis)
Outbound:
- 443 (HTTPS) - External APIs (payment, SMS, email)
- 587 (SMTP) - Email sending
- 53 (DNS)</a:t>
            </a:r>
          </a:p>
          <a:p>
            <a:pPr lvl="0" indent="0" marL="0">
              <a:buNone/>
            </a:pPr>
            <a:r>
              <a:rPr b="1"/>
              <a:t>Firewall Rules:</a:t>
            </a:r>
            <a:r>
              <a:rPr/>
              <a:t> - Allow hospital IP ranges to access system - Optionally restrict admin panel to specific IPs - Rate limiting for DDoS protection</a:t>
            </a:r>
          </a:p>
          <a:p>
            <a:pPr lvl="0" indent="0" marL="0">
              <a:spcBef>
                <a:spcPts val="3000"/>
              </a:spcBef>
              <a:buNone/>
            </a:pPr>
            <a:r>
              <a:rPr b="1"/>
              <a:t>Data Migration</a:t>
            </a:r>
          </a:p>
          <a:p>
            <a:pPr lvl="0" indent="0" marL="0">
              <a:buNone/>
            </a:pPr>
            <a:r>
              <a:rPr b="1"/>
              <a:t>From Existing System:</a:t>
            </a:r>
          </a:p>
          <a:p>
            <a:pPr lvl="0" indent="0" marL="0">
              <a:buNone/>
            </a:pPr>
            <a:r>
              <a:rPr b="1"/>
              <a:t>Step 1: Export Data</a:t>
            </a:r>
            <a:r>
              <a:rPr/>
              <a:t> - Patient demographics (CSV or database dump) - Staff directory - Appointment history (optional) - Inventory data (optional)</a:t>
            </a:r>
          </a:p>
          <a:p>
            <a:pPr lvl="0" indent="0" marL="0">
              <a:buNone/>
            </a:pPr>
            <a:r>
              <a:rPr b="1"/>
              <a:t>Step 2: Data Mapping</a:t>
            </a:r>
            <a:r>
              <a:rPr/>
              <a:t> - Map old system fields to new schema - Handle data type conversions - Address missing or invalid data</a:t>
            </a:r>
          </a:p>
          <a:p>
            <a:pPr lvl="0" indent="0" marL="0">
              <a:buNone/>
            </a:pPr>
            <a:r>
              <a:rPr b="1"/>
              <a:t>Step 3: Import</a:t>
            </a:r>
            <a:r>
              <a:rPr/>
              <a:t> - Use provided import scripts - Validate data integrity - Generate patient IDs for new system</a:t>
            </a:r>
          </a:p>
          <a:p>
            <a:pPr lvl="0" indent="0" marL="0">
              <a:buNone/>
            </a:pPr>
            <a:r>
              <a:rPr b="1"/>
              <a:t>Step 4: Verification</a:t>
            </a:r>
            <a:r>
              <a:rPr/>
              <a:t> - Spot-check random samples - Verify record counts - Test data accessibility</a:t>
            </a:r>
          </a:p>
          <a:p>
            <a:pPr lvl="0" indent="0" marL="0">
              <a:buNone/>
            </a:pPr>
            <a:r>
              <a:rPr b="1"/>
              <a:t>Timeline:</a:t>
            </a:r>
            <a:r>
              <a:rPr/>
              <a:t> 1-2 weeks for medium hospital (10K patients)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12. Technical Support Model</a:t>
            </a:r>
          </a:p>
        </p:txBody>
      </p:sp>
      <p:sp>
        <p:nvSpPr>
          <p:cNvPr id="4" name="Text Placeholder 3"/>
          <p:cNvSpPr>
            <a:spLocks noGrp="1"/>
          </p:cNvSpPr>
          <p:nvPr>
            <p:ph idx="2" sz="half" type="body"/>
          </p:nvPr>
        </p:nvSpPr>
        <p:spPr/>
        <p:txBody>
          <a:bodyPr/>
          <a:lstStyle/>
          <a:p>
            <a:pPr lvl="0" indent="0" marL="0">
              <a:spcBef>
                <a:spcPts val="3000"/>
              </a:spcBef>
              <a:buNone/>
            </a:pPr>
            <a:r>
              <a:rPr b="1"/>
              <a:t>Support Tiers</a:t>
            </a:r>
          </a:p>
          <a:p>
            <a:pPr lvl="0" indent="0" marL="0">
              <a:buNone/>
            </a:pPr>
            <a:r>
              <a:rPr b="1"/>
              <a:t>Tier 1: Help Desk (24/7)</a:t>
            </a:r>
            <a:r>
              <a:rPr/>
              <a:t> - User password resets - Basic troubleshooting - How-to questions - Incident logging</a:t>
            </a:r>
          </a:p>
          <a:p>
            <a:pPr lvl="0" indent="0" marL="0">
              <a:buNone/>
            </a:pPr>
            <a:r>
              <a:rPr b="1"/>
              <a:t>Tier 2: Application Support (Business Hours)</a:t>
            </a:r>
            <a:r>
              <a:rPr/>
              <a:t> - System configuration issues - Data corrections - Workflow problems - Integration debugging</a:t>
            </a:r>
          </a:p>
          <a:p>
            <a:pPr lvl="0" indent="0" marL="0">
              <a:buNone/>
            </a:pPr>
            <a:r>
              <a:rPr b="1"/>
              <a:t>Tier 3: Engineering (On-Call)</a:t>
            </a:r>
            <a:r>
              <a:rPr/>
              <a:t> - Critical system outages - Database issues - Performance problems - Security incidents</a:t>
            </a:r>
          </a:p>
          <a:p>
            <a:pPr lvl="0" indent="0" marL="0">
              <a:spcBef>
                <a:spcPts val="3000"/>
              </a:spcBef>
              <a:buNone/>
            </a:pPr>
            <a:r>
              <a:rPr b="1"/>
              <a:t>SLA (Service Level Agreement)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Severity</a:t>
                      </a:r>
                    </a:p>
                  </a:txBody>
                  <a:tcPr/>
                </a:tc>
                <a:tc>
                  <a:txBody>
                    <a:bodyPr/>
                    <a:lstStyle/>
                    <a:p>
                      <a:pPr lvl="0" indent="0" marL="0">
                        <a:buNone/>
                      </a:pPr>
                      <a:r>
                        <a:rPr/>
                        <a:t>Description</a:t>
                      </a:r>
                    </a:p>
                  </a:txBody>
                  <a:tcPr/>
                </a:tc>
                <a:tc>
                  <a:txBody>
                    <a:bodyPr/>
                    <a:lstStyle/>
                    <a:p>
                      <a:pPr lvl="0" indent="0" marL="0">
                        <a:buNone/>
                      </a:pPr>
                      <a:r>
                        <a:rPr/>
                        <a:t>Response Time</a:t>
                      </a:r>
                    </a:p>
                  </a:txBody>
                  <a:tcPr/>
                </a:tc>
                <a:tc>
                  <a:txBody>
                    <a:bodyPr/>
                    <a:lstStyle/>
                    <a:p>
                      <a:pPr lvl="0" indent="0" marL="0">
                        <a:buNone/>
                      </a:pPr>
                      <a:r>
                        <a:rPr/>
                        <a:t>Resolution Target</a:t>
                      </a:r>
                    </a:p>
                  </a:txBody>
                  <a:tcPr/>
                </a:tc>
              </a:tr>
              <a:tr h="0">
                <a:tc>
                  <a:txBody>
                    <a:bodyPr/>
                    <a:lstStyle/>
                    <a:p>
                      <a:pPr lvl="0" indent="0" marL="0">
                        <a:buNone/>
                      </a:pPr>
                      <a:r>
                        <a:rPr b="1"/>
                        <a:t>P0 - Critical</a:t>
                      </a:r>
                    </a:p>
                  </a:txBody>
                </a:tc>
                <a:tc>
                  <a:txBody>
                    <a:bodyPr/>
                    <a:lstStyle/>
                    <a:p>
                      <a:pPr lvl="0" indent="0" marL="0">
                        <a:buNone/>
                      </a:pPr>
                      <a:r>
                        <a:rPr/>
                        <a:t>System down, data loss</a:t>
                      </a:r>
                    </a:p>
                  </a:txBody>
                </a:tc>
                <a:tc>
                  <a:txBody>
                    <a:bodyPr/>
                    <a:lstStyle/>
                    <a:p>
                      <a:pPr lvl="0" indent="0" marL="0">
                        <a:buNone/>
                      </a:pPr>
                      <a:r>
                        <a:rPr/>
                        <a:t>15 minutes</a:t>
                      </a:r>
                    </a:p>
                  </a:txBody>
                </a:tc>
                <a:tc>
                  <a:txBody>
                    <a:bodyPr/>
                    <a:lstStyle/>
                    <a:p>
                      <a:pPr lvl="0" indent="0" marL="0">
                        <a:buNone/>
                      </a:pPr>
                      <a:r>
                        <a:rPr/>
                        <a:t>4 hours</a:t>
                      </a:r>
                    </a:p>
                  </a:txBody>
                </a:tc>
              </a:tr>
              <a:tr h="0">
                <a:tc>
                  <a:txBody>
                    <a:bodyPr/>
                    <a:lstStyle/>
                    <a:p>
                      <a:pPr lvl="0" indent="0" marL="0">
                        <a:buNone/>
                      </a:pPr>
                      <a:r>
                        <a:rPr b="1"/>
                        <a:t>P1 - High</a:t>
                      </a:r>
                    </a:p>
                  </a:txBody>
                </a:tc>
                <a:tc>
                  <a:txBody>
                    <a:bodyPr/>
                    <a:lstStyle/>
                    <a:p>
                      <a:pPr lvl="0" indent="0" marL="0">
                        <a:buNone/>
                      </a:pPr>
                      <a:r>
                        <a:rPr/>
                        <a:t>Major feature broken</a:t>
                      </a:r>
                    </a:p>
                  </a:txBody>
                </a:tc>
                <a:tc>
                  <a:txBody>
                    <a:bodyPr/>
                    <a:lstStyle/>
                    <a:p>
                      <a:pPr lvl="0" indent="0" marL="0">
                        <a:buNone/>
                      </a:pPr>
                      <a:r>
                        <a:rPr/>
                        <a:t>1 hour</a:t>
                      </a:r>
                    </a:p>
                  </a:txBody>
                </a:tc>
                <a:tc>
                  <a:txBody>
                    <a:bodyPr/>
                    <a:lstStyle/>
                    <a:p>
                      <a:pPr lvl="0" indent="0" marL="0">
                        <a:buNone/>
                      </a:pPr>
                      <a:r>
                        <a:rPr/>
                        <a:t>8 hours</a:t>
                      </a:r>
                    </a:p>
                  </a:txBody>
                </a:tc>
              </a:tr>
              <a:tr h="0">
                <a:tc>
                  <a:txBody>
                    <a:bodyPr/>
                    <a:lstStyle/>
                    <a:p>
                      <a:pPr lvl="0" indent="0" marL="0">
                        <a:buNone/>
                      </a:pPr>
                      <a:r>
                        <a:rPr b="1"/>
                        <a:t>P2 - Medium</a:t>
                      </a:r>
                    </a:p>
                  </a:txBody>
                </a:tc>
                <a:tc>
                  <a:txBody>
                    <a:bodyPr/>
                    <a:lstStyle/>
                    <a:p>
                      <a:pPr lvl="0" indent="0" marL="0">
                        <a:buNone/>
                      </a:pPr>
                      <a:r>
                        <a:rPr/>
                        <a:t>Minor feature issue</a:t>
                      </a:r>
                    </a:p>
                  </a:txBody>
                </a:tc>
                <a:tc>
                  <a:txBody>
                    <a:bodyPr/>
                    <a:lstStyle/>
                    <a:p>
                      <a:pPr lvl="0" indent="0" marL="0">
                        <a:buNone/>
                      </a:pPr>
                      <a:r>
                        <a:rPr/>
                        <a:t>4 hours</a:t>
                      </a:r>
                    </a:p>
                  </a:txBody>
                </a:tc>
                <a:tc>
                  <a:txBody>
                    <a:bodyPr/>
                    <a:lstStyle/>
                    <a:p>
                      <a:pPr lvl="0" indent="0" marL="0">
                        <a:buNone/>
                      </a:pPr>
                      <a:r>
                        <a:rPr/>
                        <a:t>2 business days</a:t>
                      </a:r>
                    </a:p>
                  </a:txBody>
                </a:tc>
              </a:tr>
              <a:tr h="0">
                <a:tc>
                  <a:txBody>
                    <a:bodyPr/>
                    <a:lstStyle/>
                    <a:p>
                      <a:pPr lvl="0" indent="0" marL="0">
                        <a:buNone/>
                      </a:pPr>
                      <a:r>
                        <a:rPr b="1"/>
                        <a:t>P3 - Low</a:t>
                      </a:r>
                    </a:p>
                  </a:txBody>
                </a:tc>
                <a:tc>
                  <a:txBody>
                    <a:bodyPr/>
                    <a:lstStyle/>
                    <a:p>
                      <a:pPr lvl="0" indent="0" marL="0">
                        <a:buNone/>
                      </a:pPr>
                      <a:r>
                        <a:rPr/>
                        <a:t>Enhancement request</a:t>
                      </a:r>
                    </a:p>
                  </a:txBody>
                </a:tc>
                <a:tc>
                  <a:txBody>
                    <a:bodyPr/>
                    <a:lstStyle/>
                    <a:p>
                      <a:pPr lvl="0" indent="0" marL="0">
                        <a:buNone/>
                      </a:pPr>
                      <a:r>
                        <a:rPr/>
                        <a:t>1 business day</a:t>
                      </a:r>
                    </a:p>
                  </a:txBody>
                </a:tc>
                <a:tc>
                  <a:txBody>
                    <a:bodyPr/>
                    <a:lstStyle/>
                    <a:p>
                      <a:pPr lvl="0" indent="0" marL="0">
                        <a:buNone/>
                      </a:pPr>
                      <a:r>
                        <a:rPr/>
                        <a:t>30 days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Update &amp; Patch Management</a:t>
            </a:r>
          </a:p>
          <a:p>
            <a:pPr lvl="0" indent="0" marL="0">
              <a:buNone/>
            </a:pPr>
            <a:r>
              <a:rPr b="1"/>
              <a:t>Security Patches:</a:t>
            </a:r>
            <a:r>
              <a:rPr/>
              <a:t> - Critical: Within 48 hours - High: Within 1 week - Medium: Next release cycle</a:t>
            </a:r>
          </a:p>
          <a:p>
            <a:pPr lvl="0" indent="0" marL="0">
              <a:buNone/>
            </a:pPr>
            <a:r>
              <a:rPr b="1"/>
              <a:t>Feature Updates:</a:t>
            </a:r>
            <a:r>
              <a:rPr/>
              <a:t> - Quarterly major releases - Monthly minor releases - Hot fixes as needed</a:t>
            </a:r>
          </a:p>
          <a:p>
            <a:pPr lvl="0" indent="0" marL="0">
              <a:buNone/>
            </a:pPr>
            <a:r>
              <a:rPr b="1"/>
              <a:t>Update Process (SaaS):</a:t>
            </a:r>
            <a:r>
              <a:rPr/>
              <a:t> - Announce 7 days in advance - Deploy during maintenance window - Automatic rollback if issues detected - Post-update monitoring</a:t>
            </a:r>
          </a:p>
          <a:p>
            <a:pPr lvl="0" indent="0" marL="0">
              <a:buNone/>
            </a:pPr>
            <a:r>
              <a:rPr b="1"/>
              <a:t>Update Process (On-Premise):</a:t>
            </a:r>
            <a:r>
              <a:rPr/>
              <a:t> - Provide update package - Include migration scripts - Document breaking changes - Offer remote assistance if needed</a:t>
            </a:r>
          </a:p>
          <a:p>
            <a:pPr lvl="0" indent="0" marL="0">
              <a:spcBef>
                <a:spcPts val="3000"/>
              </a:spcBef>
              <a:buNone/>
            </a:pPr>
            <a:r>
              <a:rPr b="1"/>
              <a:t>Knowledge Base</a:t>
            </a:r>
          </a:p>
          <a:p>
            <a:pPr lvl="0" indent="0" marL="0">
              <a:buNone/>
            </a:pPr>
            <a:r>
              <a:rPr b="1"/>
              <a:t>Documentation:</a:t>
            </a:r>
            <a:r>
              <a:rPr/>
              <a:t> - User guides by role - Video tutorials - API documentation - Troubleshooting guides - FAQs</a:t>
            </a:r>
          </a:p>
          <a:p>
            <a:pPr lvl="0" indent="0" marL="0">
              <a:buNone/>
            </a:pPr>
            <a:r>
              <a:rPr b="1"/>
              <a:t>Community:</a:t>
            </a:r>
            <a:r>
              <a:rPr/>
              <a:t> - User forum - Monthly webinars - Feature request portal - Customer advisory board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Appendix: Technical FAQ</a:t>
            </a:r>
          </a:p>
        </p:txBody>
      </p:sp>
      <p:sp>
        <p:nvSpPr>
          <p:cNvPr id="3" name="Content Placeholder 2"/>
          <p:cNvSpPr>
            <a:spLocks noGrp="1"/>
          </p:cNvSpPr>
          <p:nvPr>
            <p:ph idx="1"/>
          </p:nvPr>
        </p:nvSpPr>
        <p:spPr/>
        <p:txBody>
          <a:bodyPr/>
          <a:lstStyle/>
          <a:p>
            <a:pPr lvl="0" indent="0" marL="0">
              <a:buNone/>
            </a:pPr>
            <a:r>
              <a:rPr b="1"/>
              <a:t>Q: Can we run this on-premise without internet access?</a:t>
            </a:r>
            <a:r>
              <a:rPr/>
              <a:t> A: Yes, the system can run in a fully air-gapped environment. You’ll need local SMTP and won’t have access to cloud-based features (SMS, payment gateways). Software updates will need manual delivery.</a:t>
            </a:r>
          </a:p>
          <a:p>
            <a:pPr lvl="0" indent="0" marL="0">
              <a:buNone/>
            </a:pPr>
            <a:r>
              <a:rPr b="1"/>
              <a:t>Q: What’s the upgrade path from the basic tier to enterprise?</a:t>
            </a:r>
            <a:r>
              <a:rPr/>
              <a:t> A: Upgrades are seamless. Simply update your subscription, and advanced features activate. No data migration or system reconfiguration needed.</a:t>
            </a:r>
          </a:p>
          <a:p>
            <a:pPr lvl="0" indent="0" marL="0">
              <a:buNone/>
            </a:pPr>
            <a:r>
              <a:rPr b="1"/>
              <a:t>Q: Can we customize the source code?</a:t>
            </a:r>
            <a:r>
              <a:rPr/>
              <a:t> A: For on-premise deployments, source code access can be licensed separately. SaaS deployments offer extensive configuration but not source code access.</a:t>
            </a:r>
          </a:p>
          <a:p>
            <a:pPr lvl="0" indent="0" marL="0">
              <a:buNone/>
            </a:pPr>
            <a:r>
              <a:rPr b="1"/>
              <a:t>Q: How do you handle HIPAA compliance?</a:t>
            </a:r>
            <a:r>
              <a:rPr/>
              <a:t> A: The system is HIPAA-compliant ready with encryption, access controls, audit logs, and BAAs in place. Final compliance requires proper operational procedures from your organization (e.g., staff training, physical security).</a:t>
            </a:r>
          </a:p>
          <a:p>
            <a:pPr lvl="0" indent="0" marL="0">
              <a:buNone/>
            </a:pPr>
            <a:r>
              <a:rPr b="1"/>
              <a:t>Q: What’s your data retention policy?</a:t>
            </a:r>
            <a:r>
              <a:rPr/>
              <a:t> A: We retain data for the duration of your contract plus 90 days. You can export all data at any time. After contract termination + 90 days, data is permanently deleted.</a:t>
            </a:r>
          </a:p>
          <a:p>
            <a:pPr lvl="0" indent="0" marL="0">
              <a:buNone/>
            </a:pPr>
            <a:r>
              <a:rPr b="1"/>
              <a:t>Q: Do you support multi-tenancy (for hospital groups)?</a:t>
            </a:r>
            <a:r>
              <a:rPr/>
              <a:t> A: Yes, a single deployment can support multiple hospitals/clinics with data isolation, separate branding, and unified reporting.</a:t>
            </a:r>
          </a:p>
          <a:p>
            <a:pPr lvl="0" indent="0" marL="0">
              <a:buNone/>
            </a:pPr>
            <a:r>
              <a:rPr b="1"/>
              <a:t>Q: Can we integrate with our existing EMR (Epic, Cerner)?</a:t>
            </a:r>
            <a:r>
              <a:rPr/>
              <a:t> A: Yes, via HL7 ADT, ORM, ORU messages or REST APIs. Custom integration development available for complex scenarios.</a:t>
            </a:r>
          </a:p>
          <a:p>
            <a:pPr lvl="0" indent="0" marL="0">
              <a:buNone/>
            </a:pPr>
            <a:r>
              <a:rPr b="1"/>
              <a:t>Q: What happens if our internet goes down?</a:t>
            </a:r>
            <a:r>
              <a:rPr/>
              <a:t> A: SaaS deployment requires internet. For critical environments, we recommend on-premise deployment with local redundancy or a hybrid model with local caching.</a:t>
            </a:r>
          </a:p>
          <a:p>
            <a:pPr lvl="0" indent="0" marL="0">
              <a:buNone/>
            </a:pPr>
            <a:r>
              <a:rPr b="1"/>
              <a:t>Q: How do you handle time zones for multi-location deployments?</a:t>
            </a:r>
            <a:r>
              <a:rPr/>
              <a:t> A: All timestamps stored in UTC in database. Frontend displays in user’s local time zone. Configurable per hospital/clinic.</a:t>
            </a:r>
          </a:p>
          <a:p>
            <a:pPr lvl="0" indent="0" marL="0">
              <a:buNone/>
            </a:pPr>
            <a:r>
              <a:rPr b="1"/>
              <a:t>Q: What’s the process for getting support during go-live?</a:t>
            </a:r>
            <a:r>
              <a:rPr/>
              <a:t> A: We provide on-site or remote support team (2-3 engineers) 24/7 during go-live week. Extended support available for first 30 days.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 technical deep-dive or proof-of-concept setup, please contact our Solutions Architecture team.</a:t>
            </a:r>
          </a:p>
          <a:p>
            <a:pPr lvl="0" indent="0" marL="0">
              <a:buNone/>
            </a:pPr>
            <a:r>
              <a:rPr b="1"/>
              <a:t>Contact:</a:t>
            </a:r>
            <a:r>
              <a:rPr/>
              <a:t> architecture@hospital-management-system.com </a:t>
            </a:r>
            <a:r>
              <a:rPr b="1"/>
              <a:t>Technical Documentation:</a:t>
            </a:r>
            <a:r>
              <a:rPr/>
              <a:t> https://docs.hospital-management-system.com </a:t>
            </a:r>
            <a:r>
              <a:rPr b="1"/>
              <a:t>Developer Portal:</a:t>
            </a:r>
            <a:r>
              <a:rPr/>
              <a:t> https://developers.hospital-management-system.com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Document Version:</a:t>
            </a:r>
            <a:r>
              <a:rPr/>
              <a:t> 1.0 </a:t>
            </a:r>
            <a:r>
              <a:rPr b="1"/>
              <a:t>Last Updated:</a:t>
            </a:r>
            <a:r>
              <a:rPr/>
              <a:t> January 2024 </a:t>
            </a:r>
            <a:r>
              <a:rPr b="1"/>
              <a:t>Next Review:</a:t>
            </a:r>
            <a:r>
              <a:rPr/>
              <a:t> April 2024</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2025-11-14T12:07:53Z</dcterms:created>
  <dcterms:modified xsi:type="dcterms:W3CDTF">2025-11-14T12:07:53Z</dcterms:modified>
</cp:coreProperties>
</file>

<file path=docProps/custom.xml><?xml version="1.0" encoding="utf-8"?>
<Properties xmlns="http://schemas.openxmlformats.org/officeDocument/2006/custom-properties" xmlns:vt="http://schemas.openxmlformats.org/officeDocument/2006/docPropsVTypes"/>
</file>